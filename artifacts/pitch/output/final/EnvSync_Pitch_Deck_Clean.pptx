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8b03718033487a" /><Relationship Type="http://schemas.openxmlformats.org/officeDocument/2006/relationships/extended-properties" Target="/docProps/app.xml" Id="Rb1c2b0988775443b" /><Relationship Type="http://schemas.openxmlformats.org/officeDocument/2006/relationships/officeDocument" Target="/ppt/presentation.xml" Id="R9802538c7fc445ef" /></Relationships>
</file>

<file path=ppt/presentation.xml><?xml version="1.0" encoding="utf-8"?>
<p:presentation xmlns:p="http://schemas.openxmlformats.org/presentationml/2006/main">
  <p:sldMasterIdLst>
    <p:sldMasterId xmlns:r="http://schemas.openxmlformats.org/officeDocument/2006/relationships" id="2147483648" r:id="R052276e90f0348c1"/>
  </p:sldMasterIdLst>
  <p:notesMasterIdLst>
    <p:notesMasterId xmlns:r="http://schemas.openxmlformats.org/officeDocument/2006/relationships" r:id="R15342f0f9e5f485c"/>
  </p:notesMasterIdLst>
  <p:sldIdLst>
    <p:sldId xmlns:r="http://schemas.openxmlformats.org/officeDocument/2006/relationships" id="256" r:id="Ree6e4e081eea4928"/>
    <p:sldId xmlns:r="http://schemas.openxmlformats.org/officeDocument/2006/relationships" id="257" r:id="Ree12ab1bbdef425e"/>
    <p:sldId xmlns:r="http://schemas.openxmlformats.org/officeDocument/2006/relationships" id="258" r:id="R068b47b001e849e7"/>
    <p:sldId xmlns:r="http://schemas.openxmlformats.org/officeDocument/2006/relationships" id="259" r:id="R498bbfef9a644825"/>
    <p:sldId xmlns:r="http://schemas.openxmlformats.org/officeDocument/2006/relationships" id="260" r:id="R34fe8095c16f4dd7"/>
    <p:sldId xmlns:r="http://schemas.openxmlformats.org/officeDocument/2006/relationships" id="261" r:id="Reaa7f5cf17634302"/>
    <p:sldId xmlns:r="http://schemas.openxmlformats.org/officeDocument/2006/relationships" id="262" r:id="Rf32d40cde5124ddd"/>
    <p:sldId xmlns:r="http://schemas.openxmlformats.org/officeDocument/2006/relationships" id="263" r:id="Re793f2d638804416"/>
    <p:sldId xmlns:r="http://schemas.openxmlformats.org/officeDocument/2006/relationships" id="264" r:id="R116ab01b51bb4d4e"/>
    <p:sldId xmlns:r="http://schemas.openxmlformats.org/officeDocument/2006/relationships" id="265" r:id="Rf67c2e4e3ab04289"/>
    <p:sldId xmlns:r="http://schemas.openxmlformats.org/officeDocument/2006/relationships" id="266" r:id="Ra4715a6a48cd43e3"/>
    <p:sldId xmlns:r="http://schemas.openxmlformats.org/officeDocument/2006/relationships" id="267" r:id="R6c0d20a624014c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4332bbe0fa4ed5" /><Relationship Type="http://schemas.openxmlformats.org/officeDocument/2006/relationships/slideMaster" Target="/ppt/slideMasters/slideMaster1.xml" Id="R052276e90f0348c1" /><Relationship Type="http://schemas.openxmlformats.org/officeDocument/2006/relationships/notesMaster" Target="/ppt/notesMasters/notesMaster1.xml" Id="R15342f0f9e5f485c" /><Relationship Type="http://schemas.openxmlformats.org/officeDocument/2006/relationships/presProps" Target="/ppt/presProps.xml" Id="R889c744166ef462d" /><Relationship Type="http://schemas.openxmlformats.org/officeDocument/2006/relationships/tableStyles" Target="/ppt/tableStyles.xml" Id="R1313d66307f7413b" /><Relationship Type="http://schemas.openxmlformats.org/officeDocument/2006/relationships/slide" Target="/ppt/slides/slide1.xml" Id="Ree6e4e081eea4928" /><Relationship Type="http://schemas.openxmlformats.org/officeDocument/2006/relationships/slide" Target="/ppt/slides/slide2.xml" Id="Ree12ab1bbdef425e" /><Relationship Type="http://schemas.openxmlformats.org/officeDocument/2006/relationships/slide" Target="/ppt/slides/slide3.xml" Id="R068b47b001e849e7" /><Relationship Type="http://schemas.openxmlformats.org/officeDocument/2006/relationships/slide" Target="/ppt/slides/slide4.xml" Id="R498bbfef9a644825" /><Relationship Type="http://schemas.openxmlformats.org/officeDocument/2006/relationships/slide" Target="/ppt/slides/slide5.xml" Id="R34fe8095c16f4dd7" /><Relationship Type="http://schemas.openxmlformats.org/officeDocument/2006/relationships/slide" Target="/ppt/slides/slide6.xml" Id="Reaa7f5cf17634302" /><Relationship Type="http://schemas.openxmlformats.org/officeDocument/2006/relationships/slide" Target="/ppt/slides/slide7.xml" Id="Rf32d40cde5124ddd" /><Relationship Type="http://schemas.openxmlformats.org/officeDocument/2006/relationships/slide" Target="/ppt/slides/slide8.xml" Id="Re793f2d638804416" /><Relationship Type="http://schemas.openxmlformats.org/officeDocument/2006/relationships/slide" Target="/ppt/slides/slide9.xml" Id="R116ab01b51bb4d4e" /><Relationship Type="http://schemas.openxmlformats.org/officeDocument/2006/relationships/slide" Target="/ppt/slides/slide10.xml" Id="Rf67c2e4e3ab04289" /><Relationship Type="http://schemas.openxmlformats.org/officeDocument/2006/relationships/slide" Target="/ppt/slides/slide11.xml" Id="Ra4715a6a48cd43e3" /><Relationship Type="http://schemas.openxmlformats.org/officeDocument/2006/relationships/slide" Target="/ppt/slides/slide12.xml" Id="R6c0d20a624014c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82e6db0d254f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0a9775ca674815" /><Relationship Type="http://schemas.openxmlformats.org/officeDocument/2006/relationships/notesMaster" Target="/ppt/notesMasters/notesMaster1.xml" Id="Rb9e90245097f45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07296024aa4ea1" /><Relationship Type="http://schemas.openxmlformats.org/officeDocument/2006/relationships/notesMaster" Target="/ppt/notesMasters/notesMaster1.xml" Id="R356c8cb83b7547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077c86918b46c0" /><Relationship Type="http://schemas.openxmlformats.org/officeDocument/2006/relationships/notesMaster" Target="/ppt/notesMasters/notesMaster1.xml" Id="R7540dc41f51e48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40f0b4016e4f3c" /><Relationship Type="http://schemas.openxmlformats.org/officeDocument/2006/relationships/notesMaster" Target="/ppt/notesMasters/notesMaster1.xml" Id="R2a9e80b2885f48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459e2d78b24a43" /><Relationship Type="http://schemas.openxmlformats.org/officeDocument/2006/relationships/notesMaster" Target="/ppt/notesMasters/notesMaster1.xml" Id="R14c336c0547447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e000487be741db" /><Relationship Type="http://schemas.openxmlformats.org/officeDocument/2006/relationships/notesMaster" Target="/ppt/notesMasters/notesMaster1.xml" Id="Rffc89b57034744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2df309997f491e" /><Relationship Type="http://schemas.openxmlformats.org/officeDocument/2006/relationships/notesMaster" Target="/ppt/notesMasters/notesMaster1.xml" Id="R15efdc6210324a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deb7f393534499" /><Relationship Type="http://schemas.openxmlformats.org/officeDocument/2006/relationships/notesMaster" Target="/ppt/notesMasters/notesMaster1.xml" Id="R091ae5ea313a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d04d1b8db14379" /><Relationship Type="http://schemas.openxmlformats.org/officeDocument/2006/relationships/notesMaster" Target="/ppt/notesMasters/notesMaster1.xml" Id="Rae3bb40bb5784a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9e17bac3484839" /><Relationship Type="http://schemas.openxmlformats.org/officeDocument/2006/relationships/notesMaster" Target="/ppt/notesMasters/notesMaster1.xml" Id="Rc1bfef92f14f47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5422fdc8614a1c" /><Relationship Type="http://schemas.openxmlformats.org/officeDocument/2006/relationships/notesMaster" Target="/ppt/notesMasters/notesMaster1.xml" Id="R02d0f137ddb14e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8b1c0b920346b3" /><Relationship Type="http://schemas.openxmlformats.org/officeDocument/2006/relationships/notesMaster" Target="/ppt/notesMasters/notesMaster1.xml" Id="R8ebd001328db47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 seconds</a:t>
            </a:r>
          </a:p>
          <a:p xmlns:a="http://schemas.openxmlformats.org/drawingml/2006/main">
            <a:r>
              <a:t/>
            </a:r>
          </a:p>
          <a:p xmlns:a="http://schemas.openxmlformats.org/drawingml/2006/main">
            <a:r>
              <a:t>SAY</a:t>
            </a:r>
          </a:p>
          <a:p xmlns:a="http://schemas.openxmlformats.org/drawingml/2006/main">
            <a:r>
              <a:t>EnvSync manages environment variables and secrets on infrastructure you control. It gives people, applications, and AI agents a common place to request the configuration they need, while keeping access explicit. The product is already implemented across the web console, application SDKs, and a preview agent workflow.</a:t>
            </a:r>
          </a:p>
          <a:p xmlns:a="http://schemas.openxmlformats.org/drawingml/2006/main">
            <a:r>
              <a:t/>
            </a:r>
          </a:p>
          <a:p xmlns:a="http://schemas.openxmlformats.org/drawingml/2006/main">
            <a:r>
              <a:t>KEY TAKEAWAY</a:t>
            </a:r>
          </a:p>
          <a:p xmlns:a="http://schemas.openxmlformats.org/drawingml/2006/main">
            <a:r>
              <a:t>One product: self-hosted, environment-centered access.</a:t>
            </a:r>
          </a:p>
          <a:p xmlns:a="http://schemas.openxmlformats.org/drawingml/2006/main">
            <a:r>
              <a:t/>
            </a:r>
          </a:p>
          <a:p xmlns:a="http://schemas.openxmlformats.org/drawingml/2006/main">
            <a:r>
              <a:t>TRANSITION</a:t>
            </a:r>
          </a:p>
          <a:p xmlns:a="http://schemas.openxmlformats.org/drawingml/2006/main">
            <a:r>
              <a:t>Start with the everyday problem of sharing .env files.</a:t>
            </a:r>
          </a:p>
          <a:p xmlns:a="http://schemas.openxmlformats.org/drawingml/2006/main">
            <a:r>
              <a:t/>
            </a:r>
          </a:p>
          <a:p xmlns:a="http://schemas.openxmlformats.org/drawingml/2006/main">
            <a:r>
              <a:t>CAUTION</a:t>
            </a:r>
          </a:p>
          <a:p xmlns:a="http://schemas.openxmlformats.org/drawingml/2006/main">
            <a:r>
              <a:t>MCP functionality is Preview, not a production-readiness or universal-client compatibility claim.</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https://github.com/VarunHarinath/EnvSync/blob/main/sdk/node/README.md</a:t>
            </a:r>
          </a:p>
          <a:p xmlns:a="http://schemas.openxmlformats.org/drawingml/2006/main">
            <a:r>
              <a:t>https://github.com/VarunHarinath/EnvSync/blob/main/WebService/mcp/server.js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A local .env file is a convenient start. The problem is what happens when the same configuration is copied into a laptop, a server, a pipeline, and now an agent’s context. Copies drift, access becomes implicit, and revoking access no longer means changing one policy. EnvSync replaces this copy-and-distribute habit with an explicit request-and-authorize model.</a:t>
            </a:r>
          </a:p>
          <a:p xmlns:a="http://schemas.openxmlformats.org/drawingml/2006/main">
            <a:r>
              <a:t/>
            </a:r>
          </a:p>
          <a:p xmlns:a="http://schemas.openxmlformats.org/drawingml/2006/main">
            <a:r>
              <a:t>KEY TAKEAWAY</a:t>
            </a:r>
          </a:p>
          <a:p xmlns:a="http://schemas.openxmlformats.org/drawingml/2006/main">
            <a:r>
              <a:t>The pain is uncontrolled distribution, not the file format.</a:t>
            </a:r>
          </a:p>
          <a:p xmlns:a="http://schemas.openxmlformats.org/drawingml/2006/main">
            <a:r>
              <a:t/>
            </a:r>
          </a:p>
          <a:p xmlns:a="http://schemas.openxmlformats.org/drawingml/2006/main">
            <a:r>
              <a:t>TRANSITION</a:t>
            </a:r>
          </a:p>
          <a:p xmlns:a="http://schemas.openxmlformats.org/drawingml/2006/main">
            <a:r>
              <a:t>Show the central project and its environments.</a:t>
            </a:r>
          </a:p>
          <a:p xmlns:a="http://schemas.openxmlformats.org/drawingml/2006/main">
            <a:r>
              <a:t/>
            </a:r>
          </a:p>
          <a:p xmlns:a="http://schemas.openxmlformats.org/drawingml/2006/main">
            <a:r>
              <a:t>CAUTION</a:t>
            </a:r>
          </a:p>
          <a:p xmlns:a="http://schemas.openxmlformats.org/drawingml/2006/main">
            <a:r>
              <a:t>Illustrative workflow, not user research or an incident statistic. Only variable names are shown.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https://github.com/VarunHarinath/EnvSync/blob/main/Client/src/components/landing/Editorial.jsx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A project groups related configuration. Environments define the deployment contexts: development, testing, staging, and production. Secret records are attached to the appropriate environments. People manage them in the console; applications retrieve them through scoped keys; approved agents use explicit environment assignments. These are three consumers of the same platform, not separate products.</a:t>
            </a:r>
          </a:p>
          <a:p xmlns:a="http://schemas.openxmlformats.org/drawingml/2006/main">
            <a:r>
              <a:t/>
            </a:r>
          </a:p>
          <a:p xmlns:a="http://schemas.openxmlformats.org/drawingml/2006/main">
            <a:r>
              <a:t>KEY TAKEAWAY</a:t>
            </a:r>
          </a:p>
          <a:p xmlns:a="http://schemas.openxmlformats.org/drawingml/2006/main">
            <a:r>
              <a:t>Organize configuration around projects and environments.</a:t>
            </a:r>
          </a:p>
          <a:p xmlns:a="http://schemas.openxmlformats.org/drawingml/2006/main">
            <a:r>
              <a:t/>
            </a:r>
          </a:p>
          <a:p xmlns:a="http://schemas.openxmlformats.org/drawingml/2006/main">
            <a:r>
              <a:t>TRANSITION</a:t>
            </a:r>
          </a:p>
          <a:p xmlns:a="http://schemas.openxmlformats.org/drawingml/2006/main">
            <a:r>
              <a:t>Now make the access relationships explicit.</a:t>
            </a:r>
          </a:p>
          <a:p xmlns:a="http://schemas.openxmlformats.org/drawingml/2006/main">
            <a:r>
              <a:t/>
            </a:r>
          </a:p>
          <a:p xmlns:a="http://schemas.openxmlformats.org/drawingml/2006/main">
            <a:r>
              <a:t>CAUTION</a:t>
            </a:r>
          </a:p>
          <a:p xmlns:a="http://schemas.openxmlformats.org/drawingml/2006/main">
            <a:r>
              <a:t>PAYMENTS and variable names are illustrative. Secret records can be attached to multiple environments; cloning copies attachments, not independent values.</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https://github.com/VarunHarinath/EnvSync/blob/main/WebService/routes/resources.js</a:t>
            </a:r>
          </a:p>
          <a:p xmlns:a="http://schemas.openxmlformats.org/drawingml/2006/main">
            <a:r>
              <a:t>https://github.com/VarunHarinath/EnvSync/blob/main/WebService/db/migrations/001_initial.sql</a:t>
            </a:r>
          </a:p>
          <a:p xmlns:a="http://schemas.openxmlformats.org/drawingml/2006/main">
            <a:r>
              <a:t>https://github.com/VarunHarinath/EnvSync/blob/main/WebService/db/migrations/003_mcp_agents.sql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shared principle is simple: each identity should receive only the access it needs. In this illustration, the developer can work in development and testing; the production application can read production; the coding agent cannot. Implementation differs by actor: users combine global permissions and resource sharing, applications use project- or environment-scoped keys, and agents have environment grants with read or read-plus-write levels.</a:t>
            </a:r>
          </a:p>
          <a:p xmlns:a="http://schemas.openxmlformats.org/drawingml/2006/main">
            <a:r>
              <a:t/>
            </a:r>
          </a:p>
          <a:p xmlns:a="http://schemas.openxmlformats.org/drawingml/2006/main">
            <a:r>
              <a:t>KEY TAKEAWAY</a:t>
            </a:r>
          </a:p>
          <a:p xmlns:a="http://schemas.openxmlformats.org/drawingml/2006/main">
            <a:r>
              <a:t>One access principle, actor-specific enforcement.</a:t>
            </a:r>
          </a:p>
          <a:p xmlns:a="http://schemas.openxmlformats.org/drawingml/2006/main">
            <a:r>
              <a:t/>
            </a:r>
          </a:p>
          <a:p xmlns:a="http://schemas.openxmlformats.org/drawingml/2006/main">
            <a:r>
              <a:t>TRANSITION</a:t>
            </a:r>
          </a:p>
          <a:p xmlns:a="http://schemas.openxmlformats.org/drawingml/2006/main">
            <a:r>
              <a:t>Show that this exists as a real product interface.</a:t>
            </a:r>
          </a:p>
          <a:p xmlns:a="http://schemas.openxmlformats.org/drawingml/2006/main">
            <a:r>
              <a:t/>
            </a:r>
          </a:p>
          <a:p xmlns:a="http://schemas.openxmlformats.org/drawingml/2006/main">
            <a:r>
              <a:t>CAUTION</a:t>
            </a:r>
          </a:p>
          <a:p xmlns:a="http://schemas.openxmlformats.org/drawingml/2006/main">
            <a:r>
              <a:t>Matrix is conceptual, not a screenshot of exact stored grants. Human permissions are not a fully uniform per-environment RBAC model; app keys can be project-scoped. Agent functionality remains Preview.</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https://github.com/VarunHarinath/EnvSync/blob/main/WebService/middleware/auth.js</a:t>
            </a:r>
          </a:p>
          <a:p xmlns:a="http://schemas.openxmlformats.org/drawingml/2006/main">
            <a:r>
              <a:t>https://github.com/VarunHarinath/EnvSync/blob/main/WebService/routes/resources.js</a:t>
            </a:r>
          </a:p>
          <a:p xmlns:a="http://schemas.openxmlformats.org/drawingml/2006/main">
            <a:r>
              <a:t>https://github.com/VarunHarinath/EnvSync/blob/main/WebService/routes/resources.js</a:t>
            </a:r>
          </a:p>
          <a:p xmlns:a="http://schemas.openxmlformats.org/drawingml/2006/main">
            <a:r>
              <a:t>https://github.com/VarunHarinath/EnvSync/blob/main/WebService/Services/agentPolicy.js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This is the running local application, not a rendered product concept. The environment drawer shows attached secret names, a sharing control, and assigned agent access. Values are not exposed in this view. Beyond this screen, the repository includes AES-256-GCM storage encryption, environment cloning, scoped application keys, and audit history.</a:t>
            </a:r>
          </a:p>
          <a:p xmlns:a="http://schemas.openxmlformats.org/drawingml/2006/main">
            <a:r>
              <a:t/>
            </a:r>
          </a:p>
          <a:p xmlns:a="http://schemas.openxmlformats.org/drawingml/2006/main">
            <a:r>
              <a:t>KEY TAKEAWAY</a:t>
            </a:r>
          </a:p>
          <a:p xmlns:a="http://schemas.openxmlformats.org/drawingml/2006/main">
            <a:r>
              <a:t>Substantial working product already exists.</a:t>
            </a:r>
          </a:p>
          <a:p xmlns:a="http://schemas.openxmlformats.org/drawingml/2006/main">
            <a:r>
              <a:t/>
            </a:r>
          </a:p>
          <a:p xmlns:a="http://schemas.openxmlformats.org/drawingml/2006/main">
            <a:r>
              <a:t>TRANSITION</a:t>
            </a:r>
          </a:p>
          <a:p xmlns:a="http://schemas.openxmlformats.org/drawingml/2006/main">
            <a:r>
              <a:t>Follow an application request through the SDK.</a:t>
            </a:r>
          </a:p>
          <a:p xmlns:a="http://schemas.openxmlformats.org/drawingml/2006/main">
            <a:r>
              <a:t/>
            </a:r>
          </a:p>
          <a:p xmlns:a="http://schemas.openxmlformats.org/drawingml/2006/main">
            <a:r>
              <a:t>CAUTION</a:t>
            </a:r>
          </a:p>
          <a:p xmlns:a="http://schemas.openxmlformats.org/drawingml/2006/main">
            <a:r>
              <a:t>Screenshot captured 22 September 2026 from an existing local test project. Cropped for readability; no records or credentials were created. Environment cloning copies references. Screenshot itself is raster; labels and all other diagrams remain editable.</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https://github.com/VarunHarinath/EnvSync/blob/main/Client/src/pages/Environments.jsx</a:t>
            </a:r>
          </a:p>
          <a:p xmlns:a="http://schemas.openxmlformats.org/drawingml/2006/main">
            <a:r>
              <a:t>https://github.com/VarunHarinath/EnvSync/blob/main/WebService/routes/resources.js</a:t>
            </a:r>
          </a:p>
          <a:p xmlns:a="http://schemas.openxmlformats.org/drawingml/2006/main">
            <a:r>
              <a:t>https://github.com/VarunHarinath/EnvSync/blob/main/WebService/lib/security.js</a:t>
            </a:r>
          </a:p>
          <a:p xmlns:a="http://schemas.openxmlformats.org/drawingml/2006/main">
            <a:r>
              <a:t>https://github.com/VarunHarinath/EnvSync/blob/main/WebService/Services/audit.js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Node SDK is already implemented in the repository as @envsync/node. The application supplies its key and the base URL of its own EnvSync deployment, then asks for DATABASE_URL. The server checks the key and its pull permission and resolves the allowed scope. Python offers the corresponding client. This example intentionally references environment variables rather than embedding credentials.</a:t>
            </a:r>
          </a:p>
          <a:p xmlns:a="http://schemas.openxmlformats.org/drawingml/2006/main">
            <a:r>
              <a:t/>
            </a:r>
          </a:p>
          <a:p xmlns:a="http://schemas.openxmlformats.org/drawingml/2006/main">
            <a:r>
              <a:t>KEY TAKEAWAY</a:t>
            </a:r>
          </a:p>
          <a:p xmlns:a="http://schemas.openxmlformats.org/drawingml/2006/main">
            <a:r>
              <a:t>Applications request named secrets through scoped credentials.</a:t>
            </a:r>
          </a:p>
          <a:p xmlns:a="http://schemas.openxmlformats.org/drawingml/2006/main">
            <a:r>
              <a:t/>
            </a:r>
          </a:p>
          <a:p xmlns:a="http://schemas.openxmlformats.org/drawingml/2006/main">
            <a:r>
              <a:t>TRANSITION</a:t>
            </a:r>
          </a:p>
          <a:p xmlns:a="http://schemas.openxmlformats.org/drawingml/2006/main">
            <a:r>
              <a:t>Agents need the same precision, plus human approval and time limits.</a:t>
            </a:r>
          </a:p>
          <a:p xmlns:a="http://schemas.openxmlformats.org/drawingml/2006/main">
            <a:r>
              <a:t/>
            </a:r>
          </a:p>
          <a:p xmlns:a="http://schemas.openxmlformats.org/drawingml/2006/main">
            <a:r>
              <a:t>CAUTION</a:t>
            </a:r>
          </a:p>
          <a:p xmlns:a="http://schemas.openxmlformats.org/drawingml/2006/main">
            <a:r>
              <a:t>Package source exists; public registry publication is not asserted. Application keys can be scoped to a project or one environment. Authorized plaintext reaches the application and may be cached; revocation cannot erase values already retrieved.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https://github.com/VarunHarinath/EnvSync/blob/main/sdk/node/src/index.js</a:t>
            </a:r>
          </a:p>
          <a:p xmlns:a="http://schemas.openxmlformats.org/drawingml/2006/main">
            <a:r>
              <a:t>https://github.com/VarunHarinath/EnvSync/blob/main/sdk/node/README.md</a:t>
            </a:r>
          </a:p>
          <a:p xmlns:a="http://schemas.openxmlformats.org/drawingml/2006/main">
            <a:r>
              <a:t>https://github.com/VarunHarinath/EnvSync/blob/main/sdk/python/src/envsync/client.py</a:t>
            </a:r>
          </a:p>
          <a:p xmlns:a="http://schemas.openxmlformats.org/drawingml/2006/main">
            <a:r>
              <a:t>https://github.com/VarunHarinath/EnvSync/blob/main/WebService/routes/resources.js</a:t>
            </a:r>
          </a:p>
          <a:p xmlns:a="http://schemas.openxmlformats.org/drawingml/2006/main">
            <a:r>
              <a:t>https://github.com/VarunHarinath/EnvSync/blob/main/WebService/middleware/auth.js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45 seconds</a:t>
            </a:r>
          </a:p>
          <a:p xmlns:a="http://schemas.openxmlformats.org/drawingml/2006/main">
            <a:r>
              <a:t/>
            </a:r>
          </a:p>
          <a:p xmlns:a="http://schemas.openxmlformats.org/drawingml/2006/main">
            <a:r>
              <a:t>SAY</a:t>
            </a:r>
          </a:p>
          <a:p xmlns:a="http://schemas.openxmlformats.org/drawingml/2006/main">
            <a:r>
              <a:t>The agent workflow is implemented but labeled Preview while client interoperability and production hardening continue. An agent can enroll into a pending state; an administrator decides whether to approve it. An administrator can also explicitly connect a named agent with approved assignments. Each selected environment can have its own permission and expiration. Here, a coding agent can modify development, read testing, and cannot access production. These are example grants, not live timers. MCP is the local stdio bridge into the same backend policy.</a:t>
            </a:r>
          </a:p>
          <a:p xmlns:a="http://schemas.openxmlformats.org/drawingml/2006/main">
            <a:r>
              <a:t/>
            </a:r>
          </a:p>
          <a:p xmlns:a="http://schemas.openxmlformats.org/drawingml/2006/main">
            <a:r>
              <a:t>KEY TAKEAWAY</a:t>
            </a:r>
          </a:p>
          <a:p xmlns:a="http://schemas.openxmlformats.org/drawingml/2006/main">
            <a:r>
              <a:t>Agents receive bounded assignments, never a blanket vault.</a:t>
            </a:r>
          </a:p>
          <a:p xmlns:a="http://schemas.openxmlformats.org/drawingml/2006/main">
            <a:r>
              <a:t/>
            </a:r>
          </a:p>
          <a:p xmlns:a="http://schemas.openxmlformats.org/drawingml/2006/main">
            <a:r>
              <a:t>TRANSITION</a:t>
            </a:r>
          </a:p>
          <a:p xmlns:a="http://schemas.openxmlformats.org/drawingml/2006/main">
            <a:r>
              <a:t>Distinguish a successful connection from an authorized operation.</a:t>
            </a:r>
          </a:p>
          <a:p xmlns:a="http://schemas.openxmlformats.org/drawingml/2006/main">
            <a:r>
              <a:t/>
            </a:r>
          </a:p>
          <a:p xmlns:a="http://schemas.openxmlformats.org/drawingml/2006/main">
            <a:r>
              <a:t>CAUTION</a:t>
            </a:r>
          </a:p>
          <a:p xmlns:a="http://schemas.openxmlformats.org/drawingml/2006/main">
            <a:r>
              <a:t>Illustrative grants and TTLs. Current adapter is stdio; no hosted remote MCP or verified compatibility with every AI client is claimed. Delete tools are unavailable.</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https://github.com/VarunHarinath/EnvSync/blob/main/WebService/routes/agents.js</a:t>
            </a:r>
          </a:p>
          <a:p xmlns:a="http://schemas.openxmlformats.org/drawingml/2006/main">
            <a:r>
              <a:t>https://github.com/VarunHarinath/EnvSync/blob/main/WebService/Services/agentPolicy.js</a:t>
            </a:r>
          </a:p>
          <a:p xmlns:a="http://schemas.openxmlformats.org/drawingml/2006/main">
            <a:r>
              <a:t>https://github.com/VarunHarinath/EnvSync/blob/main/WebService/mcp/server.js</a:t>
            </a:r>
          </a:p>
          <a:p xmlns:a="http://schemas.openxmlformats.org/drawingml/2006/main">
            <a:r>
              <a:t>https://github.com/VarunHarinath/EnvSync/blob/main/Client/src/pages/McpAgents.jsx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A connection identifies the caller; it does not grant permission. Before an agent can read or modify a secret, the server checks the credential, approval state, environment assignment, required access level, and expiration boundaries. Revoked credentials and revoked grants stop subsequent authorization. A pending agent or an agent without the requested environment has no secret access. The decision stays in the backend, not in a prompt telling the model to behave.</a:t>
            </a:r>
          </a:p>
          <a:p xmlns:a="http://schemas.openxmlformats.org/drawingml/2006/main">
            <a:r>
              <a:t/>
            </a:r>
          </a:p>
          <a:p xmlns:a="http://schemas.openxmlformats.org/drawingml/2006/main">
            <a:r>
              <a:t>KEY TAKEAWAY</a:t>
            </a:r>
          </a:p>
          <a:p xmlns:a="http://schemas.openxmlformats.org/drawingml/2006/main">
            <a:r>
              <a:t>Policy is enforced by the server, not by agent instructions.</a:t>
            </a:r>
          </a:p>
          <a:p xmlns:a="http://schemas.openxmlformats.org/drawingml/2006/main">
            <a:r>
              <a:t/>
            </a:r>
          </a:p>
          <a:p xmlns:a="http://schemas.openxmlformats.org/drawingml/2006/main">
            <a:r>
              <a:t>TRANSITION</a:t>
            </a:r>
          </a:p>
          <a:p xmlns:a="http://schemas.openxmlformats.org/drawingml/2006/main">
            <a:r>
              <a:t>Show where that server runs.</a:t>
            </a:r>
          </a:p>
          <a:p xmlns:a="http://schemas.openxmlformats.org/drawingml/2006/main">
            <a:r>
              <a:t/>
            </a:r>
          </a:p>
          <a:p xmlns:a="http://schemas.openxmlformats.org/drawingml/2006/main">
            <a:r>
              <a:t>CAUTION</a:t>
            </a:r>
          </a:p>
          <a:p xmlns:a="http://schemas.openxmlformats.org/drawingml/2006/main">
            <a:r>
              <a:t>Checks are verified in implementation and unit tests, not a comprehensive penetration test. Previously disclosed values cannot be retracted. Shared secret attachments require security review before asserting strict value isolation.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https://github.com/VarunHarinath/EnvSync/blob/main/WebService/middleware/auth.js</a:t>
            </a:r>
          </a:p>
          <a:p xmlns:a="http://schemas.openxmlformats.org/drawingml/2006/main">
            <a:r>
              <a:t>https://github.com/VarunHarinath/EnvSync/blob/main/WebService/Services/agentPolicy.js</a:t>
            </a:r>
          </a:p>
          <a:p xmlns:a="http://schemas.openxmlformats.org/drawingml/2006/main">
            <a:r>
              <a:t>https://github.com/VarunHarinath/EnvSync/blob/main/WebService/Services/secretAccess.js</a:t>
            </a:r>
          </a:p>
          <a:p xmlns:a="http://schemas.openxmlformats.org/drawingml/2006/main">
            <a:r>
              <a:t>https://github.com/VarunHarinath/EnvSync/blob/main/WebService/test/agent-policy.test.js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EnvSync runs close to your code. The guided root setup brings up a Docker Compose stack with a frontend, Node API, and PostgreSQL. The database stays on an internal backend network and is not published directly to the host. You control where this stack runs and how it is exposed. There is no mandatory external secrets SaaS. The setup launcher itself requires Node.js 20 or newer and Docker.</a:t>
            </a:r>
          </a:p>
          <a:p xmlns:a="http://schemas.openxmlformats.org/drawingml/2006/main">
            <a:r>
              <a:t/>
            </a:r>
          </a:p>
          <a:p xmlns:a="http://schemas.openxmlformats.org/drawingml/2006/main">
            <a:r>
              <a:t>KEY TAKEAWAY</a:t>
            </a:r>
          </a:p>
          <a:p xmlns:a="http://schemas.openxmlformats.org/drawingml/2006/main">
            <a:r>
              <a:t>Local-first deployment is a concrete architecture choice.</a:t>
            </a:r>
          </a:p>
          <a:p xmlns:a="http://schemas.openxmlformats.org/drawingml/2006/main">
            <a:r>
              <a:t/>
            </a:r>
          </a:p>
          <a:p xmlns:a="http://schemas.openxmlformats.org/drawingml/2006/main">
            <a:r>
              <a:t>TRANSITION</a:t>
            </a:r>
          </a:p>
          <a:p xmlns:a="http://schemas.openxmlformats.org/drawingml/2006/main">
            <a:r>
              <a:t>Inventory what has already been implemented.</a:t>
            </a:r>
          </a:p>
          <a:p xmlns:a="http://schemas.openxmlformats.org/drawingml/2006/main">
            <a:r>
              <a:t/>
            </a:r>
          </a:p>
          <a:p xmlns:a="http://schemas.openxmlformats.org/drawingml/2006/main">
            <a:r>
              <a:t>CAUTION</a:t>
            </a:r>
          </a:p>
          <a:p xmlns:a="http://schemas.openxmlformats.org/drawingml/2006/main">
            <a:r>
              <a:t>Self-hosting is not automatic operational security: operators still need TLS, backups, key handling, and network configuration. The host Node prerequisite must not be hidden.</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https://github.com/VarunHarinath/EnvSync/blob/main/docker-compose.yml</a:t>
            </a:r>
          </a:p>
          <a:p xmlns:a="http://schemas.openxmlformats.org/drawingml/2006/main">
            <a:r>
              <a:t>https://github.com/VarunHarinath/EnvSync/blob/main/scripts/setup.js</a:t>
            </a:r>
          </a:p>
          <a:p xmlns:a="http://schemas.openxmlformats.org/drawingml/2006/main">
            <a:r>
              <a:t>https://github.com/VarunHarinath/EnvSync/blob/main/WebService/Dockerfile</a:t>
            </a:r>
          </a:p>
          <a:p xmlns:a="http://schemas.openxmlformats.org/drawingml/2006/main">
            <a:r>
              <a:t>https://github.com/VarunHarinath/EnvSync/blob/main/Client/Dockerfile</a:t>
            </a:r>
          </a:p>
          <a:p xmlns:a="http://schemas.openxmlformats.org/drawingml/2006/main">
            <a:r>
              <a:t>https://github.com/VarunHarinath/EnvSync/blob/main/README.md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 seconds</a:t>
            </a:r>
          </a:p>
          <a:p xmlns:a="http://schemas.openxmlformats.org/drawingml/2006/main">
            <a:r>
              <a:t/>
            </a:r>
          </a:p>
          <a:p xmlns:a="http://schemas.openxmlformats.org/drawingml/2006/main">
            <a:r>
              <a:t>SAY</a:t>
            </a:r>
          </a:p>
          <a:p xmlns:a="http://schemas.openxmlformats.org/drawingml/2006/main">
            <a:r>
              <a:t>The repository already contains the core platform end to end. There are local accounts and session handling; project, environment, and encrypted secret management; sharing and application-key permissions; Node and Python clients; a preview MCP adapter and agent authorization workflow; and the Docker setup plus audit history. These are code-backed modules rather than boxes on a roadmap. The next step is to turn implementation into dependable operational readiness.</a:t>
            </a:r>
          </a:p>
          <a:p xmlns:a="http://schemas.openxmlformats.org/drawingml/2006/main">
            <a:r>
              <a:t/>
            </a:r>
          </a:p>
          <a:p xmlns:a="http://schemas.openxmlformats.org/drawingml/2006/main">
            <a:r>
              <a:t>KEY TAKEAWAY</a:t>
            </a:r>
          </a:p>
          <a:p xmlns:a="http://schemas.openxmlformats.org/drawingml/2006/main">
            <a:r>
              <a:t>Implementation breadth is real; maturity is the next milestone.</a:t>
            </a:r>
          </a:p>
          <a:p xmlns:a="http://schemas.openxmlformats.org/drawingml/2006/main">
            <a:r>
              <a:t/>
            </a:r>
          </a:p>
          <a:p xmlns:a="http://schemas.openxmlformats.org/drawingml/2006/main">
            <a:r>
              <a:t>TRANSITION</a:t>
            </a:r>
          </a:p>
          <a:p xmlns:a="http://schemas.openxmlformats.org/drawingml/2006/main">
            <a:r>
              <a:t>Separate built scope from hardening priorities.</a:t>
            </a:r>
          </a:p>
          <a:p xmlns:a="http://schemas.openxmlformats.org/drawingml/2006/main">
            <a:r>
              <a:t/>
            </a:r>
          </a:p>
          <a:p xmlns:a="http://schemas.openxmlformats.org/drawingml/2006/main">
            <a:r>
              <a:t>CAUTION</a:t>
            </a:r>
          </a:p>
          <a:p xmlns:a="http://schemas.openxmlformats.org/drawingml/2006/main">
            <a:r>
              <a:t>Implemented does not mean exhaustively validated or independently audited. Module labels describe reviewed code, not certifications, adoption, or production reliability.</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https://github.com/VarunHarinath/EnvSync/blob/main/WebService/routes/auth.js</a:t>
            </a:r>
          </a:p>
          <a:p xmlns:a="http://schemas.openxmlformats.org/drawingml/2006/main">
            <a:r>
              <a:t>https://github.com/VarunHarinath/EnvSync/blob/main/WebService/routes/resources.js</a:t>
            </a:r>
          </a:p>
          <a:p xmlns:a="http://schemas.openxmlformats.org/drawingml/2006/main">
            <a:r>
              <a:t>https://github.com/VarunHarinath/EnvSync/blob/main/WebService/routes/agents.js</a:t>
            </a:r>
          </a:p>
          <a:p xmlns:a="http://schemas.openxmlformats.org/drawingml/2006/main">
            <a:r>
              <a:t>https://github.com/VarunHarinath/EnvSync/blob/main/sdk/node/README.md</a:t>
            </a:r>
          </a:p>
          <a:p xmlns:a="http://schemas.openxmlformats.org/drawingml/2006/main">
            <a:r>
              <a:t>https://github.com/VarunHarinath/EnvSync/blob/main/sdk/python/README.md</a:t>
            </a:r>
          </a:p>
          <a:p xmlns:a="http://schemas.openxmlformats.org/drawingml/2006/main">
            <a:r>
              <a:t>https://github.com/VarunHarinath/EnvSync/blob/main/docker-compose.yml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The work now is hardening what is already built: exercise real MCP clients, validate security boundaries, verify deployments, and make releases repeatable. The next priorities include email invitation delivery, smoother developer experience, broader client compatibility, and production readiness. This is a proposed near-term direction grounded in the current repository gaps, not a promise of completion dates.</a:t>
            </a:r>
          </a:p>
          <a:p xmlns:a="http://schemas.openxmlformats.org/drawingml/2006/main">
            <a:r>
              <a:t/>
            </a:r>
          </a:p>
          <a:p xmlns:a="http://schemas.openxmlformats.org/drawingml/2006/main">
            <a:r>
              <a:t>KEY TAKEAWAY</a:t>
            </a:r>
          </a:p>
          <a:p xmlns:a="http://schemas.openxmlformats.org/drawingml/2006/main">
            <a:r>
              <a:t>The next milestone is confidence, not a new product category.</a:t>
            </a:r>
          </a:p>
          <a:p xmlns:a="http://schemas.openxmlformats.org/drawingml/2006/main">
            <a:r>
              <a:t/>
            </a:r>
          </a:p>
          <a:p xmlns:a="http://schemas.openxmlformats.org/drawingml/2006/main">
            <a:r>
              <a:t>TRANSITION</a:t>
            </a:r>
          </a:p>
          <a:p xmlns:a="http://schemas.openxmlformats.org/drawingml/2006/main">
            <a:r>
              <a:t>Close with the platform vision.</a:t>
            </a:r>
          </a:p>
          <a:p xmlns:a="http://schemas.openxmlformats.org/drawingml/2006/main">
            <a:r>
              <a:t/>
            </a:r>
          </a:p>
          <a:p xmlns:a="http://schemas.openxmlformats.org/drawingml/2006/main">
            <a:r>
              <a:t>CAUTION</a:t>
            </a:r>
          </a:p>
          <a:p xmlns:a="http://schemas.openxmlformats.org/drawingml/2006/main">
            <a:r>
              <a:t>Roadmap is proposed, not committed. SMTP delivery is not implemented. No penetration-test certification, uptime, adoption, or customer metric is claimed.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https://github.com/VarunHarinath/EnvSync/blob/main/WebService/test/mcp.test.js</a:t>
            </a:r>
          </a:p>
          <a:p xmlns:a="http://schemas.openxmlformats.org/drawingml/2006/main">
            <a:r>
              <a:t>https://github.com/VarunHarinath/EnvSync/blob/main/WebService/test/agent-policy.test.js</a:t>
            </a:r>
          </a:p>
          <a:p xmlns:a="http://schemas.openxmlformats.org/drawingml/2006/main">
            <a:r>
              <a:t>https://github.com/VarunHarinath/EnvSync/blob/main/WebService/mcp/server.js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a:t>
            </a:r>
          </a:p>
          <a:p xmlns:a="http://schemas.openxmlformats.org/drawingml/2006/main">
            <a:r>
              <a:t/>
            </a:r>
          </a:p>
          <a:p xmlns:a="http://schemas.openxmlformats.org/drawingml/2006/main">
            <a:r>
              <a:t>SAY</a:t>
            </a:r>
          </a:p>
          <a:p xmlns:a="http://schemas.openxmlformats.org/drawingml/2006/main">
            <a:r>
              <a:t>The vision is an access layer for the identities that build and run software. People, applications, and agents should get the configuration they need in the environment where they need it—not inherit the entire vault. EnvSync starts with a self-hosted foundation and extends the same principle to temporary agent access. Explore the repository, try the local setup, and help pressure-test the boundaries.</a:t>
            </a:r>
          </a:p>
          <a:p xmlns:a="http://schemas.openxmlformats.org/drawingml/2006/main">
            <a:r>
              <a:t/>
            </a:r>
          </a:p>
          <a:p xmlns:a="http://schemas.openxmlformats.org/drawingml/2006/main">
            <a:r>
              <a:t>KEY TAKEAWAY</a:t>
            </a:r>
          </a:p>
          <a:p xmlns:a="http://schemas.openxmlformats.org/drawingml/2006/main">
            <a:r>
              <a:t>One platform. Explicit access. Secrets in their place.</a:t>
            </a:r>
          </a:p>
          <a:p xmlns:a="http://schemas.openxmlformats.org/drawingml/2006/main">
            <a:r>
              <a:t/>
            </a:r>
          </a:p>
          <a:p xmlns:a="http://schemas.openxmlformats.org/drawingml/2006/main">
            <a:r>
              <a:t>TRANSITION</a:t>
            </a:r>
          </a:p>
          <a:p xmlns:a="http://schemas.openxmlformats.org/drawingml/2006/main">
            <a:r>
              <a:t>Invite questions or a short product demonstration.</a:t>
            </a:r>
          </a:p>
          <a:p xmlns:a="http://schemas.openxmlformats.org/drawingml/2006/main">
            <a:r>
              <a:t/>
            </a:r>
          </a:p>
          <a:p xmlns:a="http://schemas.openxmlformats.org/drawingml/2006/main">
            <a:r>
              <a:t>CAUTION</a:t>
            </a:r>
          </a:p>
          <a:p xmlns:a="http://schemas.openxmlformats.org/drawingml/2006/main">
            <a:r>
              <a:t>Vision describes direction, not guaranteed outcomes. Agent features remain Preview. No funding ask was requested.</a:t>
            </a:r>
          </a:p>
          <a:p xmlns:a="http://schemas.openxmlformats.org/drawingml/2006/main">
            <a:r>
              <a:t/>
            </a:r>
          </a:p>
          <a:p xmlns:a="http://schemas.openxmlformats.org/drawingml/2006/main">
            <a:r>
              <a:t>SOURCES (repository reviewed 22 September 2026)</a:t>
            </a:r>
          </a:p>
          <a:p xmlns:a="http://schemas.openxmlformats.org/drawingml/2006/main">
            <a:r>
              <a:t>https://github.com/VarunHarinath/EnvSync/blob/main/README.md</a:t>
            </a:r>
          </a:p>
          <a:p xmlns:a="http://schemas.openxmlformats.org/drawingml/2006/main">
            <a:r>
              <a:t>https://github.com/VarunHarinath/EnvSync/blob/main/WebService/Services/agentPolicy.js</a:t>
            </a:r>
          </a:p>
          <a:p xmlns:a="http://schemas.openxmlformats.org/drawingml/2006/main">
            <a:r>
              <a:t>https://github.com/VarunHarinath/EnvSync/blob/main/sdk/node/README.md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3703a996a046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c8a1e66427474d" /><Relationship Type="http://schemas.openxmlformats.org/officeDocument/2006/relationships/slideLayout" Target="/ppt/slideLayouts/slideLayout1.xml" Id="R6ca31500b66b4f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a31500b66b4f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7230a57bd24629" /><Relationship Type="http://schemas.openxmlformats.org/officeDocument/2006/relationships/image" Target="/ppt/media/image.png" Id="R3fadab29b1f54cc5" /><Relationship Type="http://schemas.openxmlformats.org/officeDocument/2006/relationships/image" Target="/ppt/media/image.svg" Id="R4297f062811a428a" /><Relationship Type="http://schemas.openxmlformats.org/officeDocument/2006/relationships/image" Target="/ppt/media/image2.png" Id="Rd4957082cb65443c" /><Relationship Type="http://schemas.openxmlformats.org/officeDocument/2006/relationships/image" Target="/ppt/media/image2.svg" Id="Rcec6118d6f8c4e92" /><Relationship Type="http://schemas.openxmlformats.org/officeDocument/2006/relationships/notesSlide" Target="/ppt/notesSlides/notesSlide1.xml" Id="Rde4eed7da11c45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89cbf51be1457b" /><Relationship Type="http://schemas.openxmlformats.org/officeDocument/2006/relationships/image" Target="/ppt/media/image3.png" Id="Rf6c7c672fc2543f7" /><Relationship Type="http://schemas.openxmlformats.org/officeDocument/2006/relationships/image" Target="/ppt/media/image3.svg" Id="R299bb3fdee694d1b" /><Relationship Type="http://schemas.openxmlformats.org/officeDocument/2006/relationships/notesSlide" Target="/ppt/notesSlides/notesSlide2.xml" Id="Rfa7c2925cca944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b04194ec5e42e4" /><Relationship Type="http://schemas.openxmlformats.org/officeDocument/2006/relationships/image" Target="/ppt/media/image4.png" Id="R9ef9c1045fe44a2a" /><Relationship Type="http://schemas.openxmlformats.org/officeDocument/2006/relationships/image" Target="/ppt/media/image4.svg" Id="R60b37592a5aa410b" /><Relationship Type="http://schemas.openxmlformats.org/officeDocument/2006/relationships/notesSlide" Target="/ppt/notesSlides/notesSlide3.xml" Id="R76729cd8dfbc40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295f1da1884df4" /><Relationship Type="http://schemas.openxmlformats.org/officeDocument/2006/relationships/image" Target="/ppt/media/image5.png" Id="R3dba22702f764793" /><Relationship Type="http://schemas.openxmlformats.org/officeDocument/2006/relationships/image" Target="/ppt/media/image5.svg" Id="R71c17904f7a64b73" /><Relationship Type="http://schemas.openxmlformats.org/officeDocument/2006/relationships/notesSlide" Target="/ppt/notesSlides/notesSlide4.xml" Id="Rbe993f8d7b184b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817a6c01bf4711" /><Relationship Type="http://schemas.openxmlformats.org/officeDocument/2006/relationships/image" Target="/ppt/media/image6.png" Id="R126e7ab28f0c4bb5" /><Relationship Type="http://schemas.openxmlformats.org/officeDocument/2006/relationships/image" Target="/ppt/media/image6.svg" Id="R6c1981324bed465e" /><Relationship Type="http://schemas.openxmlformats.org/officeDocument/2006/relationships/image" Target="/ppt/media/image7.png" Id="R2a8d5eaadb9b4afb" /><Relationship Type="http://schemas.openxmlformats.org/officeDocument/2006/relationships/notesSlide" Target="/ppt/notesSlides/notesSlide5.xml" Id="Re91e5142ffe246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82f61f4f6e4333" /><Relationship Type="http://schemas.openxmlformats.org/officeDocument/2006/relationships/image" Target="/ppt/media/image8.png" Id="R9603123a537f4225" /><Relationship Type="http://schemas.openxmlformats.org/officeDocument/2006/relationships/image" Target="/ppt/media/image7.svg" Id="Rf924fecac32e4b44" /><Relationship Type="http://schemas.openxmlformats.org/officeDocument/2006/relationships/notesSlide" Target="/ppt/notesSlides/notesSlide6.xml" Id="Rda759a20d40d45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82c24895994f68" /><Relationship Type="http://schemas.openxmlformats.org/officeDocument/2006/relationships/image" Target="/ppt/media/image9.png" Id="R68a81f3cf0cf4666" /><Relationship Type="http://schemas.openxmlformats.org/officeDocument/2006/relationships/image" Target="/ppt/media/image8.svg" Id="Rbdc9ef92dde44d17" /><Relationship Type="http://schemas.openxmlformats.org/officeDocument/2006/relationships/notesSlide" Target="/ppt/notesSlides/notesSlide7.xml" Id="Rcf603d777d9c4d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c04bff16494e47" /><Relationship Type="http://schemas.openxmlformats.org/officeDocument/2006/relationships/image" Target="/ppt/media/image10.png" Id="Ra024b43e1b9c4dd3" /><Relationship Type="http://schemas.openxmlformats.org/officeDocument/2006/relationships/image" Target="/ppt/media/image9.svg" Id="R74120c50d5f84764" /><Relationship Type="http://schemas.openxmlformats.org/officeDocument/2006/relationships/notesSlide" Target="/ppt/notesSlides/notesSlide8.xml" Id="R3801fddcc42842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6c14cb6a8d4ba3" /><Relationship Type="http://schemas.openxmlformats.org/officeDocument/2006/relationships/image" Target="/ppt/media/image11.png" Id="Rc163c64ad963492e" /><Relationship Type="http://schemas.openxmlformats.org/officeDocument/2006/relationships/image" Target="/ppt/media/image10.svg" Id="R1fe1d61067a84a2b" /><Relationship Type="http://schemas.openxmlformats.org/officeDocument/2006/relationships/notesSlide" Target="/ppt/notesSlides/notesSlide9.xml" Id="R86c3a27d41df43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b48668986c4ed4" /><Relationship Type="http://schemas.openxmlformats.org/officeDocument/2006/relationships/image" Target="/ppt/media/image12.png" Id="Reb2f88aabc9f4af3" /><Relationship Type="http://schemas.openxmlformats.org/officeDocument/2006/relationships/image" Target="/ppt/media/image11.svg" Id="R7e932061cc0e4f28" /><Relationship Type="http://schemas.openxmlformats.org/officeDocument/2006/relationships/notesSlide" Target="/ppt/notesSlides/notesSlide10.xml" Id="R3ec0833e3f644f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142d5e3a724095" /><Relationship Type="http://schemas.openxmlformats.org/officeDocument/2006/relationships/image" Target="/ppt/media/image13.png" Id="Ra558bebc95b44f08" /><Relationship Type="http://schemas.openxmlformats.org/officeDocument/2006/relationships/image" Target="/ppt/media/image12.svg" Id="R0f53c28f258e4453" /><Relationship Type="http://schemas.openxmlformats.org/officeDocument/2006/relationships/notesSlide" Target="/ppt/notesSlides/notesSlide11.xml" Id="R9f9eda0913e24b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e3fb015e93490e" /><Relationship Type="http://schemas.openxmlformats.org/officeDocument/2006/relationships/image" Target="/ppt/media/image14.png" Id="Rcdb9dbf0e23a432d" /><Relationship Type="http://schemas.openxmlformats.org/officeDocument/2006/relationships/image" Target="/ppt/media/image13.svg" Id="R6b4202bad8ca49fb" /><Relationship Type="http://schemas.openxmlformats.org/officeDocument/2006/relationships/image" Target="/ppt/media/image15.png" Id="Rdedebe1113584355" /><Relationship Type="http://schemas.openxmlformats.org/officeDocument/2006/relationships/image" Target="/ppt/media/image14.svg" Id="R0f0506a3663d47a9" /><Relationship Type="http://schemas.openxmlformats.org/officeDocument/2006/relationships/notesSlide" Target="/ppt/notesSlides/notesSlide12.xml" Id="R79685edb7db54d55" /></Relationships>
</file>

<file path=ppt/slides/slide1.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fadab29b1f54cc5">
            <a:extLst>
              <a:ext uri="{96DAC541-7B7A-43D3-8B79-37D633B846F1}">
                <asvg:svgBlip xmlns:asvg="http://schemas.microsoft.com/office/drawing/2016/SVG/main" r:embed="R4297f062811a428a"/>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1">
            <a:extLst xmlns:a="http://schemas.openxmlformats.org/drawingml/2006/main">
              <a:ext uri="{FF2B5EF4-FFF2-40B4-BE49-F238E27FC236}">
                <a16:creationId xmlns:a16="http://schemas.microsoft.com/office/drawing/2014/main" id="{B7DBCD90-26AA-43E7-A3E3-C4F35B327BA6}"/>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2">
            <a:extLst xmlns:a="http://schemas.openxmlformats.org/drawingml/2006/main">
              <a:ext uri="{FF2B5EF4-FFF2-40B4-BE49-F238E27FC236}">
                <a16:creationId xmlns:a16="http://schemas.microsoft.com/office/drawing/2014/main" id="{3C8679D8-1055-4CD1-9E32-EA7D7A81E838}"/>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4957082cb65443c">
            <a:extLst>
              <a:ext uri="{96DAC541-7B7A-43D3-8B79-37D633B846F1}">
                <asvg:svgBlip xmlns:asvg="http://schemas.microsoft.com/office/drawing/2016/SVG/main" r:embed="Rcec6118d6f8c4e92"/>
              </a:ext>
            </a:extLst>
          </a:blip>
          <a:stretch xmlns:a="http://schemas.openxmlformats.org/drawingml/2006/main"/>
        </p:blipFill>
        <p:spPr>
          <a:xfrm xmlns:a="http://schemas.openxmlformats.org/drawingml/2006/main">
            <a:off x="533400" y="990600"/>
            <a:ext cx="552450" cy="55245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9B4DE07F-5691-4DEE-AB77-85C055C03BDD}"/>
              </a:ext>
            </a:extLst>
          </p:cNvPr>
          <p:cNvSpPr>
            <a:spLocks xmlns:a="http://schemas.openxmlformats.org/drawingml/2006/main" noGrp="1"/>
          </p:cNvSpPr>
          <p:nvPr/>
        </p:nvSpPr>
        <p:spPr>
          <a:xfrm xmlns:a="http://schemas.openxmlformats.org/drawingml/2006/main">
            <a:off x="1247775" y="1019175"/>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20211F"/>
                </a:solidFill>
                <a:latin typeface="Arial"/>
                <a:ea typeface="Arial"/>
                <a:cs typeface="Arial"/>
              </a:defRPr>
            </a:pPr>
            <a:r>
              <a:rPr sz="3675" b="1">
                <a:solidFill>
                  <a:srgbClr val="20211F"/>
                </a:solidFill>
                <a:latin typeface="Arial"/>
                <a:ea typeface="Arial"/>
                <a:cs typeface="Arial"/>
              </a:rPr>
              <a:t>EnvSync</a:t>
            </a:r>
          </a:p>
        </p:txBody>
      </p:sp>
      <p:sp>
        <p:nvSpPr>
          <p:cNvPr id="6" name="text-4">
            <a:extLst xmlns:a="http://schemas.openxmlformats.org/drawingml/2006/main">
              <a:ext uri="{FF2B5EF4-FFF2-40B4-BE49-F238E27FC236}">
                <a16:creationId xmlns:a16="http://schemas.microsoft.com/office/drawing/2014/main" id="{F3F09D44-A6F4-49F5-9DB0-B5FFC2912315}"/>
              </a:ext>
            </a:extLst>
          </p:cNvPr>
          <p:cNvSpPr>
            <a:spLocks xmlns:a="http://schemas.openxmlformats.org/drawingml/2006/main" noGrp="1"/>
          </p:cNvSpPr>
          <p:nvPr/>
        </p:nvSpPr>
        <p:spPr>
          <a:xfrm xmlns:a="http://schemas.openxmlformats.org/drawingml/2006/main">
            <a:off x="533400" y="2124075"/>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Environment</a:t>
            </a:r>
          </a:p>
        </p:txBody>
      </p:sp>
      <p:sp>
        <p:nvSpPr>
          <p:cNvPr id="7" name="text-5">
            <a:extLst xmlns:a="http://schemas.openxmlformats.org/drawingml/2006/main">
              <a:ext uri="{FF2B5EF4-FFF2-40B4-BE49-F238E27FC236}">
                <a16:creationId xmlns:a16="http://schemas.microsoft.com/office/drawing/2014/main" id="{DB13A8AF-CDE2-445E-933A-2FF17F9F65A8}"/>
              </a:ext>
            </a:extLst>
          </p:cNvPr>
          <p:cNvSpPr>
            <a:spLocks xmlns:a="http://schemas.openxmlformats.org/drawingml/2006/main" noGrp="1"/>
          </p:cNvSpPr>
          <p:nvPr/>
        </p:nvSpPr>
        <p:spPr>
          <a:xfrm xmlns:a="http://schemas.openxmlformats.org/drawingml/2006/main">
            <a:off x="533400" y="2857500"/>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variables, without</a:t>
            </a:r>
          </a:p>
        </p:txBody>
      </p:sp>
      <p:sp>
        <p:nvSpPr>
          <p:cNvPr id="8" name="text-6">
            <a:extLst xmlns:a="http://schemas.openxmlformats.org/drawingml/2006/main">
              <a:ext uri="{FF2B5EF4-FFF2-40B4-BE49-F238E27FC236}">
                <a16:creationId xmlns:a16="http://schemas.microsoft.com/office/drawing/2014/main" id="{0B320B3A-8FCA-49E7-814D-DA882C06F965}"/>
              </a:ext>
            </a:extLst>
          </p:cNvPr>
          <p:cNvSpPr>
            <a:spLocks xmlns:a="http://schemas.openxmlformats.org/drawingml/2006/main" noGrp="1"/>
          </p:cNvSpPr>
          <p:nvPr/>
        </p:nvSpPr>
        <p:spPr>
          <a:xfrm xmlns:a="http://schemas.openxmlformats.org/drawingml/2006/main">
            <a:off x="533400" y="3590925"/>
            <a:ext cx="8096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175" b="1">
                <a:solidFill>
                  <a:srgbClr val="20211F"/>
                </a:solidFill>
                <a:latin typeface="Arial"/>
                <a:ea typeface="Arial"/>
                <a:cs typeface="Arial"/>
              </a:defRPr>
            </a:pPr>
            <a:r>
              <a:rPr sz="5175" b="1">
                <a:solidFill>
                  <a:srgbClr val="20211F"/>
                </a:solidFill>
                <a:latin typeface="Arial"/>
                <a:ea typeface="Arial"/>
                <a:cs typeface="Arial"/>
              </a:rPr>
              <a:t>the .env chaos.</a:t>
            </a:r>
          </a:p>
        </p:txBody>
      </p:sp>
      <p:sp>
        <p:nvSpPr>
          <p:cNvPr id="9" name="text-7">
            <a:extLst xmlns:a="http://schemas.openxmlformats.org/drawingml/2006/main">
              <a:ext uri="{FF2B5EF4-FFF2-40B4-BE49-F238E27FC236}">
                <a16:creationId xmlns:a16="http://schemas.microsoft.com/office/drawing/2014/main" id="{59788094-D2A1-486A-96A5-A73541090418}"/>
              </a:ext>
            </a:extLst>
          </p:cNvPr>
          <p:cNvSpPr>
            <a:spLocks xmlns:a="http://schemas.openxmlformats.org/drawingml/2006/main" noGrp="1"/>
          </p:cNvSpPr>
          <p:nvPr/>
        </p:nvSpPr>
        <p:spPr>
          <a:xfrm xmlns:a="http://schemas.openxmlformats.org/drawingml/2006/main">
            <a:off x="571500" y="4791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676961"/>
                </a:solidFill>
                <a:latin typeface="Arial"/>
                <a:ea typeface="Arial"/>
                <a:cs typeface="Arial"/>
              </a:defRPr>
            </a:pPr>
            <a:r>
              <a:rPr sz="2100" b="0">
                <a:solidFill>
                  <a:srgbClr val="676961"/>
                </a:solidFill>
                <a:latin typeface="Arial"/>
                <a:ea typeface="Arial"/>
                <a:cs typeface="Arial"/>
              </a:rPr>
              <a:t>Self-hosted secrets for people, applications, and AI agents.</a:t>
            </a:r>
          </a:p>
        </p:txBody>
      </p:sp>
      <p:sp>
        <p:nvSpPr>
          <p:cNvPr id="10" name="text-8">
            <a:extLst xmlns:a="http://schemas.openxmlformats.org/drawingml/2006/main">
              <a:ext uri="{FF2B5EF4-FFF2-40B4-BE49-F238E27FC236}">
                <a16:creationId xmlns:a16="http://schemas.microsoft.com/office/drawing/2014/main" id="{3C7E66CB-E3B5-4E11-80F2-51E7B3BFD9B6}"/>
              </a:ext>
            </a:extLst>
          </p:cNvPr>
          <p:cNvSpPr>
            <a:spLocks xmlns:a="http://schemas.openxmlformats.org/drawingml/2006/main" noGrp="1"/>
          </p:cNvSpPr>
          <p:nvPr/>
        </p:nvSpPr>
        <p:spPr>
          <a:xfrm xmlns:a="http://schemas.openxmlformats.org/drawingml/2006/main">
            <a:off x="571500" y="5638800"/>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SELF-HOSTED   /   ENVIRONMENT-SCOPED   /   SDK + MCP</a:t>
            </a:r>
          </a:p>
        </p:txBody>
      </p:sp>
      <p:sp>
        <p:nvSpPr>
          <p:cNvPr id="11" name="text-9">
            <a:extLst xmlns:a="http://schemas.openxmlformats.org/drawingml/2006/main">
              <a:ext uri="{FF2B5EF4-FFF2-40B4-BE49-F238E27FC236}">
                <a16:creationId xmlns:a16="http://schemas.microsoft.com/office/drawing/2014/main" id="{7CFA384A-A11A-4056-9941-601A17F9E83D}"/>
              </a:ext>
            </a:extLst>
          </p:cNvPr>
          <p:cNvSpPr>
            <a:spLocks xmlns:a="http://schemas.openxmlformats.org/drawingml/2006/main" noGrp="1"/>
          </p:cNvSpPr>
          <p:nvPr/>
        </p:nvSpPr>
        <p:spPr>
          <a:xfrm xmlns:a="http://schemas.openxmlformats.org/drawingml/2006/main">
            <a:off x="9324975" y="57150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1">
                <a:solidFill>
                  <a:srgbClr val="6D5EF4"/>
                </a:solidFill>
                <a:latin typeface="Arial"/>
                <a:ea typeface="Arial"/>
                <a:cs typeface="Arial"/>
              </a:defRPr>
            </a:pPr>
            <a:r>
              <a:rPr sz="1950" b="1">
                <a:solidFill>
                  <a:srgbClr val="6D5EF4"/>
                </a:solidFill>
                <a:latin typeface="Arial"/>
                <a:ea typeface="Arial"/>
                <a:cs typeface="Arial"/>
              </a:rPr>
              <a:t>envsync.me</a:t>
            </a:r>
          </a:p>
        </p:txBody>
      </p:sp>
      <p:sp>
        <p:nvSpPr>
          <p:cNvPr id="12" name="shape-10">
            <a:extLst xmlns:a="http://schemas.openxmlformats.org/drawingml/2006/main">
              <a:ext uri="{FF2B5EF4-FFF2-40B4-BE49-F238E27FC236}">
                <a16:creationId xmlns:a16="http://schemas.microsoft.com/office/drawing/2014/main" id="{73C08AC4-FF0E-4D27-8D1C-3750EA7282FA}"/>
              </a:ext>
            </a:extLst>
          </p:cNvPr>
          <p:cNvSpPr>
            <a:spLocks xmlns:a="http://schemas.openxmlformats.org/drawingml/2006/main" noGrp="1"/>
          </p:cNvSpPr>
          <p:nvPr/>
        </p:nvSpPr>
        <p:spPr>
          <a:xfrm xmlns:a="http://schemas.openxmlformats.org/drawingml/2006/main">
            <a:off x="9201150" y="1962150"/>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3" name="text-11">
            <a:extLst xmlns:a="http://schemas.openxmlformats.org/drawingml/2006/main">
              <a:ext uri="{FF2B5EF4-FFF2-40B4-BE49-F238E27FC236}">
                <a16:creationId xmlns:a16="http://schemas.microsoft.com/office/drawing/2014/main" id="{848975D6-2ABA-42E3-A7B2-D98321ABBB28}"/>
              </a:ext>
            </a:extLst>
          </p:cNvPr>
          <p:cNvSpPr>
            <a:spLocks xmlns:a="http://schemas.openxmlformats.org/drawingml/2006/main" noGrp="1"/>
          </p:cNvSpPr>
          <p:nvPr/>
        </p:nvSpPr>
        <p:spPr>
          <a:xfrm xmlns:a="http://schemas.openxmlformats.org/drawingml/2006/main">
            <a:off x="9372600" y="2057400"/>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DEV</a:t>
            </a:r>
          </a:p>
        </p:txBody>
      </p:sp>
      <p:sp>
        <p:nvSpPr>
          <p:cNvPr id="14" name="text-12">
            <a:extLst xmlns:a="http://schemas.openxmlformats.org/drawingml/2006/main">
              <a:ext uri="{FF2B5EF4-FFF2-40B4-BE49-F238E27FC236}">
                <a16:creationId xmlns:a16="http://schemas.microsoft.com/office/drawing/2014/main" id="{E1E0075E-5F87-448B-8693-043E18C1C12B}"/>
              </a:ext>
            </a:extLst>
          </p:cNvPr>
          <p:cNvSpPr>
            <a:spLocks xmlns:a="http://schemas.openxmlformats.org/drawingml/2006/main" noGrp="1"/>
          </p:cNvSpPr>
          <p:nvPr/>
        </p:nvSpPr>
        <p:spPr>
          <a:xfrm xmlns:a="http://schemas.openxmlformats.org/drawingml/2006/main">
            <a:off x="11058525" y="20859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01</a:t>
            </a:r>
          </a:p>
        </p:txBody>
      </p:sp>
      <p:sp>
        <p:nvSpPr>
          <p:cNvPr id="15" name="shape-13">
            <a:extLst xmlns:a="http://schemas.openxmlformats.org/drawingml/2006/main">
              <a:ext uri="{FF2B5EF4-FFF2-40B4-BE49-F238E27FC236}">
                <a16:creationId xmlns:a16="http://schemas.microsoft.com/office/drawing/2014/main" id="{02C00BFB-4BC6-4E3B-B829-C582841E9343}"/>
              </a:ext>
            </a:extLst>
          </p:cNvPr>
          <p:cNvSpPr>
            <a:spLocks xmlns:a="http://schemas.openxmlformats.org/drawingml/2006/main" noGrp="1"/>
          </p:cNvSpPr>
          <p:nvPr/>
        </p:nvSpPr>
        <p:spPr>
          <a:xfrm xmlns:a="http://schemas.openxmlformats.org/drawingml/2006/main">
            <a:off x="9201150" y="2543175"/>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6" name="text-14">
            <a:extLst xmlns:a="http://schemas.openxmlformats.org/drawingml/2006/main">
              <a:ext uri="{FF2B5EF4-FFF2-40B4-BE49-F238E27FC236}">
                <a16:creationId xmlns:a16="http://schemas.microsoft.com/office/drawing/2014/main" id="{877F02D4-A02F-48BD-B629-955263BE1439}"/>
              </a:ext>
            </a:extLst>
          </p:cNvPr>
          <p:cNvSpPr>
            <a:spLocks xmlns:a="http://schemas.openxmlformats.org/drawingml/2006/main" noGrp="1"/>
          </p:cNvSpPr>
          <p:nvPr/>
        </p:nvSpPr>
        <p:spPr>
          <a:xfrm xmlns:a="http://schemas.openxmlformats.org/drawingml/2006/main">
            <a:off x="9372600" y="2638425"/>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TEST</a:t>
            </a:r>
          </a:p>
        </p:txBody>
      </p:sp>
      <p:sp>
        <p:nvSpPr>
          <p:cNvPr id="17" name="text-15">
            <a:extLst xmlns:a="http://schemas.openxmlformats.org/drawingml/2006/main">
              <a:ext uri="{FF2B5EF4-FFF2-40B4-BE49-F238E27FC236}">
                <a16:creationId xmlns:a16="http://schemas.microsoft.com/office/drawing/2014/main" id="{468E8582-A83D-4B02-898D-9E362AD51715}"/>
              </a:ext>
            </a:extLst>
          </p:cNvPr>
          <p:cNvSpPr>
            <a:spLocks xmlns:a="http://schemas.openxmlformats.org/drawingml/2006/main" noGrp="1"/>
          </p:cNvSpPr>
          <p:nvPr/>
        </p:nvSpPr>
        <p:spPr>
          <a:xfrm xmlns:a="http://schemas.openxmlformats.org/drawingml/2006/main">
            <a:off x="11058525" y="266700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02</a:t>
            </a:r>
          </a:p>
        </p:txBody>
      </p:sp>
      <p:sp>
        <p:nvSpPr>
          <p:cNvPr id="18" name="shape-16">
            <a:extLst xmlns:a="http://schemas.openxmlformats.org/drawingml/2006/main">
              <a:ext uri="{FF2B5EF4-FFF2-40B4-BE49-F238E27FC236}">
                <a16:creationId xmlns:a16="http://schemas.microsoft.com/office/drawing/2014/main" id="{5C28D016-EDA2-4B01-B3EC-AFF7EC5CA614}"/>
              </a:ext>
            </a:extLst>
          </p:cNvPr>
          <p:cNvSpPr>
            <a:spLocks xmlns:a="http://schemas.openxmlformats.org/drawingml/2006/main" noGrp="1"/>
          </p:cNvSpPr>
          <p:nvPr/>
        </p:nvSpPr>
        <p:spPr>
          <a:xfrm xmlns:a="http://schemas.openxmlformats.org/drawingml/2006/main">
            <a:off x="9201150" y="3124200"/>
            <a:ext cx="2419350" cy="4476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19" name="text-17">
            <a:extLst xmlns:a="http://schemas.openxmlformats.org/drawingml/2006/main">
              <a:ext uri="{FF2B5EF4-FFF2-40B4-BE49-F238E27FC236}">
                <a16:creationId xmlns:a16="http://schemas.microsoft.com/office/drawing/2014/main" id="{D47BE607-0A42-4F71-8F83-ADE50ADEF62B}"/>
              </a:ext>
            </a:extLst>
          </p:cNvPr>
          <p:cNvSpPr>
            <a:spLocks xmlns:a="http://schemas.openxmlformats.org/drawingml/2006/main" noGrp="1"/>
          </p:cNvSpPr>
          <p:nvPr/>
        </p:nvSpPr>
        <p:spPr>
          <a:xfrm xmlns:a="http://schemas.openxmlformats.org/drawingml/2006/main">
            <a:off x="9372600" y="3219450"/>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STAGE</a:t>
            </a:r>
          </a:p>
        </p:txBody>
      </p:sp>
      <p:sp>
        <p:nvSpPr>
          <p:cNvPr id="20" name="text-18">
            <a:extLst xmlns:a="http://schemas.openxmlformats.org/drawingml/2006/main">
              <a:ext uri="{FF2B5EF4-FFF2-40B4-BE49-F238E27FC236}">
                <a16:creationId xmlns:a16="http://schemas.microsoft.com/office/drawing/2014/main" id="{B6FEE94A-AF3E-442F-809A-BA03D4174AED}"/>
              </a:ext>
            </a:extLst>
          </p:cNvPr>
          <p:cNvSpPr>
            <a:spLocks xmlns:a="http://schemas.openxmlformats.org/drawingml/2006/main" noGrp="1"/>
          </p:cNvSpPr>
          <p:nvPr/>
        </p:nvSpPr>
        <p:spPr>
          <a:xfrm xmlns:a="http://schemas.openxmlformats.org/drawingml/2006/main">
            <a:off x="11058525" y="32480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03</a:t>
            </a:r>
          </a:p>
        </p:txBody>
      </p:sp>
      <p:sp>
        <p:nvSpPr>
          <p:cNvPr id="21" name="shape-19">
            <a:extLst xmlns:a="http://schemas.openxmlformats.org/drawingml/2006/main">
              <a:ext uri="{FF2B5EF4-FFF2-40B4-BE49-F238E27FC236}">
                <a16:creationId xmlns:a16="http://schemas.microsoft.com/office/drawing/2014/main" id="{EC9B9859-68BD-4D5B-B039-2FE416C40BB8}"/>
              </a:ext>
            </a:extLst>
          </p:cNvPr>
          <p:cNvSpPr>
            <a:spLocks xmlns:a="http://schemas.openxmlformats.org/drawingml/2006/main" noGrp="1"/>
          </p:cNvSpPr>
          <p:nvPr/>
        </p:nvSpPr>
        <p:spPr>
          <a:xfrm xmlns:a="http://schemas.openxmlformats.org/drawingml/2006/main">
            <a:off x="9201150" y="3705225"/>
            <a:ext cx="2419350" cy="447675"/>
          </a:xfrm>
          <a:prstGeom xmlns:a="http://schemas.openxmlformats.org/drawingml/2006/main" prst="rect">
            <a:avLst/>
          </a:prstGeom>
          <a:solidFill xmlns:a="http://schemas.openxmlformats.org/drawingml/2006/main">
            <a:srgbClr val="DCD7FF"/>
          </a:solidFill>
          <a:ln xmlns:a="http://schemas.openxmlformats.org/drawingml/2006/main" w="9525">
            <a:solidFill>
              <a:srgbClr val="CDCEC5"/>
            </a:solidFill>
          </a:ln>
        </p:spPr>
      </p:sp>
      <p:sp>
        <p:nvSpPr>
          <p:cNvPr id="22" name="text-20">
            <a:extLst xmlns:a="http://schemas.openxmlformats.org/drawingml/2006/main">
              <a:ext uri="{FF2B5EF4-FFF2-40B4-BE49-F238E27FC236}">
                <a16:creationId xmlns:a16="http://schemas.microsoft.com/office/drawing/2014/main" id="{9518C5F6-6AF5-4F74-82E9-7CEBCD87D731}"/>
              </a:ext>
            </a:extLst>
          </p:cNvPr>
          <p:cNvSpPr>
            <a:spLocks xmlns:a="http://schemas.openxmlformats.org/drawingml/2006/main" noGrp="1"/>
          </p:cNvSpPr>
          <p:nvPr/>
        </p:nvSpPr>
        <p:spPr>
          <a:xfrm xmlns:a="http://schemas.openxmlformats.org/drawingml/2006/main">
            <a:off x="9372600" y="3800475"/>
            <a:ext cx="1657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20211F"/>
                </a:solidFill>
                <a:latin typeface="Menlo"/>
                <a:ea typeface="Menlo"/>
                <a:cs typeface="Menlo"/>
              </a:defRPr>
            </a:pPr>
            <a:r>
              <a:rPr sz="1650" b="0">
                <a:solidFill>
                  <a:srgbClr val="20211F"/>
                </a:solidFill>
                <a:latin typeface="Menlo"/>
                <a:ea typeface="Menlo"/>
                <a:cs typeface="Menlo"/>
              </a:rPr>
              <a:t>PROD</a:t>
            </a:r>
          </a:p>
        </p:txBody>
      </p:sp>
      <p:sp>
        <p:nvSpPr>
          <p:cNvPr id="23" name="text-21">
            <a:extLst xmlns:a="http://schemas.openxmlformats.org/drawingml/2006/main">
              <a:ext uri="{FF2B5EF4-FFF2-40B4-BE49-F238E27FC236}">
                <a16:creationId xmlns:a16="http://schemas.microsoft.com/office/drawing/2014/main" id="{C45396FD-B566-47A6-A852-7546F074CB6C}"/>
              </a:ext>
            </a:extLst>
          </p:cNvPr>
          <p:cNvSpPr>
            <a:spLocks xmlns:a="http://schemas.openxmlformats.org/drawingml/2006/main" noGrp="1"/>
          </p:cNvSpPr>
          <p:nvPr/>
        </p:nvSpPr>
        <p:spPr>
          <a:xfrm xmlns:a="http://schemas.openxmlformats.org/drawingml/2006/main">
            <a:off x="11058525" y="38290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676961"/>
                </a:solidFill>
                <a:latin typeface="Menlo"/>
                <a:ea typeface="Menlo"/>
                <a:cs typeface="Menlo"/>
              </a:defRPr>
            </a:pPr>
            <a:r>
              <a:rPr sz="1350" b="0">
                <a:solidFill>
                  <a:srgbClr val="676961"/>
                </a:solidFill>
                <a:latin typeface="Menlo"/>
                <a:ea typeface="Menlo"/>
                <a:cs typeface="Menlo"/>
              </a:rPr>
              <a:t>04</a:t>
            </a:r>
          </a:p>
        </p:txBody>
      </p:sp>
    </p:spTree>
    <p:extLst>
      <p:ext uri="{BB962C8B-B14F-4D97-AF65-F5344CB8AC3E}">
        <p14:creationId xmlns:p14="http://schemas.microsoft.com/office/powerpoint/2010/main" val="1066535006"/>
      </p:ext>
    </p:extLst>
  </p:cSld>
</p:sld>
</file>

<file path=ppt/slides/slide2.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6c7c672fc2543f7">
            <a:extLst>
              <a:ext uri="{96DAC541-7B7A-43D3-8B79-37D633B846F1}">
                <asvg:svgBlip xmlns:asvg="http://schemas.microsoft.com/office/drawing/2016/SVG/main" r:embed="R299bb3fdee694d1b"/>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22">
            <a:extLst xmlns:a="http://schemas.openxmlformats.org/drawingml/2006/main">
              <a:ext uri="{FF2B5EF4-FFF2-40B4-BE49-F238E27FC236}">
                <a16:creationId xmlns:a16="http://schemas.microsoft.com/office/drawing/2014/main" id="{E2BEE238-DB56-48B7-A3C9-E5C12D331085}"/>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23">
            <a:extLst xmlns:a="http://schemas.openxmlformats.org/drawingml/2006/main">
              <a:ext uri="{FF2B5EF4-FFF2-40B4-BE49-F238E27FC236}">
                <a16:creationId xmlns:a16="http://schemas.microsoft.com/office/drawing/2014/main" id="{7FA7EE82-D9CE-4B8D-9CD4-47362D215BDD}"/>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24">
            <a:extLst xmlns:a="http://schemas.openxmlformats.org/drawingml/2006/main">
              <a:ext uri="{FF2B5EF4-FFF2-40B4-BE49-F238E27FC236}">
                <a16:creationId xmlns:a16="http://schemas.microsoft.com/office/drawing/2014/main" id="{01859CDF-7715-4C32-B393-A1F3945CD633}"/>
              </a:ext>
            </a:extLst>
          </p:cNvPr>
          <p:cNvSpPr>
            <a:spLocks xmlns:a="http://schemas.openxmlformats.org/drawingml/2006/main" noGrp="1"/>
          </p:cNvSpPr>
          <p:nvPr/>
        </p:nvSpPr>
        <p:spPr>
          <a:xfrm xmlns:a="http://schemas.openxmlformats.org/drawingml/2006/main">
            <a:off x="533400" y="100012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.env works.</a:t>
            </a:r>
          </a:p>
        </p:txBody>
      </p:sp>
      <p:sp>
        <p:nvSpPr>
          <p:cNvPr id="5" name="text-25">
            <a:extLst xmlns:a="http://schemas.openxmlformats.org/drawingml/2006/main">
              <a:ext uri="{FF2B5EF4-FFF2-40B4-BE49-F238E27FC236}">
                <a16:creationId xmlns:a16="http://schemas.microsoft.com/office/drawing/2014/main" id="{19492202-9878-4C1E-A08B-C35997341B96}"/>
              </a:ext>
            </a:extLst>
          </p:cNvPr>
          <p:cNvSpPr>
            <a:spLocks xmlns:a="http://schemas.openxmlformats.org/drawingml/2006/main" noGrp="1"/>
          </p:cNvSpPr>
          <p:nvPr/>
        </p:nvSpPr>
        <p:spPr>
          <a:xfrm xmlns:a="http://schemas.openxmlformats.org/drawingml/2006/main">
            <a:off x="533400" y="166687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Until everyone needs it.</a:t>
            </a:r>
          </a:p>
        </p:txBody>
      </p:sp>
      <p:sp>
        <p:nvSpPr>
          <p:cNvPr id="6" name="shape-26">
            <a:extLst xmlns:a="http://schemas.openxmlformats.org/drawingml/2006/main">
              <a:ext uri="{FF2B5EF4-FFF2-40B4-BE49-F238E27FC236}">
                <a16:creationId xmlns:a16="http://schemas.microsoft.com/office/drawing/2014/main" id="{DA894FD4-D9D8-4D7B-8443-6A45CB0E6F82}"/>
              </a:ext>
            </a:extLst>
          </p:cNvPr>
          <p:cNvSpPr>
            <a:spLocks xmlns:a="http://schemas.openxmlformats.org/drawingml/2006/main" noGrp="1"/>
          </p:cNvSpPr>
          <p:nvPr/>
        </p:nvSpPr>
        <p:spPr>
          <a:xfrm xmlns:a="http://schemas.openxmlformats.org/drawingml/2006/main">
            <a:off x="533400" y="2886075"/>
            <a:ext cx="2124075" cy="1752600"/>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7" name="text-27">
            <a:extLst xmlns:a="http://schemas.openxmlformats.org/drawingml/2006/main">
              <a:ext uri="{FF2B5EF4-FFF2-40B4-BE49-F238E27FC236}">
                <a16:creationId xmlns:a16="http://schemas.microsoft.com/office/drawing/2014/main" id="{3BE6CD68-3E27-4BA7-9524-A654B306AEDC}"/>
              </a:ext>
            </a:extLst>
          </p:cNvPr>
          <p:cNvSpPr>
            <a:spLocks xmlns:a="http://schemas.openxmlformats.org/drawingml/2006/main" noGrp="1"/>
          </p:cNvSpPr>
          <p:nvPr/>
        </p:nvSpPr>
        <p:spPr>
          <a:xfrm xmlns:a="http://schemas.openxmlformats.org/drawingml/2006/main">
            <a:off x="742950" y="3048000"/>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FAFAF6"/>
                </a:solidFill>
                <a:latin typeface="Menlo"/>
                <a:ea typeface="Menlo"/>
                <a:cs typeface="Menlo"/>
              </a:defRPr>
            </a:pPr>
            <a:r>
              <a:rPr sz="3150" b="1">
                <a:solidFill>
                  <a:srgbClr val="FAFAF6"/>
                </a:solidFill>
                <a:latin typeface="Menlo"/>
                <a:ea typeface="Menlo"/>
                <a:cs typeface="Menlo"/>
              </a:rPr>
              <a:t>.env</a:t>
            </a:r>
          </a:p>
        </p:txBody>
      </p:sp>
      <p:sp>
        <p:nvSpPr>
          <p:cNvPr id="8" name="text-28">
            <a:extLst xmlns:a="http://schemas.openxmlformats.org/drawingml/2006/main">
              <a:ext uri="{FF2B5EF4-FFF2-40B4-BE49-F238E27FC236}">
                <a16:creationId xmlns:a16="http://schemas.microsoft.com/office/drawing/2014/main" id="{2A5EF59B-219D-4EBA-A017-C142B4FA36B0}"/>
              </a:ext>
            </a:extLst>
          </p:cNvPr>
          <p:cNvSpPr>
            <a:spLocks xmlns:a="http://schemas.openxmlformats.org/drawingml/2006/main" noGrp="1"/>
          </p:cNvSpPr>
          <p:nvPr/>
        </p:nvSpPr>
        <p:spPr>
          <a:xfrm xmlns:a="http://schemas.openxmlformats.org/drawingml/2006/main">
            <a:off x="742950" y="3714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DATABASE_URL</a:t>
            </a:r>
          </a:p>
        </p:txBody>
      </p:sp>
      <p:sp>
        <p:nvSpPr>
          <p:cNvPr id="9" name="text-29">
            <a:extLst xmlns:a="http://schemas.openxmlformats.org/drawingml/2006/main">
              <a:ext uri="{FF2B5EF4-FFF2-40B4-BE49-F238E27FC236}">
                <a16:creationId xmlns:a16="http://schemas.microsoft.com/office/drawing/2014/main" id="{6894BCAA-5101-431A-AF4A-1DC4B0BD9858}"/>
              </a:ext>
            </a:extLst>
          </p:cNvPr>
          <p:cNvSpPr>
            <a:spLocks xmlns:a="http://schemas.openxmlformats.org/drawingml/2006/main" noGrp="1"/>
          </p:cNvSpPr>
          <p:nvPr/>
        </p:nvSpPr>
        <p:spPr>
          <a:xfrm xmlns:a="http://schemas.openxmlformats.org/drawingml/2006/main">
            <a:off x="742950" y="39814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REDIS_URL</a:t>
            </a:r>
          </a:p>
        </p:txBody>
      </p:sp>
      <p:sp>
        <p:nvSpPr>
          <p:cNvPr id="10" name="text-30">
            <a:extLst xmlns:a="http://schemas.openxmlformats.org/drawingml/2006/main">
              <a:ext uri="{FF2B5EF4-FFF2-40B4-BE49-F238E27FC236}">
                <a16:creationId xmlns:a16="http://schemas.microsoft.com/office/drawing/2014/main" id="{16740802-6694-4169-88D6-23FB16778D19}"/>
              </a:ext>
            </a:extLst>
          </p:cNvPr>
          <p:cNvSpPr>
            <a:spLocks xmlns:a="http://schemas.openxmlformats.org/drawingml/2006/main" noGrp="1"/>
          </p:cNvSpPr>
          <p:nvPr/>
        </p:nvSpPr>
        <p:spPr>
          <a:xfrm xmlns:a="http://schemas.openxmlformats.org/drawingml/2006/main">
            <a:off x="742950" y="42481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B1B5AC"/>
                </a:solidFill>
                <a:latin typeface="Menlo"/>
                <a:ea typeface="Menlo"/>
                <a:cs typeface="Menlo"/>
              </a:defRPr>
            </a:pPr>
            <a:r>
              <a:rPr sz="1425" b="0">
                <a:solidFill>
                  <a:srgbClr val="B1B5AC"/>
                </a:solidFill>
                <a:latin typeface="Menlo"/>
                <a:ea typeface="Menlo"/>
                <a:cs typeface="Menlo"/>
              </a:rPr>
              <a:t>JWT_SECRET</a:t>
            </a:r>
          </a:p>
        </p:txBody>
      </p:sp>
      <p:sp>
        <p:nvSpPr>
          <p:cNvPr id="11" name="shape-31">
            <a:extLst xmlns:a="http://schemas.openxmlformats.org/drawingml/2006/main">
              <a:ext uri="{FF2B5EF4-FFF2-40B4-BE49-F238E27FC236}">
                <a16:creationId xmlns:a16="http://schemas.microsoft.com/office/drawing/2014/main" id="{B4E2803F-5523-4124-9AE9-FC5EF578314A}"/>
              </a:ext>
            </a:extLst>
          </p:cNvPr>
          <p:cNvSpPr>
            <a:spLocks xmlns:a="http://schemas.openxmlformats.org/drawingml/2006/main" noGrp="1"/>
          </p:cNvSpPr>
          <p:nvPr/>
        </p:nvSpPr>
        <p:spPr>
          <a:xfrm xmlns:a="http://schemas.openxmlformats.org/drawingml/2006/main">
            <a:off x="2952750" y="3695700"/>
            <a:ext cx="647700" cy="19050"/>
          </a:xfrm>
          <a:prstGeom xmlns:a="http://schemas.openxmlformats.org/drawingml/2006/main" prst="rect">
            <a:avLst/>
          </a:prstGeom>
          <a:solidFill xmlns:a="http://schemas.openxmlformats.org/drawingml/2006/main">
            <a:srgbClr val="676961"/>
          </a:solidFill>
          <a:ln xmlns:a="http://schemas.openxmlformats.org/drawingml/2006/main" w="0">
            <a:noFill/>
          </a:ln>
        </p:spPr>
      </p:sp>
      <p:sp>
        <p:nvSpPr>
          <p:cNvPr id="12" name="shape-32">
            <a:extLst xmlns:a="http://schemas.openxmlformats.org/drawingml/2006/main">
              <a:ext uri="{FF2B5EF4-FFF2-40B4-BE49-F238E27FC236}">
                <a16:creationId xmlns:a16="http://schemas.microsoft.com/office/drawing/2014/main" id="{30A5EDE4-E0AD-460D-BB38-2A4DE72C9048}"/>
              </a:ext>
            </a:extLst>
          </p:cNvPr>
          <p:cNvSpPr>
            <a:spLocks xmlns:a="http://schemas.openxmlformats.org/drawingml/2006/main" noGrp="1"/>
          </p:cNvSpPr>
          <p:nvPr/>
        </p:nvSpPr>
        <p:spPr>
          <a:xfrm xmlns:a="http://schemas.openxmlformats.org/drawingml/2006/main">
            <a:off x="3590925" y="2990850"/>
            <a:ext cx="19050" cy="1943100"/>
          </a:xfrm>
          <a:prstGeom xmlns:a="http://schemas.openxmlformats.org/drawingml/2006/main" prst="rect">
            <a:avLst/>
          </a:prstGeom>
          <a:solidFill xmlns:a="http://schemas.openxmlformats.org/drawingml/2006/main">
            <a:srgbClr val="676961"/>
          </a:solidFill>
          <a:ln xmlns:a="http://schemas.openxmlformats.org/drawingml/2006/main" w="0">
            <a:noFill/>
          </a:ln>
        </p:spPr>
      </p:sp>
      <p:sp>
        <p:nvSpPr>
          <p:cNvPr id="13" name="shape-33">
            <a:extLst xmlns:a="http://schemas.openxmlformats.org/drawingml/2006/main">
              <a:ext uri="{FF2B5EF4-FFF2-40B4-BE49-F238E27FC236}">
                <a16:creationId xmlns:a16="http://schemas.microsoft.com/office/drawing/2014/main" id="{5791ACE9-A5D9-4999-A76F-AAFB26FE7357}"/>
              </a:ext>
            </a:extLst>
          </p:cNvPr>
          <p:cNvSpPr>
            <a:spLocks xmlns:a="http://schemas.openxmlformats.org/drawingml/2006/main" noGrp="1"/>
          </p:cNvSpPr>
          <p:nvPr/>
        </p:nvSpPr>
        <p:spPr>
          <a:xfrm xmlns:a="http://schemas.openxmlformats.org/drawingml/2006/main">
            <a:off x="4019550" y="28289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4" name="text-34">
            <a:extLst xmlns:a="http://schemas.openxmlformats.org/drawingml/2006/main">
              <a:ext uri="{FF2B5EF4-FFF2-40B4-BE49-F238E27FC236}">
                <a16:creationId xmlns:a16="http://schemas.microsoft.com/office/drawing/2014/main" id="{DD313339-53BC-40EF-A80F-F7EAC31EAA9F}"/>
              </a:ext>
            </a:extLst>
          </p:cNvPr>
          <p:cNvSpPr>
            <a:spLocks xmlns:a="http://schemas.openxmlformats.org/drawingml/2006/main" noGrp="1"/>
          </p:cNvSpPr>
          <p:nvPr/>
        </p:nvSpPr>
        <p:spPr>
          <a:xfrm xmlns:a="http://schemas.openxmlformats.org/drawingml/2006/main">
            <a:off x="4191000" y="29908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DEVELOPER</a:t>
            </a:r>
          </a:p>
        </p:txBody>
      </p:sp>
      <p:sp>
        <p:nvSpPr>
          <p:cNvPr id="15" name="text-35">
            <a:extLst xmlns:a="http://schemas.openxmlformats.org/drawingml/2006/main">
              <a:ext uri="{FF2B5EF4-FFF2-40B4-BE49-F238E27FC236}">
                <a16:creationId xmlns:a16="http://schemas.microsoft.com/office/drawing/2014/main" id="{7F1AE572-1B7B-4B81-9CBF-BECA5A7B912D}"/>
              </a:ext>
            </a:extLst>
          </p:cNvPr>
          <p:cNvSpPr>
            <a:spLocks xmlns:a="http://schemas.openxmlformats.org/drawingml/2006/main" noGrp="1"/>
          </p:cNvSpPr>
          <p:nvPr/>
        </p:nvSpPr>
        <p:spPr>
          <a:xfrm xmlns:a="http://schemas.openxmlformats.org/drawingml/2006/main">
            <a:off x="4191000" y="33718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.env.local</a:t>
            </a:r>
          </a:p>
        </p:txBody>
      </p:sp>
      <p:sp>
        <p:nvSpPr>
          <p:cNvPr id="16" name="shape-36">
            <a:extLst xmlns:a="http://schemas.openxmlformats.org/drawingml/2006/main">
              <a:ext uri="{FF2B5EF4-FFF2-40B4-BE49-F238E27FC236}">
                <a16:creationId xmlns:a16="http://schemas.microsoft.com/office/drawing/2014/main" id="{96F168EE-F857-4113-9DD0-928E40A8952B}"/>
              </a:ext>
            </a:extLst>
          </p:cNvPr>
          <p:cNvSpPr>
            <a:spLocks xmlns:a="http://schemas.openxmlformats.org/drawingml/2006/main" noGrp="1"/>
          </p:cNvSpPr>
          <p:nvPr/>
        </p:nvSpPr>
        <p:spPr>
          <a:xfrm xmlns:a="http://schemas.openxmlformats.org/drawingml/2006/main">
            <a:off x="7829550" y="28289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7" name="text-37">
            <a:extLst xmlns:a="http://schemas.openxmlformats.org/drawingml/2006/main">
              <a:ext uri="{FF2B5EF4-FFF2-40B4-BE49-F238E27FC236}">
                <a16:creationId xmlns:a16="http://schemas.microsoft.com/office/drawing/2014/main" id="{E1FA4AE0-FD32-4911-B58D-7651799B083D}"/>
              </a:ext>
            </a:extLst>
          </p:cNvPr>
          <p:cNvSpPr>
            <a:spLocks xmlns:a="http://schemas.openxmlformats.org/drawingml/2006/main" noGrp="1"/>
          </p:cNvSpPr>
          <p:nvPr/>
        </p:nvSpPr>
        <p:spPr>
          <a:xfrm xmlns:a="http://schemas.openxmlformats.org/drawingml/2006/main">
            <a:off x="8001000" y="29908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SERVER</a:t>
            </a:r>
          </a:p>
        </p:txBody>
      </p:sp>
      <p:sp>
        <p:nvSpPr>
          <p:cNvPr id="18" name="text-38">
            <a:extLst xmlns:a="http://schemas.openxmlformats.org/drawingml/2006/main">
              <a:ext uri="{FF2B5EF4-FFF2-40B4-BE49-F238E27FC236}">
                <a16:creationId xmlns:a16="http://schemas.microsoft.com/office/drawing/2014/main" id="{665491F7-7425-468D-8CC7-05BC5BF35A9C}"/>
              </a:ext>
            </a:extLst>
          </p:cNvPr>
          <p:cNvSpPr>
            <a:spLocks xmlns:a="http://schemas.openxmlformats.org/drawingml/2006/main" noGrp="1"/>
          </p:cNvSpPr>
          <p:nvPr/>
        </p:nvSpPr>
        <p:spPr>
          <a:xfrm xmlns:a="http://schemas.openxmlformats.org/drawingml/2006/main">
            <a:off x="8001000" y="33718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.env.production</a:t>
            </a:r>
          </a:p>
        </p:txBody>
      </p:sp>
      <p:sp>
        <p:nvSpPr>
          <p:cNvPr id="19" name="shape-39">
            <a:extLst xmlns:a="http://schemas.openxmlformats.org/drawingml/2006/main">
              <a:ext uri="{FF2B5EF4-FFF2-40B4-BE49-F238E27FC236}">
                <a16:creationId xmlns:a16="http://schemas.microsoft.com/office/drawing/2014/main" id="{43A4AAA1-BB0C-4364-9A87-984312D0598B}"/>
              </a:ext>
            </a:extLst>
          </p:cNvPr>
          <p:cNvSpPr>
            <a:spLocks xmlns:a="http://schemas.openxmlformats.org/drawingml/2006/main" noGrp="1"/>
          </p:cNvSpPr>
          <p:nvPr/>
        </p:nvSpPr>
        <p:spPr>
          <a:xfrm xmlns:a="http://schemas.openxmlformats.org/drawingml/2006/main">
            <a:off x="4019550" y="42386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0" name="text-40">
            <a:extLst xmlns:a="http://schemas.openxmlformats.org/drawingml/2006/main">
              <a:ext uri="{FF2B5EF4-FFF2-40B4-BE49-F238E27FC236}">
                <a16:creationId xmlns:a16="http://schemas.microsoft.com/office/drawing/2014/main" id="{A6222420-D305-4CE5-8410-BDE5F396A697}"/>
              </a:ext>
            </a:extLst>
          </p:cNvPr>
          <p:cNvSpPr>
            <a:spLocks xmlns:a="http://schemas.openxmlformats.org/drawingml/2006/main" noGrp="1"/>
          </p:cNvSpPr>
          <p:nvPr/>
        </p:nvSpPr>
        <p:spPr>
          <a:xfrm xmlns:a="http://schemas.openxmlformats.org/drawingml/2006/main">
            <a:off x="4191000" y="44005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CI / APP</a:t>
            </a:r>
          </a:p>
        </p:txBody>
      </p:sp>
      <p:sp>
        <p:nvSpPr>
          <p:cNvPr id="21" name="text-41">
            <a:extLst xmlns:a="http://schemas.openxmlformats.org/drawingml/2006/main">
              <a:ext uri="{FF2B5EF4-FFF2-40B4-BE49-F238E27FC236}">
                <a16:creationId xmlns:a16="http://schemas.microsoft.com/office/drawing/2014/main" id="{E7A90706-FF43-42C6-AF94-8E248D5539D3}"/>
              </a:ext>
            </a:extLst>
          </p:cNvPr>
          <p:cNvSpPr>
            <a:spLocks xmlns:a="http://schemas.openxmlformats.org/drawingml/2006/main" noGrp="1"/>
          </p:cNvSpPr>
          <p:nvPr/>
        </p:nvSpPr>
        <p:spPr>
          <a:xfrm xmlns:a="http://schemas.openxmlformats.org/drawingml/2006/main">
            <a:off x="4191000" y="47815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.env.backup</a:t>
            </a:r>
          </a:p>
        </p:txBody>
      </p:sp>
      <p:sp>
        <p:nvSpPr>
          <p:cNvPr id="22" name="shape-42">
            <a:extLst xmlns:a="http://schemas.openxmlformats.org/drawingml/2006/main">
              <a:ext uri="{FF2B5EF4-FFF2-40B4-BE49-F238E27FC236}">
                <a16:creationId xmlns:a16="http://schemas.microsoft.com/office/drawing/2014/main" id="{998210AD-B97A-4A76-B126-706337CF61E3}"/>
              </a:ext>
            </a:extLst>
          </p:cNvPr>
          <p:cNvSpPr>
            <a:spLocks xmlns:a="http://schemas.openxmlformats.org/drawingml/2006/main" noGrp="1"/>
          </p:cNvSpPr>
          <p:nvPr/>
        </p:nvSpPr>
        <p:spPr>
          <a:xfrm xmlns:a="http://schemas.openxmlformats.org/drawingml/2006/main">
            <a:off x="7829550" y="4238625"/>
            <a:ext cx="3400425" cy="10287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3" name="text-43">
            <a:extLst xmlns:a="http://schemas.openxmlformats.org/drawingml/2006/main">
              <a:ext uri="{FF2B5EF4-FFF2-40B4-BE49-F238E27FC236}">
                <a16:creationId xmlns:a16="http://schemas.microsoft.com/office/drawing/2014/main" id="{8FF2AB46-2CF9-43F4-8DD8-C41FB6786F4F}"/>
              </a:ext>
            </a:extLst>
          </p:cNvPr>
          <p:cNvSpPr>
            <a:spLocks xmlns:a="http://schemas.openxmlformats.org/drawingml/2006/main" noGrp="1"/>
          </p:cNvSpPr>
          <p:nvPr/>
        </p:nvSpPr>
        <p:spPr>
          <a:xfrm xmlns:a="http://schemas.openxmlformats.org/drawingml/2006/main">
            <a:off x="8001000" y="4400550"/>
            <a:ext cx="3057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AI AGENT</a:t>
            </a:r>
          </a:p>
        </p:txBody>
      </p:sp>
      <p:sp>
        <p:nvSpPr>
          <p:cNvPr id="24" name="text-44">
            <a:extLst xmlns:a="http://schemas.openxmlformats.org/drawingml/2006/main">
              <a:ext uri="{FF2B5EF4-FFF2-40B4-BE49-F238E27FC236}">
                <a16:creationId xmlns:a16="http://schemas.microsoft.com/office/drawing/2014/main" id="{24CC086D-9109-4E65-9BF8-F88FFD97F24F}"/>
              </a:ext>
            </a:extLst>
          </p:cNvPr>
          <p:cNvSpPr>
            <a:spLocks xmlns:a="http://schemas.openxmlformats.org/drawingml/2006/main" noGrp="1"/>
          </p:cNvSpPr>
          <p:nvPr/>
        </p:nvSpPr>
        <p:spPr>
          <a:xfrm xmlns:a="http://schemas.openxmlformats.org/drawingml/2006/main">
            <a:off x="8001000" y="4781550"/>
            <a:ext cx="3057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copied context</a:t>
            </a:r>
          </a:p>
        </p:txBody>
      </p:sp>
      <p:sp>
        <p:nvSpPr>
          <p:cNvPr id="25" name="text-45">
            <a:extLst xmlns:a="http://schemas.openxmlformats.org/drawingml/2006/main">
              <a:ext uri="{FF2B5EF4-FFF2-40B4-BE49-F238E27FC236}">
                <a16:creationId xmlns:a16="http://schemas.microsoft.com/office/drawing/2014/main" id="{24D06FE7-26D2-41D5-A700-E7E4633DF768}"/>
              </a:ext>
            </a:extLst>
          </p:cNvPr>
          <p:cNvSpPr>
            <a:spLocks xmlns:a="http://schemas.openxmlformats.org/drawingml/2006/main" noGrp="1"/>
          </p:cNvSpPr>
          <p:nvPr/>
        </p:nvSpPr>
        <p:spPr>
          <a:xfrm xmlns:a="http://schemas.openxmlformats.org/drawingml/2006/main">
            <a:off x="533400" y="5581650"/>
            <a:ext cx="11144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6D5EF4"/>
                </a:solidFill>
                <a:latin typeface="Arial"/>
                <a:ea typeface="Arial"/>
                <a:cs typeface="Arial"/>
              </a:defRPr>
            </a:pPr>
            <a:r>
              <a:rPr sz="2175" b="1">
                <a:solidFill>
                  <a:srgbClr val="6D5EF4"/>
                </a:solidFill>
                <a:latin typeface="Arial"/>
                <a:ea typeface="Arial"/>
                <a:cs typeface="Arial"/>
              </a:rPr>
              <a:t>Scattered.  Inconsistent.  Overexposed.  Hard to revoke.</a:t>
            </a:r>
          </a:p>
        </p:txBody>
      </p:sp>
    </p:spTree>
    <p:extLst>
      <p:ext uri="{BB962C8B-B14F-4D97-AF65-F5344CB8AC3E}">
        <p14:creationId xmlns:p14="http://schemas.microsoft.com/office/powerpoint/2010/main" val="989475445"/>
      </p:ext>
    </p:extLst>
  </p:cSld>
</p:sld>
</file>

<file path=ppt/slides/slide3.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ef9c1045fe44a2a">
            <a:extLst>
              <a:ext uri="{96DAC541-7B7A-43D3-8B79-37D633B846F1}">
                <asvg:svgBlip xmlns:asvg="http://schemas.microsoft.com/office/drawing/2016/SVG/main" r:embed="R60b37592a5aa410b"/>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46">
            <a:extLst xmlns:a="http://schemas.openxmlformats.org/drawingml/2006/main">
              <a:ext uri="{FF2B5EF4-FFF2-40B4-BE49-F238E27FC236}">
                <a16:creationId xmlns:a16="http://schemas.microsoft.com/office/drawing/2014/main" id="{77D99894-F03B-47D7-8777-FBCA4BD60841}"/>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47">
            <a:extLst xmlns:a="http://schemas.openxmlformats.org/drawingml/2006/main">
              <a:ext uri="{FF2B5EF4-FFF2-40B4-BE49-F238E27FC236}">
                <a16:creationId xmlns:a16="http://schemas.microsoft.com/office/drawing/2014/main" id="{AAE99AC7-19AF-479C-ACBC-798F16169E80}"/>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48">
            <a:extLst xmlns:a="http://schemas.openxmlformats.org/drawingml/2006/main">
              <a:ext uri="{FF2B5EF4-FFF2-40B4-BE49-F238E27FC236}">
                <a16:creationId xmlns:a16="http://schemas.microsoft.com/office/drawing/2014/main" id="{D3547813-D807-48FF-9F6A-67966029A52D}"/>
              </a:ext>
            </a:extLst>
          </p:cNvPr>
          <p:cNvSpPr>
            <a:spLocks xmlns:a="http://schemas.openxmlformats.org/drawingml/2006/main" noGrp="1"/>
          </p:cNvSpPr>
          <p:nvPr/>
        </p:nvSpPr>
        <p:spPr>
          <a:xfrm xmlns:a="http://schemas.openxmlformats.org/drawingml/2006/main">
            <a:off x="533400" y="94297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One place.</a:t>
            </a:r>
          </a:p>
        </p:txBody>
      </p:sp>
      <p:sp>
        <p:nvSpPr>
          <p:cNvPr id="5" name="text-49">
            <a:extLst xmlns:a="http://schemas.openxmlformats.org/drawingml/2006/main">
              <a:ext uri="{FF2B5EF4-FFF2-40B4-BE49-F238E27FC236}">
                <a16:creationId xmlns:a16="http://schemas.microsoft.com/office/drawing/2014/main" id="{06A964FF-1F6D-4EC7-86A5-31017548FEDE}"/>
              </a:ext>
            </a:extLst>
          </p:cNvPr>
          <p:cNvSpPr>
            <a:spLocks xmlns:a="http://schemas.openxmlformats.org/drawingml/2006/main" noGrp="1"/>
          </p:cNvSpPr>
          <p:nvPr/>
        </p:nvSpPr>
        <p:spPr>
          <a:xfrm xmlns:a="http://schemas.openxmlformats.org/drawingml/2006/main">
            <a:off x="533400" y="1609725"/>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Every environment.</a:t>
            </a:r>
          </a:p>
        </p:txBody>
      </p:sp>
      <p:sp>
        <p:nvSpPr>
          <p:cNvPr id="6" name="text-50">
            <a:extLst xmlns:a="http://schemas.openxmlformats.org/drawingml/2006/main">
              <a:ext uri="{FF2B5EF4-FFF2-40B4-BE49-F238E27FC236}">
                <a16:creationId xmlns:a16="http://schemas.microsoft.com/office/drawing/2014/main" id="{107B8041-941F-4D3E-A349-A1E88FB94D19}"/>
              </a:ext>
            </a:extLst>
          </p:cNvPr>
          <p:cNvSpPr>
            <a:spLocks xmlns:a="http://schemas.openxmlformats.org/drawingml/2006/main" noGrp="1"/>
          </p:cNvSpPr>
          <p:nvPr/>
        </p:nvSpPr>
        <p:spPr>
          <a:xfrm xmlns:a="http://schemas.openxmlformats.org/drawingml/2006/main">
            <a:off x="542925" y="2686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PROJECT / PAYMENTS</a:t>
            </a:r>
          </a:p>
        </p:txBody>
      </p:sp>
      <p:sp>
        <p:nvSpPr>
          <p:cNvPr id="7" name="shape-51">
            <a:extLst xmlns:a="http://schemas.openxmlformats.org/drawingml/2006/main">
              <a:ext uri="{FF2B5EF4-FFF2-40B4-BE49-F238E27FC236}">
                <a16:creationId xmlns:a16="http://schemas.microsoft.com/office/drawing/2014/main" id="{08FB6A6C-0CCF-445C-A79F-B634D3E978AF}"/>
              </a:ext>
            </a:extLst>
          </p:cNvPr>
          <p:cNvSpPr>
            <a:spLocks xmlns:a="http://schemas.openxmlformats.org/drawingml/2006/main" noGrp="1"/>
          </p:cNvSpPr>
          <p:nvPr/>
        </p:nvSpPr>
        <p:spPr>
          <a:xfrm xmlns:a="http://schemas.openxmlformats.org/drawingml/2006/main">
            <a:off x="533400" y="301942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8" name="text-52">
            <a:extLst xmlns:a="http://schemas.openxmlformats.org/drawingml/2006/main">
              <a:ext uri="{FF2B5EF4-FFF2-40B4-BE49-F238E27FC236}">
                <a16:creationId xmlns:a16="http://schemas.microsoft.com/office/drawing/2014/main" id="{9769E6F8-D880-4F93-8845-2AD25BDAB5B3}"/>
              </a:ext>
            </a:extLst>
          </p:cNvPr>
          <p:cNvSpPr>
            <a:spLocks xmlns:a="http://schemas.openxmlformats.org/drawingml/2006/main" noGrp="1"/>
          </p:cNvSpPr>
          <p:nvPr/>
        </p:nvSpPr>
        <p:spPr>
          <a:xfrm xmlns:a="http://schemas.openxmlformats.org/drawingml/2006/main">
            <a:off x="53340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a:t>
            </a:r>
          </a:p>
        </p:txBody>
      </p:sp>
      <p:sp>
        <p:nvSpPr>
          <p:cNvPr id="9" name="text-53">
            <a:extLst xmlns:a="http://schemas.openxmlformats.org/drawingml/2006/main">
              <a:ext uri="{FF2B5EF4-FFF2-40B4-BE49-F238E27FC236}">
                <a16:creationId xmlns:a16="http://schemas.microsoft.com/office/drawing/2014/main" id="{766AB8C8-FB68-4CD6-A879-1E22976ACED0}"/>
              </a:ext>
            </a:extLst>
          </p:cNvPr>
          <p:cNvSpPr>
            <a:spLocks xmlns:a="http://schemas.openxmlformats.org/drawingml/2006/main" noGrp="1"/>
          </p:cNvSpPr>
          <p:nvPr/>
        </p:nvSpPr>
        <p:spPr>
          <a:xfrm xmlns:a="http://schemas.openxmlformats.org/drawingml/2006/main">
            <a:off x="53340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DEV</a:t>
            </a:r>
          </a:p>
        </p:txBody>
      </p:sp>
      <p:sp>
        <p:nvSpPr>
          <p:cNvPr id="10" name="text-54">
            <a:extLst xmlns:a="http://schemas.openxmlformats.org/drawingml/2006/main">
              <a:ext uri="{FF2B5EF4-FFF2-40B4-BE49-F238E27FC236}">
                <a16:creationId xmlns:a16="http://schemas.microsoft.com/office/drawing/2014/main" id="{0DBEF01B-746F-4EDA-BBE7-3D596E901C65}"/>
              </a:ext>
            </a:extLst>
          </p:cNvPr>
          <p:cNvSpPr>
            <a:spLocks xmlns:a="http://schemas.openxmlformats.org/drawingml/2006/main" noGrp="1"/>
          </p:cNvSpPr>
          <p:nvPr/>
        </p:nvSpPr>
        <p:spPr>
          <a:xfrm xmlns:a="http://schemas.openxmlformats.org/drawingml/2006/main">
            <a:off x="53340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11" name="text-55">
            <a:extLst xmlns:a="http://schemas.openxmlformats.org/drawingml/2006/main">
              <a:ext uri="{FF2B5EF4-FFF2-40B4-BE49-F238E27FC236}">
                <a16:creationId xmlns:a16="http://schemas.microsoft.com/office/drawing/2014/main" id="{54305316-C6D3-4D75-AEAB-4F694F54AAC5}"/>
              </a:ext>
            </a:extLst>
          </p:cNvPr>
          <p:cNvSpPr>
            <a:spLocks xmlns:a="http://schemas.openxmlformats.org/drawingml/2006/main" noGrp="1"/>
          </p:cNvSpPr>
          <p:nvPr/>
        </p:nvSpPr>
        <p:spPr>
          <a:xfrm xmlns:a="http://schemas.openxmlformats.org/drawingml/2006/main">
            <a:off x="53340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12" name="text-56">
            <a:extLst xmlns:a="http://schemas.openxmlformats.org/drawingml/2006/main">
              <a:ext uri="{FF2B5EF4-FFF2-40B4-BE49-F238E27FC236}">
                <a16:creationId xmlns:a16="http://schemas.microsoft.com/office/drawing/2014/main" id="{DA4C418F-0366-40C2-BF0A-D4FFBF103BF7}"/>
              </a:ext>
            </a:extLst>
          </p:cNvPr>
          <p:cNvSpPr>
            <a:spLocks xmlns:a="http://schemas.openxmlformats.org/drawingml/2006/main" noGrp="1"/>
          </p:cNvSpPr>
          <p:nvPr/>
        </p:nvSpPr>
        <p:spPr>
          <a:xfrm xmlns:a="http://schemas.openxmlformats.org/drawingml/2006/main">
            <a:off x="53340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13" name="shape-57">
            <a:extLst xmlns:a="http://schemas.openxmlformats.org/drawingml/2006/main">
              <a:ext uri="{FF2B5EF4-FFF2-40B4-BE49-F238E27FC236}">
                <a16:creationId xmlns:a16="http://schemas.microsoft.com/office/drawing/2014/main" id="{9CE64CE5-00BE-4257-ADDC-A808D8EFC8A5}"/>
              </a:ext>
            </a:extLst>
          </p:cNvPr>
          <p:cNvSpPr>
            <a:spLocks xmlns:a="http://schemas.openxmlformats.org/drawingml/2006/main" noGrp="1"/>
          </p:cNvSpPr>
          <p:nvPr/>
        </p:nvSpPr>
        <p:spPr>
          <a:xfrm xmlns:a="http://schemas.openxmlformats.org/drawingml/2006/main">
            <a:off x="316230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4" name="text-58">
            <a:extLst xmlns:a="http://schemas.openxmlformats.org/drawingml/2006/main">
              <a:ext uri="{FF2B5EF4-FFF2-40B4-BE49-F238E27FC236}">
                <a16:creationId xmlns:a16="http://schemas.microsoft.com/office/drawing/2014/main" id="{666DFEF8-0975-4E4F-8383-EB108283FC67}"/>
              </a:ext>
            </a:extLst>
          </p:cNvPr>
          <p:cNvSpPr>
            <a:spLocks xmlns:a="http://schemas.openxmlformats.org/drawingml/2006/main" noGrp="1"/>
          </p:cNvSpPr>
          <p:nvPr/>
        </p:nvSpPr>
        <p:spPr>
          <a:xfrm xmlns:a="http://schemas.openxmlformats.org/drawingml/2006/main">
            <a:off x="337185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a:t>
            </a:r>
          </a:p>
        </p:txBody>
      </p:sp>
      <p:sp>
        <p:nvSpPr>
          <p:cNvPr id="15" name="text-59">
            <a:extLst xmlns:a="http://schemas.openxmlformats.org/drawingml/2006/main">
              <a:ext uri="{FF2B5EF4-FFF2-40B4-BE49-F238E27FC236}">
                <a16:creationId xmlns:a16="http://schemas.microsoft.com/office/drawing/2014/main" id="{651D45A7-DE54-4F1A-834B-6A8FDC67F247}"/>
              </a:ext>
            </a:extLst>
          </p:cNvPr>
          <p:cNvSpPr>
            <a:spLocks xmlns:a="http://schemas.openxmlformats.org/drawingml/2006/main" noGrp="1"/>
          </p:cNvSpPr>
          <p:nvPr/>
        </p:nvSpPr>
        <p:spPr>
          <a:xfrm xmlns:a="http://schemas.openxmlformats.org/drawingml/2006/main">
            <a:off x="337185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TEST</a:t>
            </a:r>
          </a:p>
        </p:txBody>
      </p:sp>
      <p:sp>
        <p:nvSpPr>
          <p:cNvPr id="16" name="text-60">
            <a:extLst xmlns:a="http://schemas.openxmlformats.org/drawingml/2006/main">
              <a:ext uri="{FF2B5EF4-FFF2-40B4-BE49-F238E27FC236}">
                <a16:creationId xmlns:a16="http://schemas.microsoft.com/office/drawing/2014/main" id="{72FA5264-B2EA-4882-86F9-5F9BC3382B36}"/>
              </a:ext>
            </a:extLst>
          </p:cNvPr>
          <p:cNvSpPr>
            <a:spLocks xmlns:a="http://schemas.openxmlformats.org/drawingml/2006/main" noGrp="1"/>
          </p:cNvSpPr>
          <p:nvPr/>
        </p:nvSpPr>
        <p:spPr>
          <a:xfrm xmlns:a="http://schemas.openxmlformats.org/drawingml/2006/main">
            <a:off x="337185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17" name="text-61">
            <a:extLst xmlns:a="http://schemas.openxmlformats.org/drawingml/2006/main">
              <a:ext uri="{FF2B5EF4-FFF2-40B4-BE49-F238E27FC236}">
                <a16:creationId xmlns:a16="http://schemas.microsoft.com/office/drawing/2014/main" id="{565416C4-12E3-4683-823C-251922236666}"/>
              </a:ext>
            </a:extLst>
          </p:cNvPr>
          <p:cNvSpPr>
            <a:spLocks xmlns:a="http://schemas.openxmlformats.org/drawingml/2006/main" noGrp="1"/>
          </p:cNvSpPr>
          <p:nvPr/>
        </p:nvSpPr>
        <p:spPr>
          <a:xfrm xmlns:a="http://schemas.openxmlformats.org/drawingml/2006/main">
            <a:off x="337185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18" name="text-62">
            <a:extLst xmlns:a="http://schemas.openxmlformats.org/drawingml/2006/main">
              <a:ext uri="{FF2B5EF4-FFF2-40B4-BE49-F238E27FC236}">
                <a16:creationId xmlns:a16="http://schemas.microsoft.com/office/drawing/2014/main" id="{894CD8FC-DC27-4549-B062-82EF22AF8AD7}"/>
              </a:ext>
            </a:extLst>
          </p:cNvPr>
          <p:cNvSpPr>
            <a:spLocks xmlns:a="http://schemas.openxmlformats.org/drawingml/2006/main" noGrp="1"/>
          </p:cNvSpPr>
          <p:nvPr/>
        </p:nvSpPr>
        <p:spPr>
          <a:xfrm xmlns:a="http://schemas.openxmlformats.org/drawingml/2006/main">
            <a:off x="337185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19" name="shape-63">
            <a:extLst xmlns:a="http://schemas.openxmlformats.org/drawingml/2006/main">
              <a:ext uri="{FF2B5EF4-FFF2-40B4-BE49-F238E27FC236}">
                <a16:creationId xmlns:a16="http://schemas.microsoft.com/office/drawing/2014/main" id="{B434AE12-E6DB-4CA8-AD11-3E7E62A41DC9}"/>
              </a:ext>
            </a:extLst>
          </p:cNvPr>
          <p:cNvSpPr>
            <a:spLocks xmlns:a="http://schemas.openxmlformats.org/drawingml/2006/main" noGrp="1"/>
          </p:cNvSpPr>
          <p:nvPr/>
        </p:nvSpPr>
        <p:spPr>
          <a:xfrm xmlns:a="http://schemas.openxmlformats.org/drawingml/2006/main">
            <a:off x="600075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0" name="text-64">
            <a:extLst xmlns:a="http://schemas.openxmlformats.org/drawingml/2006/main">
              <a:ext uri="{FF2B5EF4-FFF2-40B4-BE49-F238E27FC236}">
                <a16:creationId xmlns:a16="http://schemas.microsoft.com/office/drawing/2014/main" id="{A6DD65A5-578E-47B7-A188-0F0E7E54DE00}"/>
              </a:ext>
            </a:extLst>
          </p:cNvPr>
          <p:cNvSpPr>
            <a:spLocks xmlns:a="http://schemas.openxmlformats.org/drawingml/2006/main" noGrp="1"/>
          </p:cNvSpPr>
          <p:nvPr/>
        </p:nvSpPr>
        <p:spPr>
          <a:xfrm xmlns:a="http://schemas.openxmlformats.org/drawingml/2006/main">
            <a:off x="621030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a:t>
            </a:r>
          </a:p>
        </p:txBody>
      </p:sp>
      <p:sp>
        <p:nvSpPr>
          <p:cNvPr id="21" name="text-65">
            <a:extLst xmlns:a="http://schemas.openxmlformats.org/drawingml/2006/main">
              <a:ext uri="{FF2B5EF4-FFF2-40B4-BE49-F238E27FC236}">
                <a16:creationId xmlns:a16="http://schemas.microsoft.com/office/drawing/2014/main" id="{2B2CAF8A-DF5D-454B-A079-C6E23D1F0827}"/>
              </a:ext>
            </a:extLst>
          </p:cNvPr>
          <p:cNvSpPr>
            <a:spLocks xmlns:a="http://schemas.openxmlformats.org/drawingml/2006/main" noGrp="1"/>
          </p:cNvSpPr>
          <p:nvPr/>
        </p:nvSpPr>
        <p:spPr>
          <a:xfrm xmlns:a="http://schemas.openxmlformats.org/drawingml/2006/main">
            <a:off x="621030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STAGING</a:t>
            </a:r>
          </a:p>
        </p:txBody>
      </p:sp>
      <p:sp>
        <p:nvSpPr>
          <p:cNvPr id="22" name="text-66">
            <a:extLst xmlns:a="http://schemas.openxmlformats.org/drawingml/2006/main">
              <a:ext uri="{FF2B5EF4-FFF2-40B4-BE49-F238E27FC236}">
                <a16:creationId xmlns:a16="http://schemas.microsoft.com/office/drawing/2014/main" id="{395F5E3E-2AFF-4EFC-95E4-D0421BB34A39}"/>
              </a:ext>
            </a:extLst>
          </p:cNvPr>
          <p:cNvSpPr>
            <a:spLocks xmlns:a="http://schemas.openxmlformats.org/drawingml/2006/main" noGrp="1"/>
          </p:cNvSpPr>
          <p:nvPr/>
        </p:nvSpPr>
        <p:spPr>
          <a:xfrm xmlns:a="http://schemas.openxmlformats.org/drawingml/2006/main">
            <a:off x="621030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23" name="text-67">
            <a:extLst xmlns:a="http://schemas.openxmlformats.org/drawingml/2006/main">
              <a:ext uri="{FF2B5EF4-FFF2-40B4-BE49-F238E27FC236}">
                <a16:creationId xmlns:a16="http://schemas.microsoft.com/office/drawing/2014/main" id="{B0BDE138-34CB-449E-ABB1-C9CA08F495DC}"/>
              </a:ext>
            </a:extLst>
          </p:cNvPr>
          <p:cNvSpPr>
            <a:spLocks xmlns:a="http://schemas.openxmlformats.org/drawingml/2006/main" noGrp="1"/>
          </p:cNvSpPr>
          <p:nvPr/>
        </p:nvSpPr>
        <p:spPr>
          <a:xfrm xmlns:a="http://schemas.openxmlformats.org/drawingml/2006/main">
            <a:off x="621030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24" name="text-68">
            <a:extLst xmlns:a="http://schemas.openxmlformats.org/drawingml/2006/main">
              <a:ext uri="{FF2B5EF4-FFF2-40B4-BE49-F238E27FC236}">
                <a16:creationId xmlns:a16="http://schemas.microsoft.com/office/drawing/2014/main" id="{3A52A485-888F-4893-820C-BBB39291F59D}"/>
              </a:ext>
            </a:extLst>
          </p:cNvPr>
          <p:cNvSpPr>
            <a:spLocks xmlns:a="http://schemas.openxmlformats.org/drawingml/2006/main" noGrp="1"/>
          </p:cNvSpPr>
          <p:nvPr/>
        </p:nvSpPr>
        <p:spPr>
          <a:xfrm xmlns:a="http://schemas.openxmlformats.org/drawingml/2006/main">
            <a:off x="621030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25" name="shape-69">
            <a:extLst xmlns:a="http://schemas.openxmlformats.org/drawingml/2006/main">
              <a:ext uri="{FF2B5EF4-FFF2-40B4-BE49-F238E27FC236}">
                <a16:creationId xmlns:a16="http://schemas.microsoft.com/office/drawing/2014/main" id="{BB71D7F2-EDC8-49B9-8809-E62B3200ADD0}"/>
              </a:ext>
            </a:extLst>
          </p:cNvPr>
          <p:cNvSpPr>
            <a:spLocks xmlns:a="http://schemas.openxmlformats.org/drawingml/2006/main" noGrp="1"/>
          </p:cNvSpPr>
          <p:nvPr/>
        </p:nvSpPr>
        <p:spPr>
          <a:xfrm xmlns:a="http://schemas.openxmlformats.org/drawingml/2006/main">
            <a:off x="8839200" y="3219450"/>
            <a:ext cx="9525" cy="2000250"/>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6" name="text-70">
            <a:extLst xmlns:a="http://schemas.openxmlformats.org/drawingml/2006/main">
              <a:ext uri="{FF2B5EF4-FFF2-40B4-BE49-F238E27FC236}">
                <a16:creationId xmlns:a16="http://schemas.microsoft.com/office/drawing/2014/main" id="{D24B1B7B-4084-4828-9631-A100D851216B}"/>
              </a:ext>
            </a:extLst>
          </p:cNvPr>
          <p:cNvSpPr>
            <a:spLocks xmlns:a="http://schemas.openxmlformats.org/drawingml/2006/main" noGrp="1"/>
          </p:cNvSpPr>
          <p:nvPr/>
        </p:nvSpPr>
        <p:spPr>
          <a:xfrm xmlns:a="http://schemas.openxmlformats.org/drawingml/2006/main">
            <a:off x="9048750" y="32099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04</a:t>
            </a:r>
          </a:p>
        </p:txBody>
      </p:sp>
      <p:sp>
        <p:nvSpPr>
          <p:cNvPr id="27" name="text-71">
            <a:extLst xmlns:a="http://schemas.openxmlformats.org/drawingml/2006/main">
              <a:ext uri="{FF2B5EF4-FFF2-40B4-BE49-F238E27FC236}">
                <a16:creationId xmlns:a16="http://schemas.microsoft.com/office/drawing/2014/main" id="{25B77E15-9C59-4E2D-85CE-30A1BE1B8B61}"/>
              </a:ext>
            </a:extLst>
          </p:cNvPr>
          <p:cNvSpPr>
            <a:spLocks xmlns:a="http://schemas.openxmlformats.org/drawingml/2006/main" noGrp="1"/>
          </p:cNvSpPr>
          <p:nvPr/>
        </p:nvSpPr>
        <p:spPr>
          <a:xfrm xmlns:a="http://schemas.openxmlformats.org/drawingml/2006/main">
            <a:off x="9048750" y="3571875"/>
            <a:ext cx="2590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1">
                <a:solidFill>
                  <a:srgbClr val="6D5EF4"/>
                </a:solidFill>
                <a:latin typeface="Arial"/>
                <a:ea typeface="Arial"/>
                <a:cs typeface="Arial"/>
              </a:defRPr>
            </a:pPr>
            <a:r>
              <a:rPr sz="2550" b="1">
                <a:solidFill>
                  <a:srgbClr val="6D5EF4"/>
                </a:solidFill>
                <a:latin typeface="Arial"/>
                <a:ea typeface="Arial"/>
                <a:cs typeface="Arial"/>
              </a:rPr>
              <a:t>PROD</a:t>
            </a:r>
          </a:p>
        </p:txBody>
      </p:sp>
      <p:sp>
        <p:nvSpPr>
          <p:cNvPr id="28" name="text-72">
            <a:extLst xmlns:a="http://schemas.openxmlformats.org/drawingml/2006/main">
              <a:ext uri="{FF2B5EF4-FFF2-40B4-BE49-F238E27FC236}">
                <a16:creationId xmlns:a16="http://schemas.microsoft.com/office/drawing/2014/main" id="{90862821-931A-4DB4-BED3-3F218FAFFD49}"/>
              </a:ext>
            </a:extLst>
          </p:cNvPr>
          <p:cNvSpPr>
            <a:spLocks xmlns:a="http://schemas.openxmlformats.org/drawingml/2006/main" noGrp="1"/>
          </p:cNvSpPr>
          <p:nvPr/>
        </p:nvSpPr>
        <p:spPr>
          <a:xfrm xmlns:a="http://schemas.openxmlformats.org/drawingml/2006/main">
            <a:off x="9048750" y="41624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DATABASE_URL</a:t>
            </a:r>
          </a:p>
        </p:txBody>
      </p:sp>
      <p:sp>
        <p:nvSpPr>
          <p:cNvPr id="29" name="text-73">
            <a:extLst xmlns:a="http://schemas.openxmlformats.org/drawingml/2006/main">
              <a:ext uri="{FF2B5EF4-FFF2-40B4-BE49-F238E27FC236}">
                <a16:creationId xmlns:a16="http://schemas.microsoft.com/office/drawing/2014/main" id="{F144EDA3-81E7-46F2-9C29-83F62080DAD2}"/>
              </a:ext>
            </a:extLst>
          </p:cNvPr>
          <p:cNvSpPr>
            <a:spLocks xmlns:a="http://schemas.openxmlformats.org/drawingml/2006/main" noGrp="1"/>
          </p:cNvSpPr>
          <p:nvPr/>
        </p:nvSpPr>
        <p:spPr>
          <a:xfrm xmlns:a="http://schemas.openxmlformats.org/drawingml/2006/main">
            <a:off x="9048750" y="448627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REDIS_URL</a:t>
            </a:r>
          </a:p>
        </p:txBody>
      </p:sp>
      <p:sp>
        <p:nvSpPr>
          <p:cNvPr id="30" name="text-74">
            <a:extLst xmlns:a="http://schemas.openxmlformats.org/drawingml/2006/main">
              <a:ext uri="{FF2B5EF4-FFF2-40B4-BE49-F238E27FC236}">
                <a16:creationId xmlns:a16="http://schemas.microsoft.com/office/drawing/2014/main" id="{AADC410C-2AC0-4D93-AAE9-85832D8A46D2}"/>
              </a:ext>
            </a:extLst>
          </p:cNvPr>
          <p:cNvSpPr>
            <a:spLocks xmlns:a="http://schemas.openxmlformats.org/drawingml/2006/main" noGrp="1"/>
          </p:cNvSpPr>
          <p:nvPr/>
        </p:nvSpPr>
        <p:spPr>
          <a:xfrm xmlns:a="http://schemas.openxmlformats.org/drawingml/2006/main">
            <a:off x="9048750" y="4810125"/>
            <a:ext cx="2609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20211F"/>
                </a:solidFill>
                <a:latin typeface="Menlo"/>
                <a:ea typeface="Menlo"/>
                <a:cs typeface="Menlo"/>
              </a:defRPr>
            </a:pPr>
            <a:r>
              <a:rPr sz="1725" b="0">
                <a:solidFill>
                  <a:srgbClr val="20211F"/>
                </a:solidFill>
                <a:latin typeface="Menlo"/>
                <a:ea typeface="Menlo"/>
                <a:cs typeface="Menlo"/>
              </a:rPr>
              <a:t>API_URL</a:t>
            </a:r>
          </a:p>
        </p:txBody>
      </p:sp>
      <p:sp>
        <p:nvSpPr>
          <p:cNvPr id="31" name="shape-75">
            <a:extLst xmlns:a="http://schemas.openxmlformats.org/drawingml/2006/main">
              <a:ext uri="{FF2B5EF4-FFF2-40B4-BE49-F238E27FC236}">
                <a16:creationId xmlns:a16="http://schemas.microsoft.com/office/drawing/2014/main" id="{C8017001-0F20-43E4-BB8A-5841BA034392}"/>
              </a:ext>
            </a:extLst>
          </p:cNvPr>
          <p:cNvSpPr>
            <a:spLocks xmlns:a="http://schemas.openxmlformats.org/drawingml/2006/main" noGrp="1"/>
          </p:cNvSpPr>
          <p:nvPr/>
        </p:nvSpPr>
        <p:spPr>
          <a:xfrm xmlns:a="http://schemas.openxmlformats.org/drawingml/2006/main">
            <a:off x="533400" y="5467350"/>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2" name="text-76">
            <a:extLst xmlns:a="http://schemas.openxmlformats.org/drawingml/2006/main">
              <a:ext uri="{FF2B5EF4-FFF2-40B4-BE49-F238E27FC236}">
                <a16:creationId xmlns:a16="http://schemas.microsoft.com/office/drawing/2014/main" id="{D098A0DB-4ED1-4883-A781-7958381596B8}"/>
              </a:ext>
            </a:extLst>
          </p:cNvPr>
          <p:cNvSpPr>
            <a:spLocks xmlns:a="http://schemas.openxmlformats.org/drawingml/2006/main" noGrp="1"/>
          </p:cNvSpPr>
          <p:nvPr/>
        </p:nvSpPr>
        <p:spPr>
          <a:xfrm xmlns:a="http://schemas.openxmlformats.org/drawingml/2006/main">
            <a:off x="533400" y="56864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20211F"/>
                </a:solidFill>
                <a:latin typeface="Arial"/>
                <a:ea typeface="Arial"/>
                <a:cs typeface="Arial"/>
              </a:defRPr>
            </a:pPr>
            <a:r>
              <a:rPr sz="2175" b="1">
                <a:solidFill>
                  <a:srgbClr val="20211F"/>
                </a:solidFill>
                <a:latin typeface="Arial"/>
                <a:ea typeface="Arial"/>
                <a:cs typeface="Arial"/>
              </a:rPr>
              <a:t>PEOPLE   +   APPLICATIONS   +   AGENTS</a:t>
            </a:r>
          </a:p>
        </p:txBody>
      </p:sp>
    </p:spTree>
    <p:extLst>
      <p:ext uri="{BB962C8B-B14F-4D97-AF65-F5344CB8AC3E}">
        <p14:creationId xmlns:p14="http://schemas.microsoft.com/office/powerpoint/2010/main" val="159081752"/>
      </p:ext>
    </p:extLst>
  </p:cSld>
</p:sld>
</file>

<file path=ppt/slides/slide4.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dba22702f764793">
            <a:extLst>
              <a:ext uri="{96DAC541-7B7A-43D3-8B79-37D633B846F1}">
                <asvg:svgBlip xmlns:asvg="http://schemas.microsoft.com/office/drawing/2016/SVG/main" r:embed="R71c17904f7a64b73"/>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77">
            <a:extLst xmlns:a="http://schemas.openxmlformats.org/drawingml/2006/main">
              <a:ext uri="{FF2B5EF4-FFF2-40B4-BE49-F238E27FC236}">
                <a16:creationId xmlns:a16="http://schemas.microsoft.com/office/drawing/2014/main" id="{4F91D1FA-3960-48E7-A655-B31AF936809F}"/>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78">
            <a:extLst xmlns:a="http://schemas.openxmlformats.org/drawingml/2006/main">
              <a:ext uri="{FF2B5EF4-FFF2-40B4-BE49-F238E27FC236}">
                <a16:creationId xmlns:a16="http://schemas.microsoft.com/office/drawing/2014/main" id="{63729547-2199-4679-AEAC-4F3151337453}"/>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79">
            <a:extLst xmlns:a="http://schemas.openxmlformats.org/drawingml/2006/main">
              <a:ext uri="{FF2B5EF4-FFF2-40B4-BE49-F238E27FC236}">
                <a16:creationId xmlns:a16="http://schemas.microsoft.com/office/drawing/2014/main" id="{BD470C46-F84E-4FD5-A510-75FBD3383524}"/>
              </a:ext>
            </a:extLst>
          </p:cNvPr>
          <p:cNvSpPr>
            <a:spLocks xmlns:a="http://schemas.openxmlformats.org/drawingml/2006/main" noGrp="1"/>
          </p:cNvSpPr>
          <p:nvPr/>
        </p:nvSpPr>
        <p:spPr>
          <a:xfrm xmlns:a="http://schemas.openxmlformats.org/drawingml/2006/main">
            <a:off x="533400" y="9048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20211F"/>
                </a:solidFill>
                <a:latin typeface="Arial"/>
                <a:ea typeface="Arial"/>
                <a:cs typeface="Arial"/>
              </a:defRPr>
            </a:pPr>
            <a:r>
              <a:rPr sz="4275" b="1">
                <a:solidFill>
                  <a:srgbClr val="20211F"/>
                </a:solidFill>
                <a:latin typeface="Arial"/>
                <a:ea typeface="Arial"/>
                <a:cs typeface="Arial"/>
              </a:rPr>
              <a:t>Humans. Apps. Agents.</a:t>
            </a:r>
          </a:p>
        </p:txBody>
      </p:sp>
      <p:sp>
        <p:nvSpPr>
          <p:cNvPr id="5" name="text-80">
            <a:extLst xmlns:a="http://schemas.openxmlformats.org/drawingml/2006/main">
              <a:ext uri="{FF2B5EF4-FFF2-40B4-BE49-F238E27FC236}">
                <a16:creationId xmlns:a16="http://schemas.microsoft.com/office/drawing/2014/main" id="{4934A22A-A4B5-4794-869C-24A8677D36D5}"/>
              </a:ext>
            </a:extLst>
          </p:cNvPr>
          <p:cNvSpPr>
            <a:spLocks xmlns:a="http://schemas.openxmlformats.org/drawingml/2006/main" noGrp="1"/>
          </p:cNvSpPr>
          <p:nvPr/>
        </p:nvSpPr>
        <p:spPr>
          <a:xfrm xmlns:a="http://schemas.openxmlformats.org/drawingml/2006/main">
            <a:off x="533400" y="151447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20211F"/>
                </a:solidFill>
                <a:latin typeface="Arial"/>
                <a:ea typeface="Arial"/>
                <a:cs typeface="Arial"/>
              </a:defRPr>
            </a:pPr>
            <a:r>
              <a:rPr sz="4275" b="1">
                <a:solidFill>
                  <a:srgbClr val="20211F"/>
                </a:solidFill>
                <a:latin typeface="Arial"/>
                <a:ea typeface="Arial"/>
                <a:cs typeface="Arial"/>
              </a:rPr>
              <a:t>One access model.</a:t>
            </a:r>
          </a:p>
        </p:txBody>
      </p:sp>
      <p:graphicFrame>
        <p:nvGraphicFramePr>
          <p:cNvPr id="13" name=""/>
          <p:cNvGraphicFramePr/>
          <p:nvPr/>
        </p:nvGraphicFramePr>
        <p:xfrm>
          <a:off xmlns:a="http://schemas.openxmlformats.org/drawingml/2006/main" x="533400" y="2524125"/>
          <a:ext xmlns:a="http://schemas.openxmlformats.org/drawingml/2006/main" cx="11125200" cy="3028950"/>
        </p:xfrm>
        <a:graphic xmlns:a="http://schemas.openxmlformats.org/drawingml/2006/main">
          <a:graphicData uri="http://schemas.openxmlformats.org/drawingml/2006/table">
            <a:tbl>
              <a:tblPr/>
              <a:tblGrid>
                <a:gridCol w="3409950"/>
                <a:gridCol w="2571750"/>
                <a:gridCol w="2571750"/>
                <a:gridCol w="2571750"/>
              </a:tblGrid>
              <a:tr h="504825">
                <a:tc>
                  <a:txBody>
                    <a:bodyPr/>
                    <a:lstStyle/>
                    <a:p>
                      <a:r>
                        <a:rPr sz="1350" b="1">
                          <a:solidFill>
                            <a:srgbClr val="FAFAF6"/>
                          </a:solidFill>
                          <a:latin typeface="Arial"/>
                          <a:ea typeface="Arial"/>
                          <a:cs typeface="Arial"/>
                        </a:rPr>
                        <a:t>IDENTITY</a:t>
                      </a:r>
                    </a:p>
                  </a:txBody>
                  <a:tcPr marL="91440" marR="91440" marT="45720" marB="45720">
                    <a:solidFill>
                      <a:srgbClr val="20211F"/>
                    </a:solidFill>
                  </a:tcPr>
                </a:tc>
                <a:tc>
                  <a:txBody>
                    <a:bodyPr/>
                    <a:lstStyle/>
                    <a:p>
                      <a:r>
                        <a:rPr sz="1350" b="1">
                          <a:solidFill>
                            <a:srgbClr val="FAFAF6"/>
                          </a:solidFill>
                          <a:latin typeface="Menlo"/>
                          <a:ea typeface="Menlo"/>
                          <a:cs typeface="Menlo"/>
                        </a:rPr>
                        <a:t>DEV</a:t>
                      </a:r>
                    </a:p>
                  </a:txBody>
                  <a:tcPr marL="91440" marR="91440" marT="45720" marB="45720">
                    <a:solidFill>
                      <a:srgbClr val="20211F"/>
                    </a:solidFill>
                  </a:tcPr>
                </a:tc>
                <a:tc>
                  <a:txBody>
                    <a:bodyPr/>
                    <a:lstStyle/>
                    <a:p>
                      <a:r>
                        <a:rPr sz="1350" b="1">
                          <a:solidFill>
                            <a:srgbClr val="FAFAF6"/>
                          </a:solidFill>
                          <a:latin typeface="Menlo"/>
                          <a:ea typeface="Menlo"/>
                          <a:cs typeface="Menlo"/>
                        </a:rPr>
                        <a:t>TEST</a:t>
                      </a:r>
                    </a:p>
                  </a:txBody>
                  <a:tcPr marL="91440" marR="91440" marT="45720" marB="45720">
                    <a:solidFill>
                      <a:srgbClr val="20211F"/>
                    </a:solidFill>
                  </a:tcPr>
                </a:tc>
                <a:tc>
                  <a:txBody>
                    <a:bodyPr/>
                    <a:lstStyle/>
                    <a:p>
                      <a:r>
                        <a:rPr sz="1350" b="1">
                          <a:solidFill>
                            <a:srgbClr val="FAFAF6"/>
                          </a:solidFill>
                          <a:latin typeface="Menlo"/>
                          <a:ea typeface="Menlo"/>
                          <a:cs typeface="Menlo"/>
                        </a:rPr>
                        <a:t>PROD</a:t>
                      </a:r>
                    </a:p>
                  </a:txBody>
                  <a:tcPr marL="91440" marR="91440" marT="45720" marB="45720">
                    <a:solidFill>
                      <a:srgbClr val="20211F"/>
                    </a:solidFill>
                  </a:tcPr>
                </a:tc>
              </a:tr>
              <a:tr h="504825">
                <a:tc>
                  <a:txBody>
                    <a:bodyPr/>
                    <a:lstStyle/>
                    <a:p>
                      <a:r>
                        <a:rPr sz="1725" b="1">
                          <a:solidFill>
                            <a:srgbClr val="20211F"/>
                          </a:solidFill>
                          <a:latin typeface="Arial"/>
                          <a:ea typeface="Arial"/>
                          <a:cs typeface="Arial"/>
                        </a:rPr>
                        <a:t>Developer</a:t>
                      </a:r>
                    </a:p>
                  </a:txBody>
                  <a:tcPr marL="91440" marR="91440" marT="45720" marB="45720">
                    <a:solidFill>
                      <a:srgbClr val="F3F2ED"/>
                    </a:solidFill>
                  </a:tcPr>
                </a:tc>
                <a:tc>
                  <a:txBody>
                    <a:bodyPr/>
                    <a:lstStyle/>
                    <a:p>
                      <a:r>
                        <a:rPr sz="1725" b="0">
                          <a:solidFill>
                            <a:srgbClr val="20211F"/>
                          </a:solidFill>
                          <a:latin typeface="Menlo"/>
                          <a:ea typeface="Menlo"/>
                          <a:cs typeface="Menlo"/>
                        </a:rPr>
                        <a:t>READ + WRITE</a:t>
                      </a:r>
                    </a:p>
                  </a:txBody>
                  <a:tcPr marL="91440" marR="91440" marT="45720" marB="45720">
                    <a:solidFill>
                      <a:srgbClr val="F3F2ED"/>
                    </a:solidFill>
                  </a:tcPr>
                </a:tc>
                <a:tc>
                  <a:txBody>
                    <a:bodyPr/>
                    <a:lstStyle/>
                    <a:p>
                      <a:r>
                        <a:rPr sz="1725" b="0">
                          <a:solidFill>
                            <a:srgbClr val="20211F"/>
                          </a:solidFill>
                          <a:latin typeface="Menlo"/>
                          <a:ea typeface="Menlo"/>
                          <a:cs typeface="Menlo"/>
                        </a:rPr>
                        <a:t>READ + WRITE</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Backend app</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QA</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r>
              <a:tr h="504825">
                <a:tc>
                  <a:txBody>
                    <a:bodyPr/>
                    <a:lstStyle/>
                    <a:p>
                      <a:r>
                        <a:rPr sz="1725" b="1">
                          <a:solidFill>
                            <a:srgbClr val="20211F"/>
                          </a:solidFill>
                          <a:latin typeface="Arial"/>
                          <a:ea typeface="Arial"/>
                          <a:cs typeface="Arial"/>
                        </a:rPr>
                        <a:t>Coding agent¹</a:t>
                      </a:r>
                    </a:p>
                  </a:txBody>
                  <a:tcPr marL="91440" marR="91440" marT="45720" marB="45720">
                    <a:solidFill>
                      <a:srgbClr val="DCD7FF"/>
                    </a:solidFill>
                  </a:tcPr>
                </a:tc>
                <a:tc>
                  <a:txBody>
                    <a:bodyPr/>
                    <a:lstStyle/>
                    <a:p>
                      <a:r>
                        <a:rPr sz="1725" b="0">
                          <a:solidFill>
                            <a:srgbClr val="20211F"/>
                          </a:solidFill>
                          <a:latin typeface="Menlo"/>
                          <a:ea typeface="Menlo"/>
                          <a:cs typeface="Menlo"/>
                        </a:rPr>
                        <a:t>READ + WRITE</a:t>
                      </a:r>
                    </a:p>
                  </a:txBody>
                  <a:tcPr marL="91440" marR="91440" marT="45720" marB="45720">
                    <a:solidFill>
                      <a:srgbClr val="DCD7FF"/>
                    </a:solidFill>
                  </a:tcPr>
                </a:tc>
                <a:tc>
                  <a:txBody>
                    <a:bodyPr/>
                    <a:lstStyle/>
                    <a:p>
                      <a:r>
                        <a:rPr sz="1725" b="0">
                          <a:solidFill>
                            <a:srgbClr val="20211F"/>
                          </a:solidFill>
                          <a:latin typeface="Menlo"/>
                          <a:ea typeface="Menlo"/>
                          <a:cs typeface="Menlo"/>
                        </a:rPr>
                        <a:t>READ</a:t>
                      </a:r>
                    </a:p>
                  </a:txBody>
                  <a:tcPr marL="91440" marR="91440" marT="45720" marB="45720">
                    <a:solidFill>
                      <a:srgbClr val="DCD7FF"/>
                    </a:solidFill>
                  </a:tcPr>
                </a:tc>
                <a:tc>
                  <a:txBody>
                    <a:bodyPr/>
                    <a:lstStyle/>
                    <a:p>
                      <a:r>
                        <a:rPr sz="1725" b="0">
                          <a:solidFill>
                            <a:srgbClr val="AA443A"/>
                          </a:solidFill>
                          <a:latin typeface="Menlo"/>
                          <a:ea typeface="Menlo"/>
                          <a:cs typeface="Menlo"/>
                        </a:rPr>
                        <a:t>DENIED</a:t>
                      </a:r>
                    </a:p>
                  </a:txBody>
                  <a:tcPr marL="91440" marR="91440" marT="45720" marB="45720">
                    <a:solidFill>
                      <a:srgbClr val="DCD7FF"/>
                    </a:solidFill>
                  </a:tcPr>
                </a:tc>
              </a:tr>
              <a:tr h="504825">
                <a:tc>
                  <a:txBody>
                    <a:bodyPr/>
                    <a:lstStyle/>
                    <a:p>
                      <a:r>
                        <a:rPr sz="1725" b="1">
                          <a:solidFill>
                            <a:srgbClr val="20211F"/>
                          </a:solidFill>
                          <a:latin typeface="Arial"/>
                          <a:ea typeface="Arial"/>
                          <a:cs typeface="Arial"/>
                        </a:rPr>
                        <a:t>Production app</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c>
                  <a:txBody>
                    <a:bodyPr/>
                    <a:lstStyle/>
                    <a:p>
                      <a:r>
                        <a:rPr sz="1725" b="0">
                          <a:solidFill>
                            <a:srgbClr val="AA443A"/>
                          </a:solidFill>
                          <a:latin typeface="Menlo"/>
                          <a:ea typeface="Menlo"/>
                          <a:cs typeface="Menlo"/>
                        </a:rPr>
                        <a:t>DENIED</a:t>
                      </a:r>
                    </a:p>
                  </a:txBody>
                  <a:tcPr marL="91440" marR="91440" marT="45720" marB="45720">
                    <a:solidFill>
                      <a:srgbClr val="F3F2ED"/>
                    </a:solidFill>
                  </a:tcPr>
                </a:tc>
                <a:tc>
                  <a:txBody>
                    <a:bodyPr/>
                    <a:lstStyle/>
                    <a:p>
                      <a:r>
                        <a:rPr sz="1725" b="0">
                          <a:solidFill>
                            <a:srgbClr val="20211F"/>
                          </a:solidFill>
                          <a:latin typeface="Menlo"/>
                          <a:ea typeface="Menlo"/>
                          <a:cs typeface="Menlo"/>
                        </a:rPr>
                        <a:t>READ</a:t>
                      </a:r>
                    </a:p>
                  </a:txBody>
                  <a:tcPr marL="91440" marR="91440" marT="45720" marB="45720">
                    <a:solidFill>
                      <a:srgbClr val="F3F2ED"/>
                    </a:solidFill>
                  </a:tcPr>
                </a:tc>
              </a:tr>
            </a:tbl>
          </a:graphicData>
        </a:graphic>
      </p:graphicFrame>
      <p:sp>
        <p:nvSpPr>
          <p:cNvPr id="7" name="text-81">
            <a:extLst xmlns:a="http://schemas.openxmlformats.org/drawingml/2006/main">
              <a:ext uri="{FF2B5EF4-FFF2-40B4-BE49-F238E27FC236}">
                <a16:creationId xmlns:a16="http://schemas.microsoft.com/office/drawing/2014/main" id="{73BDBBE7-0420-48AB-806E-45C45E2E0959}"/>
              </a:ext>
            </a:extLst>
          </p:cNvPr>
          <p:cNvSpPr>
            <a:spLocks xmlns:a="http://schemas.openxmlformats.org/drawingml/2006/main" noGrp="1"/>
          </p:cNvSpPr>
          <p:nvPr/>
        </p:nvSpPr>
        <p:spPr>
          <a:xfrm xmlns:a="http://schemas.openxmlformats.org/drawingml/2006/main">
            <a:off x="533400" y="57912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ILLUSTRATIVE ASSIGNMENTS  /  ¹ AGENT ACCESS: PREVIEW</a:t>
            </a:r>
          </a:p>
        </p:txBody>
      </p:sp>
    </p:spTree>
    <p:extLst>
      <p:ext uri="{BB962C8B-B14F-4D97-AF65-F5344CB8AC3E}">
        <p14:creationId xmlns:p14="http://schemas.microsoft.com/office/powerpoint/2010/main" val="352777804"/>
      </p:ext>
    </p:extLst>
  </p:cSld>
</p:sld>
</file>

<file path=ppt/slides/slide5.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6e7ab28f0c4bb5">
            <a:extLst>
              <a:ext uri="{96DAC541-7B7A-43D3-8B79-37D633B846F1}">
                <asvg:svgBlip xmlns:asvg="http://schemas.microsoft.com/office/drawing/2016/SVG/main" r:embed="R6c1981324bed465e"/>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82">
            <a:extLst xmlns:a="http://schemas.openxmlformats.org/drawingml/2006/main">
              <a:ext uri="{FF2B5EF4-FFF2-40B4-BE49-F238E27FC236}">
                <a16:creationId xmlns:a16="http://schemas.microsoft.com/office/drawing/2014/main" id="{C19988FD-4A56-4F1B-8D41-DA4DA86E7551}"/>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83">
            <a:extLst xmlns:a="http://schemas.openxmlformats.org/drawingml/2006/main">
              <a:ext uri="{FF2B5EF4-FFF2-40B4-BE49-F238E27FC236}">
                <a16:creationId xmlns:a16="http://schemas.microsoft.com/office/drawing/2014/main" id="{7D54AF78-50E1-4471-AF20-10A098483AFC}"/>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84">
            <a:extLst xmlns:a="http://schemas.openxmlformats.org/drawingml/2006/main">
              <a:ext uri="{FF2B5EF4-FFF2-40B4-BE49-F238E27FC236}">
                <a16:creationId xmlns:a16="http://schemas.microsoft.com/office/drawing/2014/main" id="{F9AF61BE-9365-410A-8519-C8B1B040957D}"/>
              </a:ext>
            </a:extLst>
          </p:cNvPr>
          <p:cNvSpPr>
            <a:spLocks xmlns:a="http://schemas.openxmlformats.org/drawingml/2006/main" noGrp="1"/>
          </p:cNvSpPr>
          <p:nvPr/>
        </p:nvSpPr>
        <p:spPr>
          <a:xfrm xmlns:a="http://schemas.openxmlformats.org/drawingml/2006/main">
            <a:off x="533400" y="9810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Control lives</a:t>
            </a:r>
          </a:p>
        </p:txBody>
      </p:sp>
      <p:sp>
        <p:nvSpPr>
          <p:cNvPr id="5" name="text-85">
            <a:extLst xmlns:a="http://schemas.openxmlformats.org/drawingml/2006/main">
              <a:ext uri="{FF2B5EF4-FFF2-40B4-BE49-F238E27FC236}">
                <a16:creationId xmlns:a16="http://schemas.microsoft.com/office/drawing/2014/main" id="{4F25DD00-8B2D-4DE3-9983-F9517F6306F1}"/>
              </a:ext>
            </a:extLst>
          </p:cNvPr>
          <p:cNvSpPr>
            <a:spLocks xmlns:a="http://schemas.openxmlformats.org/drawingml/2006/main" noGrp="1"/>
          </p:cNvSpPr>
          <p:nvPr/>
        </p:nvSpPr>
        <p:spPr>
          <a:xfrm xmlns:a="http://schemas.openxmlformats.org/drawingml/2006/main">
            <a:off x="533400" y="16287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next to the</a:t>
            </a:r>
          </a:p>
        </p:txBody>
      </p:sp>
      <p:sp>
        <p:nvSpPr>
          <p:cNvPr id="6" name="text-86">
            <a:extLst xmlns:a="http://schemas.openxmlformats.org/drawingml/2006/main">
              <a:ext uri="{FF2B5EF4-FFF2-40B4-BE49-F238E27FC236}">
                <a16:creationId xmlns:a16="http://schemas.microsoft.com/office/drawing/2014/main" id="{15726043-88DD-4C98-8824-3FA62FCAE0E3}"/>
              </a:ext>
            </a:extLst>
          </p:cNvPr>
          <p:cNvSpPr>
            <a:spLocks xmlns:a="http://schemas.openxmlformats.org/drawingml/2006/main" noGrp="1"/>
          </p:cNvSpPr>
          <p:nvPr/>
        </p:nvSpPr>
        <p:spPr>
          <a:xfrm xmlns:a="http://schemas.openxmlformats.org/drawingml/2006/main">
            <a:off x="533400" y="2276475"/>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20211F"/>
                </a:solidFill>
                <a:latin typeface="Arial"/>
                <a:ea typeface="Arial"/>
                <a:cs typeface="Arial"/>
              </a:defRPr>
            </a:pPr>
            <a:r>
              <a:rPr sz="4500" b="1">
                <a:solidFill>
                  <a:srgbClr val="20211F"/>
                </a:solidFill>
                <a:latin typeface="Arial"/>
                <a:ea typeface="Arial"/>
                <a:cs typeface="Arial"/>
              </a:rPr>
              <a:t>environment.</a:t>
            </a:r>
          </a:p>
        </p:txBody>
      </p:sp>
      <p:sp>
        <p:nvSpPr>
          <p:cNvPr id="7" name="text-87">
            <a:extLst xmlns:a="http://schemas.openxmlformats.org/drawingml/2006/main">
              <a:ext uri="{FF2B5EF4-FFF2-40B4-BE49-F238E27FC236}">
                <a16:creationId xmlns:a16="http://schemas.microsoft.com/office/drawing/2014/main" id="{DEB53598-4871-43FC-8FE8-0104C5491A2C}"/>
              </a:ext>
            </a:extLst>
          </p:cNvPr>
          <p:cNvSpPr>
            <a:spLocks xmlns:a="http://schemas.openxmlformats.org/drawingml/2006/main" noGrp="1"/>
          </p:cNvSpPr>
          <p:nvPr/>
        </p:nvSpPr>
        <p:spPr>
          <a:xfrm xmlns:a="http://schemas.openxmlformats.org/drawingml/2006/main">
            <a:off x="561975" y="3505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 / SECRETS</a:t>
            </a:r>
          </a:p>
        </p:txBody>
      </p:sp>
      <p:sp>
        <p:nvSpPr>
          <p:cNvPr id="8" name="text-88">
            <a:extLst xmlns:a="http://schemas.openxmlformats.org/drawingml/2006/main">
              <a:ext uri="{FF2B5EF4-FFF2-40B4-BE49-F238E27FC236}">
                <a16:creationId xmlns:a16="http://schemas.microsoft.com/office/drawing/2014/main" id="{E25646BC-AB31-47D1-82E6-0988962F5596}"/>
              </a:ext>
            </a:extLst>
          </p:cNvPr>
          <p:cNvSpPr>
            <a:spLocks xmlns:a="http://schemas.openxmlformats.org/drawingml/2006/main" noGrp="1"/>
          </p:cNvSpPr>
          <p:nvPr/>
        </p:nvSpPr>
        <p:spPr>
          <a:xfrm xmlns:a="http://schemas.openxmlformats.org/drawingml/2006/main">
            <a:off x="561975" y="3762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Attach only what belongs here.</a:t>
            </a:r>
          </a:p>
        </p:txBody>
      </p:sp>
      <p:sp>
        <p:nvSpPr>
          <p:cNvPr id="9" name="text-89">
            <a:extLst xmlns:a="http://schemas.openxmlformats.org/drawingml/2006/main">
              <a:ext uri="{FF2B5EF4-FFF2-40B4-BE49-F238E27FC236}">
                <a16:creationId xmlns:a16="http://schemas.microsoft.com/office/drawing/2014/main" id="{61EA5441-F60D-49CB-AEF4-9B8BEF70C3E9}"/>
              </a:ext>
            </a:extLst>
          </p:cNvPr>
          <p:cNvSpPr>
            <a:spLocks xmlns:a="http://schemas.openxmlformats.org/drawingml/2006/main" noGrp="1"/>
          </p:cNvSpPr>
          <p:nvPr/>
        </p:nvSpPr>
        <p:spPr>
          <a:xfrm xmlns:a="http://schemas.openxmlformats.org/drawingml/2006/main">
            <a:off x="561975" y="4267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 / TEAM ACCESS</a:t>
            </a:r>
          </a:p>
        </p:txBody>
      </p:sp>
      <p:sp>
        <p:nvSpPr>
          <p:cNvPr id="10" name="text-90">
            <a:extLst xmlns:a="http://schemas.openxmlformats.org/drawingml/2006/main">
              <a:ext uri="{FF2B5EF4-FFF2-40B4-BE49-F238E27FC236}">
                <a16:creationId xmlns:a16="http://schemas.microsoft.com/office/drawing/2014/main" id="{EA4DE145-046B-4520-BEB8-6900B8BD93D2}"/>
              </a:ext>
            </a:extLst>
          </p:cNvPr>
          <p:cNvSpPr>
            <a:spLocks xmlns:a="http://schemas.openxmlformats.org/drawingml/2006/main" noGrp="1"/>
          </p:cNvSpPr>
          <p:nvPr/>
        </p:nvSpPr>
        <p:spPr>
          <a:xfrm xmlns:a="http://schemas.openxmlformats.org/drawingml/2006/main">
            <a:off x="561975" y="4524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Share the environment.</a:t>
            </a:r>
          </a:p>
        </p:txBody>
      </p:sp>
      <p:sp>
        <p:nvSpPr>
          <p:cNvPr id="11" name="text-91">
            <a:extLst xmlns:a="http://schemas.openxmlformats.org/drawingml/2006/main">
              <a:ext uri="{FF2B5EF4-FFF2-40B4-BE49-F238E27FC236}">
                <a16:creationId xmlns:a16="http://schemas.microsoft.com/office/drawing/2014/main" id="{3326502B-B407-47F6-BD89-D956890D024F}"/>
              </a:ext>
            </a:extLst>
          </p:cNvPr>
          <p:cNvSpPr>
            <a:spLocks xmlns:a="http://schemas.openxmlformats.org/drawingml/2006/main" noGrp="1"/>
          </p:cNvSpPr>
          <p:nvPr/>
        </p:nvSpPr>
        <p:spPr>
          <a:xfrm xmlns:a="http://schemas.openxmlformats.org/drawingml/2006/main">
            <a:off x="561975" y="5029200"/>
            <a:ext cx="5953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 / AGENTS · PREVIEW</a:t>
            </a:r>
          </a:p>
        </p:txBody>
      </p:sp>
      <p:sp>
        <p:nvSpPr>
          <p:cNvPr id="12" name="text-92">
            <a:extLst xmlns:a="http://schemas.openxmlformats.org/drawingml/2006/main">
              <a:ext uri="{FF2B5EF4-FFF2-40B4-BE49-F238E27FC236}">
                <a16:creationId xmlns:a16="http://schemas.microsoft.com/office/drawing/2014/main" id="{73157C0E-0F32-47C5-B3EB-9901F37662DC}"/>
              </a:ext>
            </a:extLst>
          </p:cNvPr>
          <p:cNvSpPr>
            <a:spLocks xmlns:a="http://schemas.openxmlformats.org/drawingml/2006/main" noGrp="1"/>
          </p:cNvSpPr>
          <p:nvPr/>
        </p:nvSpPr>
        <p:spPr>
          <a:xfrm xmlns:a="http://schemas.openxmlformats.org/drawingml/2006/main">
            <a:off x="561975" y="52863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20211F"/>
                </a:solidFill>
                <a:latin typeface="Arial"/>
                <a:ea typeface="Arial"/>
                <a:cs typeface="Arial"/>
              </a:defRPr>
            </a:pPr>
            <a:r>
              <a:rPr sz="1875" b="0">
                <a:solidFill>
                  <a:srgbClr val="20211F"/>
                </a:solidFill>
                <a:latin typeface="Arial"/>
                <a:ea typeface="Arial"/>
                <a:cs typeface="Arial"/>
              </a:rPr>
              <a:t>See who has access.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a8d5eaadb9b4afb"/>
          <a:stretch xmlns:a="http://schemas.openxmlformats.org/drawingml/2006/main"/>
        </p:blipFill>
        <p:spPr>
          <a:xfrm xmlns:a="http://schemas.openxmlformats.org/drawingml/2006/main">
            <a:off x="7458075" y="867396"/>
            <a:ext cx="3733800" cy="5113683"/>
          </a:xfrm>
          <a:prstGeom xmlns:a="http://schemas.openxmlformats.org/drawingml/2006/main" prst="rect">
            <a:avLst/>
          </a:prstGeom>
        </p:spPr>
      </p:pic>
    </p:spTree>
    <p:extLst>
      <p:ext uri="{BB962C8B-B14F-4D97-AF65-F5344CB8AC3E}">
        <p14:creationId xmlns:p14="http://schemas.microsoft.com/office/powerpoint/2010/main" val="785907044"/>
      </p:ext>
    </p:extLst>
  </p:cSld>
</p:sld>
</file>

<file path=ppt/slides/slide6.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603123a537f4225">
            <a:extLst>
              <a:ext uri="{96DAC541-7B7A-43D3-8B79-37D633B846F1}">
                <asvg:svgBlip xmlns:asvg="http://schemas.microsoft.com/office/drawing/2016/SVG/main" r:embed="Rf924fecac32e4b44"/>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93">
            <a:extLst xmlns:a="http://schemas.openxmlformats.org/drawingml/2006/main">
              <a:ext uri="{FF2B5EF4-FFF2-40B4-BE49-F238E27FC236}">
                <a16:creationId xmlns:a16="http://schemas.microsoft.com/office/drawing/2014/main" id="{4CB08986-6AC0-4834-A32F-773B8A934210}"/>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3" name="text-94">
            <a:extLst xmlns:a="http://schemas.openxmlformats.org/drawingml/2006/main">
              <a:ext uri="{FF2B5EF4-FFF2-40B4-BE49-F238E27FC236}">
                <a16:creationId xmlns:a16="http://schemas.microsoft.com/office/drawing/2014/main" id="{EC1D50CB-305E-44BD-8748-E2ADA0CFF8D5}"/>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sp>
        <p:nvSpPr>
          <p:cNvPr id="4" name="text-95">
            <a:extLst xmlns:a="http://schemas.openxmlformats.org/drawingml/2006/main">
              <a:ext uri="{FF2B5EF4-FFF2-40B4-BE49-F238E27FC236}">
                <a16:creationId xmlns:a16="http://schemas.microsoft.com/office/drawing/2014/main" id="{716DA3D3-3708-45EF-BE89-E8DF0EFB2830}"/>
              </a:ext>
            </a:extLst>
          </p:cNvPr>
          <p:cNvSpPr>
            <a:spLocks xmlns:a="http://schemas.openxmlformats.org/drawingml/2006/main" noGrp="1"/>
          </p:cNvSpPr>
          <p:nvPr/>
        </p:nvSpPr>
        <p:spPr>
          <a:xfrm xmlns:a="http://schemas.openxmlformats.org/drawingml/2006/main">
            <a:off x="533400" y="942975"/>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FAFAF6"/>
                </a:solidFill>
                <a:latin typeface="Arial"/>
                <a:ea typeface="Arial"/>
                <a:cs typeface="Arial"/>
              </a:defRPr>
            </a:pPr>
            <a:r>
              <a:rPr sz="4650" b="1">
                <a:solidFill>
                  <a:srgbClr val="FAFAF6"/>
                </a:solidFill>
                <a:latin typeface="Arial"/>
                <a:ea typeface="Arial"/>
                <a:cs typeface="Arial"/>
              </a:rPr>
              <a:t>Your app asks for</a:t>
            </a:r>
          </a:p>
        </p:txBody>
      </p:sp>
      <p:sp>
        <p:nvSpPr>
          <p:cNvPr id="5" name="text-96">
            <a:extLst xmlns:a="http://schemas.openxmlformats.org/drawingml/2006/main">
              <a:ext uri="{FF2B5EF4-FFF2-40B4-BE49-F238E27FC236}">
                <a16:creationId xmlns:a16="http://schemas.microsoft.com/office/drawing/2014/main" id="{BEC610AA-40C0-4928-9939-54896CB476DF}"/>
              </a:ext>
            </a:extLst>
          </p:cNvPr>
          <p:cNvSpPr>
            <a:spLocks xmlns:a="http://schemas.openxmlformats.org/drawingml/2006/main" noGrp="1"/>
          </p:cNvSpPr>
          <p:nvPr/>
        </p:nvSpPr>
        <p:spPr>
          <a:xfrm xmlns:a="http://schemas.openxmlformats.org/drawingml/2006/main">
            <a:off x="533400" y="1590675"/>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FAFAF6"/>
                </a:solidFill>
                <a:latin typeface="Arial"/>
                <a:ea typeface="Arial"/>
                <a:cs typeface="Arial"/>
              </a:defRPr>
            </a:pPr>
            <a:r>
              <a:rPr sz="4650" b="1">
                <a:solidFill>
                  <a:srgbClr val="FAFAF6"/>
                </a:solidFill>
                <a:latin typeface="Arial"/>
                <a:ea typeface="Arial"/>
                <a:cs typeface="Arial"/>
              </a:rPr>
              <a:t>what it needs.</a:t>
            </a:r>
          </a:p>
        </p:txBody>
      </p:sp>
      <p:sp>
        <p:nvSpPr>
          <p:cNvPr id="6" name="text-97">
            <a:extLst xmlns:a="http://schemas.openxmlformats.org/drawingml/2006/main">
              <a:ext uri="{FF2B5EF4-FFF2-40B4-BE49-F238E27FC236}">
                <a16:creationId xmlns:a16="http://schemas.microsoft.com/office/drawing/2014/main" id="{0433D1F4-2810-4588-87BC-E4D1D861875B}"/>
              </a:ext>
            </a:extLst>
          </p:cNvPr>
          <p:cNvSpPr>
            <a:spLocks xmlns:a="http://schemas.openxmlformats.org/drawingml/2006/main" noGrp="1"/>
          </p:cNvSpPr>
          <p:nvPr/>
        </p:nvSpPr>
        <p:spPr>
          <a:xfrm xmlns:a="http://schemas.openxmlformats.org/drawingml/2006/main">
            <a:off x="533400" y="264795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NODE.JS / @envsync/node</a:t>
            </a:r>
          </a:p>
        </p:txBody>
      </p:sp>
      <p:sp>
        <p:nvSpPr>
          <p:cNvPr id="7" name="text-98">
            <a:extLst xmlns:a="http://schemas.openxmlformats.org/drawingml/2006/main">
              <a:ext uri="{FF2B5EF4-FFF2-40B4-BE49-F238E27FC236}">
                <a16:creationId xmlns:a16="http://schemas.microsoft.com/office/drawing/2014/main" id="{B6391C96-B0F8-4B44-970B-946D6B03602B}"/>
              </a:ext>
            </a:extLst>
          </p:cNvPr>
          <p:cNvSpPr>
            <a:spLocks xmlns:a="http://schemas.openxmlformats.org/drawingml/2006/main" noGrp="1"/>
          </p:cNvSpPr>
          <p:nvPr/>
        </p:nvSpPr>
        <p:spPr>
          <a:xfrm xmlns:a="http://schemas.openxmlformats.org/drawingml/2006/main">
            <a:off x="8601075" y="26479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REQUEST PATH</a:t>
            </a:r>
          </a:p>
        </p:txBody>
      </p:sp>
      <p:sp>
        <p:nvSpPr>
          <p:cNvPr id="8" name="text-99">
            <a:extLst xmlns:a="http://schemas.openxmlformats.org/drawingml/2006/main">
              <a:ext uri="{FF2B5EF4-FFF2-40B4-BE49-F238E27FC236}">
                <a16:creationId xmlns:a16="http://schemas.microsoft.com/office/drawing/2014/main" id="{C9A4EBF3-FD48-4796-8003-BAC47A6EDBE5}"/>
              </a:ext>
            </a:extLst>
          </p:cNvPr>
          <p:cNvSpPr>
            <a:spLocks xmlns:a="http://schemas.openxmlformats.org/drawingml/2006/main" noGrp="1"/>
          </p:cNvSpPr>
          <p:nvPr/>
        </p:nvSpPr>
        <p:spPr>
          <a:xfrm xmlns:a="http://schemas.openxmlformats.org/drawingml/2006/main">
            <a:off x="533400" y="3057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01</a:t>
            </a:r>
          </a:p>
        </p:txBody>
      </p:sp>
      <p:sp>
        <p:nvSpPr>
          <p:cNvPr id="9" name="text-100">
            <a:extLst xmlns:a="http://schemas.openxmlformats.org/drawingml/2006/main">
              <a:ext uri="{FF2B5EF4-FFF2-40B4-BE49-F238E27FC236}">
                <a16:creationId xmlns:a16="http://schemas.microsoft.com/office/drawing/2014/main" id="{939AAA57-8511-450E-9BC2-E1B58AA4222B}"/>
              </a:ext>
            </a:extLst>
          </p:cNvPr>
          <p:cNvSpPr>
            <a:spLocks xmlns:a="http://schemas.openxmlformats.org/drawingml/2006/main" noGrp="1"/>
          </p:cNvSpPr>
          <p:nvPr/>
        </p:nvSpPr>
        <p:spPr>
          <a:xfrm xmlns:a="http://schemas.openxmlformats.org/drawingml/2006/main">
            <a:off x="1000125" y="30289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DCD7FF"/>
                </a:solidFill>
                <a:latin typeface="Menlo"/>
                <a:ea typeface="Menlo"/>
                <a:cs typeface="Menlo"/>
              </a:defRPr>
            </a:pPr>
            <a:r>
              <a:rPr sz="1800" b="0">
                <a:solidFill>
                  <a:srgbClr val="DCD7FF"/>
                </a:solidFill>
                <a:latin typeface="Menlo"/>
                <a:ea typeface="Menlo"/>
                <a:cs typeface="Menlo"/>
              </a:rPr>
              <a:t>import { EnvSync } from "@envsync/node";</a:t>
            </a:r>
          </a:p>
        </p:txBody>
      </p:sp>
      <p:sp>
        <p:nvSpPr>
          <p:cNvPr id="10" name="text-101">
            <a:extLst xmlns:a="http://schemas.openxmlformats.org/drawingml/2006/main">
              <a:ext uri="{FF2B5EF4-FFF2-40B4-BE49-F238E27FC236}">
                <a16:creationId xmlns:a16="http://schemas.microsoft.com/office/drawing/2014/main" id="{181C9275-D443-4FB7-9BAE-EFE501DA0397}"/>
              </a:ext>
            </a:extLst>
          </p:cNvPr>
          <p:cNvSpPr>
            <a:spLocks xmlns:a="http://schemas.openxmlformats.org/drawingml/2006/main" noGrp="1"/>
          </p:cNvSpPr>
          <p:nvPr/>
        </p:nvSpPr>
        <p:spPr>
          <a:xfrm xmlns:a="http://schemas.openxmlformats.org/drawingml/2006/main">
            <a:off x="533400" y="3362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02</a:t>
            </a:r>
          </a:p>
        </p:txBody>
      </p:sp>
      <p:sp>
        <p:nvSpPr>
          <p:cNvPr id="11" name="text-102">
            <a:extLst xmlns:a="http://schemas.openxmlformats.org/drawingml/2006/main">
              <a:ext uri="{FF2B5EF4-FFF2-40B4-BE49-F238E27FC236}">
                <a16:creationId xmlns:a16="http://schemas.microsoft.com/office/drawing/2014/main" id="{EBC7F02A-224C-4344-A6EA-0E9C5A5D1F81}"/>
              </a:ext>
            </a:extLst>
          </p:cNvPr>
          <p:cNvSpPr>
            <a:spLocks xmlns:a="http://schemas.openxmlformats.org/drawingml/2006/main" noGrp="1"/>
          </p:cNvSpPr>
          <p:nvPr/>
        </p:nvSpPr>
        <p:spPr>
          <a:xfrm xmlns:a="http://schemas.openxmlformats.org/drawingml/2006/main">
            <a:off x="1000125" y="33337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12" name="text-103">
            <a:extLst xmlns:a="http://schemas.openxmlformats.org/drawingml/2006/main">
              <a:ext uri="{FF2B5EF4-FFF2-40B4-BE49-F238E27FC236}">
                <a16:creationId xmlns:a16="http://schemas.microsoft.com/office/drawing/2014/main" id="{934FDA62-57A7-42F5-A62D-96F25FBCDEA4}"/>
              </a:ext>
            </a:extLst>
          </p:cNvPr>
          <p:cNvSpPr>
            <a:spLocks xmlns:a="http://schemas.openxmlformats.org/drawingml/2006/main" noGrp="1"/>
          </p:cNvSpPr>
          <p:nvPr/>
        </p:nvSpPr>
        <p:spPr>
          <a:xfrm xmlns:a="http://schemas.openxmlformats.org/drawingml/2006/main">
            <a:off x="533400" y="3667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03</a:t>
            </a:r>
          </a:p>
        </p:txBody>
      </p:sp>
      <p:sp>
        <p:nvSpPr>
          <p:cNvPr id="13" name="text-104">
            <a:extLst xmlns:a="http://schemas.openxmlformats.org/drawingml/2006/main">
              <a:ext uri="{FF2B5EF4-FFF2-40B4-BE49-F238E27FC236}">
                <a16:creationId xmlns:a16="http://schemas.microsoft.com/office/drawing/2014/main" id="{19D1E3FF-6681-4A84-84D7-10EECD1EC58F}"/>
              </a:ext>
            </a:extLst>
          </p:cNvPr>
          <p:cNvSpPr>
            <a:spLocks xmlns:a="http://schemas.openxmlformats.org/drawingml/2006/main" noGrp="1"/>
          </p:cNvSpPr>
          <p:nvPr/>
        </p:nvSpPr>
        <p:spPr>
          <a:xfrm xmlns:a="http://schemas.openxmlformats.org/drawingml/2006/main">
            <a:off x="1000125" y="36385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const envsync = new EnvSync({</a:t>
            </a:r>
          </a:p>
        </p:txBody>
      </p:sp>
      <p:sp>
        <p:nvSpPr>
          <p:cNvPr id="14" name="text-105">
            <a:extLst xmlns:a="http://schemas.openxmlformats.org/drawingml/2006/main">
              <a:ext uri="{FF2B5EF4-FFF2-40B4-BE49-F238E27FC236}">
                <a16:creationId xmlns:a16="http://schemas.microsoft.com/office/drawing/2014/main" id="{B06D7F94-F4F1-4B41-89A0-F9516D449460}"/>
              </a:ext>
            </a:extLst>
          </p:cNvPr>
          <p:cNvSpPr>
            <a:spLocks xmlns:a="http://schemas.openxmlformats.org/drawingml/2006/main" noGrp="1"/>
          </p:cNvSpPr>
          <p:nvPr/>
        </p:nvSpPr>
        <p:spPr>
          <a:xfrm xmlns:a="http://schemas.openxmlformats.org/drawingml/2006/main">
            <a:off x="533400" y="3971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04</a:t>
            </a:r>
          </a:p>
        </p:txBody>
      </p:sp>
      <p:sp>
        <p:nvSpPr>
          <p:cNvPr id="15" name="text-106">
            <a:extLst xmlns:a="http://schemas.openxmlformats.org/drawingml/2006/main">
              <a:ext uri="{FF2B5EF4-FFF2-40B4-BE49-F238E27FC236}">
                <a16:creationId xmlns:a16="http://schemas.microsoft.com/office/drawing/2014/main" id="{C87CD0C6-F279-49AD-9470-317703E00DA0}"/>
              </a:ext>
            </a:extLst>
          </p:cNvPr>
          <p:cNvSpPr>
            <a:spLocks xmlns:a="http://schemas.openxmlformats.org/drawingml/2006/main" noGrp="1"/>
          </p:cNvSpPr>
          <p:nvPr/>
        </p:nvSpPr>
        <p:spPr>
          <a:xfrm xmlns:a="http://schemas.openxmlformats.org/drawingml/2006/main">
            <a:off x="1000125" y="39433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  apiKey: process.env.ENVSYNC_API_KEY,</a:t>
            </a:r>
          </a:p>
        </p:txBody>
      </p:sp>
      <p:sp>
        <p:nvSpPr>
          <p:cNvPr id="16" name="text-107">
            <a:extLst xmlns:a="http://schemas.openxmlformats.org/drawingml/2006/main">
              <a:ext uri="{FF2B5EF4-FFF2-40B4-BE49-F238E27FC236}">
                <a16:creationId xmlns:a16="http://schemas.microsoft.com/office/drawing/2014/main" id="{435119D9-D5DB-447E-9093-9B1C97A0DE39}"/>
              </a:ext>
            </a:extLst>
          </p:cNvPr>
          <p:cNvSpPr>
            <a:spLocks xmlns:a="http://schemas.openxmlformats.org/drawingml/2006/main" noGrp="1"/>
          </p:cNvSpPr>
          <p:nvPr/>
        </p:nvSpPr>
        <p:spPr>
          <a:xfrm xmlns:a="http://schemas.openxmlformats.org/drawingml/2006/main">
            <a:off x="533400" y="42767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05</a:t>
            </a:r>
          </a:p>
        </p:txBody>
      </p:sp>
      <p:sp>
        <p:nvSpPr>
          <p:cNvPr id="17" name="text-108">
            <a:extLst xmlns:a="http://schemas.openxmlformats.org/drawingml/2006/main">
              <a:ext uri="{FF2B5EF4-FFF2-40B4-BE49-F238E27FC236}">
                <a16:creationId xmlns:a16="http://schemas.microsoft.com/office/drawing/2014/main" id="{8AA7BC61-530D-4D90-92A2-C77E64D3FE2C}"/>
              </a:ext>
            </a:extLst>
          </p:cNvPr>
          <p:cNvSpPr>
            <a:spLocks xmlns:a="http://schemas.openxmlformats.org/drawingml/2006/main" noGrp="1"/>
          </p:cNvSpPr>
          <p:nvPr/>
        </p:nvSpPr>
        <p:spPr>
          <a:xfrm xmlns:a="http://schemas.openxmlformats.org/drawingml/2006/main">
            <a:off x="1000125" y="42481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  baseUrl: process.env.ENVSYNC_URL</a:t>
            </a:r>
          </a:p>
        </p:txBody>
      </p:sp>
      <p:sp>
        <p:nvSpPr>
          <p:cNvPr id="18" name="text-109">
            <a:extLst xmlns:a="http://schemas.openxmlformats.org/drawingml/2006/main">
              <a:ext uri="{FF2B5EF4-FFF2-40B4-BE49-F238E27FC236}">
                <a16:creationId xmlns:a16="http://schemas.microsoft.com/office/drawing/2014/main" id="{A98AD9A6-6BC0-4818-B0D0-8FD64410F051}"/>
              </a:ext>
            </a:extLst>
          </p:cNvPr>
          <p:cNvSpPr>
            <a:spLocks xmlns:a="http://schemas.openxmlformats.org/drawingml/2006/main" noGrp="1"/>
          </p:cNvSpPr>
          <p:nvPr/>
        </p:nvSpPr>
        <p:spPr>
          <a:xfrm xmlns:a="http://schemas.openxmlformats.org/drawingml/2006/main">
            <a:off x="533400" y="4581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06</a:t>
            </a:r>
          </a:p>
        </p:txBody>
      </p:sp>
      <p:sp>
        <p:nvSpPr>
          <p:cNvPr id="19" name="text-110">
            <a:extLst xmlns:a="http://schemas.openxmlformats.org/drawingml/2006/main">
              <a:ext uri="{FF2B5EF4-FFF2-40B4-BE49-F238E27FC236}">
                <a16:creationId xmlns:a16="http://schemas.microsoft.com/office/drawing/2014/main" id="{6129DDFA-8305-497A-87C6-8D4980ABFD12}"/>
              </a:ext>
            </a:extLst>
          </p:cNvPr>
          <p:cNvSpPr>
            <a:spLocks xmlns:a="http://schemas.openxmlformats.org/drawingml/2006/main" noGrp="1"/>
          </p:cNvSpPr>
          <p:nvPr/>
        </p:nvSpPr>
        <p:spPr>
          <a:xfrm xmlns:a="http://schemas.openxmlformats.org/drawingml/2006/main">
            <a:off x="1000125" y="45529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FAFAF6"/>
                </a:solidFill>
                <a:latin typeface="Menlo"/>
                <a:ea typeface="Menlo"/>
                <a:cs typeface="Menlo"/>
              </a:defRPr>
            </a:pPr>
            <a:r>
              <a:rPr sz="1800" b="0">
                <a:solidFill>
                  <a:srgbClr val="FAFAF6"/>
                </a:solidFill>
                <a:latin typeface="Menlo"/>
                <a:ea typeface="Menlo"/>
                <a:cs typeface="Menlo"/>
              </a:rPr>
              <a:t>});</a:t>
            </a:r>
          </a:p>
        </p:txBody>
      </p:sp>
      <p:sp>
        <p:nvSpPr>
          <p:cNvPr id="20" name="text-111">
            <a:extLst xmlns:a="http://schemas.openxmlformats.org/drawingml/2006/main">
              <a:ext uri="{FF2B5EF4-FFF2-40B4-BE49-F238E27FC236}">
                <a16:creationId xmlns:a16="http://schemas.microsoft.com/office/drawing/2014/main" id="{359E125F-CD51-44FE-B0AE-92089057B83C}"/>
              </a:ext>
            </a:extLst>
          </p:cNvPr>
          <p:cNvSpPr>
            <a:spLocks xmlns:a="http://schemas.openxmlformats.org/drawingml/2006/main" noGrp="1"/>
          </p:cNvSpPr>
          <p:nvPr/>
        </p:nvSpPr>
        <p:spPr>
          <a:xfrm xmlns:a="http://schemas.openxmlformats.org/drawingml/2006/main">
            <a:off x="533400" y="48863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07</a:t>
            </a:r>
          </a:p>
        </p:txBody>
      </p:sp>
      <p:sp>
        <p:nvSpPr>
          <p:cNvPr id="21" name="text-112">
            <a:extLst xmlns:a="http://schemas.openxmlformats.org/drawingml/2006/main">
              <a:ext uri="{FF2B5EF4-FFF2-40B4-BE49-F238E27FC236}">
                <a16:creationId xmlns:a16="http://schemas.microsoft.com/office/drawing/2014/main" id="{9A834446-58C7-41E3-A79D-7966858DB71F}"/>
              </a:ext>
            </a:extLst>
          </p:cNvPr>
          <p:cNvSpPr>
            <a:spLocks xmlns:a="http://schemas.openxmlformats.org/drawingml/2006/main" noGrp="1"/>
          </p:cNvSpPr>
          <p:nvPr/>
        </p:nvSpPr>
        <p:spPr>
          <a:xfrm xmlns:a="http://schemas.openxmlformats.org/drawingml/2006/main">
            <a:off x="1000125" y="48577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r>
              <a:t/>
            </a:r>
          </a:p>
        </p:txBody>
      </p:sp>
      <p:sp>
        <p:nvSpPr>
          <p:cNvPr id="22" name="text-113">
            <a:extLst xmlns:a="http://schemas.openxmlformats.org/drawingml/2006/main">
              <a:ext uri="{FF2B5EF4-FFF2-40B4-BE49-F238E27FC236}">
                <a16:creationId xmlns:a16="http://schemas.microsoft.com/office/drawing/2014/main" id="{D2F7DD15-CD38-46EE-A060-16DF362F0D80}"/>
              </a:ext>
            </a:extLst>
          </p:cNvPr>
          <p:cNvSpPr>
            <a:spLocks xmlns:a="http://schemas.openxmlformats.org/drawingml/2006/main" noGrp="1"/>
          </p:cNvSpPr>
          <p:nvPr/>
        </p:nvSpPr>
        <p:spPr>
          <a:xfrm xmlns:a="http://schemas.openxmlformats.org/drawingml/2006/main">
            <a:off x="533400" y="51911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1B5AC"/>
                </a:solidFill>
                <a:latin typeface="Menlo"/>
                <a:ea typeface="Menlo"/>
                <a:cs typeface="Menlo"/>
              </a:defRPr>
            </a:pPr>
            <a:r>
              <a:rPr sz="1350" b="0">
                <a:solidFill>
                  <a:srgbClr val="B1B5AC"/>
                </a:solidFill>
                <a:latin typeface="Menlo"/>
                <a:ea typeface="Menlo"/>
                <a:cs typeface="Menlo"/>
              </a:rPr>
              <a:t>08</a:t>
            </a:r>
          </a:p>
        </p:txBody>
      </p:sp>
      <p:sp>
        <p:nvSpPr>
          <p:cNvPr id="23" name="text-114">
            <a:extLst xmlns:a="http://schemas.openxmlformats.org/drawingml/2006/main">
              <a:ext uri="{FF2B5EF4-FFF2-40B4-BE49-F238E27FC236}">
                <a16:creationId xmlns:a16="http://schemas.microsoft.com/office/drawing/2014/main" id="{82B08D99-AF13-4A0A-AC4F-1C7129316424}"/>
              </a:ext>
            </a:extLst>
          </p:cNvPr>
          <p:cNvSpPr>
            <a:spLocks xmlns:a="http://schemas.openxmlformats.org/drawingml/2006/main" noGrp="1"/>
          </p:cNvSpPr>
          <p:nvPr/>
        </p:nvSpPr>
        <p:spPr>
          <a:xfrm xmlns:a="http://schemas.openxmlformats.org/drawingml/2006/main">
            <a:off x="1000125" y="5162550"/>
            <a:ext cx="748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DCD7FF"/>
                </a:solidFill>
                <a:latin typeface="Menlo"/>
                <a:ea typeface="Menlo"/>
                <a:cs typeface="Menlo"/>
              </a:defRPr>
            </a:pPr>
            <a:r>
              <a:rPr sz="1800" b="0">
                <a:solidFill>
                  <a:srgbClr val="DCD7FF"/>
                </a:solidFill>
                <a:latin typeface="Menlo"/>
                <a:ea typeface="Menlo"/>
                <a:cs typeface="Menlo"/>
              </a:rPr>
              <a:t>const db = await envsync.get("DATABASE_URL");</a:t>
            </a:r>
          </a:p>
        </p:txBody>
      </p:sp>
      <p:sp>
        <p:nvSpPr>
          <p:cNvPr id="24" name="text-115">
            <a:extLst xmlns:a="http://schemas.openxmlformats.org/drawingml/2006/main">
              <a:ext uri="{FF2B5EF4-FFF2-40B4-BE49-F238E27FC236}">
                <a16:creationId xmlns:a16="http://schemas.microsoft.com/office/drawing/2014/main" id="{560DA89A-CB77-4A3B-951E-C9B91FF864D6}"/>
              </a:ext>
            </a:extLst>
          </p:cNvPr>
          <p:cNvSpPr>
            <a:spLocks xmlns:a="http://schemas.openxmlformats.org/drawingml/2006/main" noGrp="1"/>
          </p:cNvSpPr>
          <p:nvPr/>
        </p:nvSpPr>
        <p:spPr>
          <a:xfrm xmlns:a="http://schemas.openxmlformats.org/drawingml/2006/main">
            <a:off x="8782050" y="30480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APPLICATION</a:t>
            </a:r>
          </a:p>
        </p:txBody>
      </p:sp>
      <p:sp>
        <p:nvSpPr>
          <p:cNvPr id="25" name="text-116">
            <a:extLst xmlns:a="http://schemas.openxmlformats.org/drawingml/2006/main">
              <a:ext uri="{FF2B5EF4-FFF2-40B4-BE49-F238E27FC236}">
                <a16:creationId xmlns:a16="http://schemas.microsoft.com/office/drawing/2014/main" id="{C7E7D0F8-3AE3-4B17-A075-1019E5F9102A}"/>
              </a:ext>
            </a:extLst>
          </p:cNvPr>
          <p:cNvSpPr>
            <a:spLocks xmlns:a="http://schemas.openxmlformats.org/drawingml/2006/main" noGrp="1"/>
          </p:cNvSpPr>
          <p:nvPr/>
        </p:nvSpPr>
        <p:spPr>
          <a:xfrm xmlns:a="http://schemas.openxmlformats.org/drawingml/2006/main">
            <a:off x="8801100" y="3371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26" name="text-117">
            <a:extLst xmlns:a="http://schemas.openxmlformats.org/drawingml/2006/main">
              <a:ext uri="{FF2B5EF4-FFF2-40B4-BE49-F238E27FC236}">
                <a16:creationId xmlns:a16="http://schemas.microsoft.com/office/drawing/2014/main" id="{5FA61947-DC88-40C6-916F-1FCA445B5960}"/>
              </a:ext>
            </a:extLst>
          </p:cNvPr>
          <p:cNvSpPr>
            <a:spLocks xmlns:a="http://schemas.openxmlformats.org/drawingml/2006/main" noGrp="1"/>
          </p:cNvSpPr>
          <p:nvPr/>
        </p:nvSpPr>
        <p:spPr>
          <a:xfrm xmlns:a="http://schemas.openxmlformats.org/drawingml/2006/main">
            <a:off x="8782050" y="37338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SCOPED API KEY</a:t>
            </a:r>
          </a:p>
        </p:txBody>
      </p:sp>
      <p:sp>
        <p:nvSpPr>
          <p:cNvPr id="27" name="text-118">
            <a:extLst xmlns:a="http://schemas.openxmlformats.org/drawingml/2006/main">
              <a:ext uri="{FF2B5EF4-FFF2-40B4-BE49-F238E27FC236}">
                <a16:creationId xmlns:a16="http://schemas.microsoft.com/office/drawing/2014/main" id="{BE29AC96-B12E-4F88-9827-0B03D559D999}"/>
              </a:ext>
            </a:extLst>
          </p:cNvPr>
          <p:cNvSpPr>
            <a:spLocks xmlns:a="http://schemas.openxmlformats.org/drawingml/2006/main" noGrp="1"/>
          </p:cNvSpPr>
          <p:nvPr/>
        </p:nvSpPr>
        <p:spPr>
          <a:xfrm xmlns:a="http://schemas.openxmlformats.org/drawingml/2006/main">
            <a:off x="8801100" y="4057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28" name="text-119">
            <a:extLst xmlns:a="http://schemas.openxmlformats.org/drawingml/2006/main">
              <a:ext uri="{FF2B5EF4-FFF2-40B4-BE49-F238E27FC236}">
                <a16:creationId xmlns:a16="http://schemas.microsoft.com/office/drawing/2014/main" id="{CBCADF8E-962F-4677-A435-568B54576EAC}"/>
              </a:ext>
            </a:extLst>
          </p:cNvPr>
          <p:cNvSpPr>
            <a:spLocks xmlns:a="http://schemas.openxmlformats.org/drawingml/2006/main" noGrp="1"/>
          </p:cNvSpPr>
          <p:nvPr/>
        </p:nvSpPr>
        <p:spPr>
          <a:xfrm xmlns:a="http://schemas.openxmlformats.org/drawingml/2006/main">
            <a:off x="8782050" y="44196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ENVSYNC / DEV</a:t>
            </a:r>
          </a:p>
        </p:txBody>
      </p:sp>
      <p:sp>
        <p:nvSpPr>
          <p:cNvPr id="29" name="text-120">
            <a:extLst xmlns:a="http://schemas.openxmlformats.org/drawingml/2006/main">
              <a:ext uri="{FF2B5EF4-FFF2-40B4-BE49-F238E27FC236}">
                <a16:creationId xmlns:a16="http://schemas.microsoft.com/office/drawing/2014/main" id="{F7F6D3A7-5A39-4C67-81BC-BF9226130676}"/>
              </a:ext>
            </a:extLst>
          </p:cNvPr>
          <p:cNvSpPr>
            <a:spLocks xmlns:a="http://schemas.openxmlformats.org/drawingml/2006/main" noGrp="1"/>
          </p:cNvSpPr>
          <p:nvPr/>
        </p:nvSpPr>
        <p:spPr>
          <a:xfrm xmlns:a="http://schemas.openxmlformats.org/drawingml/2006/main">
            <a:off x="8801100" y="4743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DCD7FF"/>
                </a:solidFill>
                <a:latin typeface="Arial"/>
                <a:ea typeface="Arial"/>
                <a:cs typeface="Arial"/>
              </a:defRPr>
            </a:pPr>
            <a:r>
              <a:rPr sz="1875" b="0">
                <a:solidFill>
                  <a:srgbClr val="DCD7FF"/>
                </a:solidFill>
                <a:latin typeface="Arial"/>
                <a:ea typeface="Arial"/>
                <a:cs typeface="Arial"/>
              </a:rPr>
              <a:t>↓</a:t>
            </a:r>
          </a:p>
        </p:txBody>
      </p:sp>
      <p:sp>
        <p:nvSpPr>
          <p:cNvPr id="30" name="text-121">
            <a:extLst xmlns:a="http://schemas.openxmlformats.org/drawingml/2006/main">
              <a:ext uri="{FF2B5EF4-FFF2-40B4-BE49-F238E27FC236}">
                <a16:creationId xmlns:a16="http://schemas.microsoft.com/office/drawing/2014/main" id="{701B3FF4-9D38-406E-92D8-5E9120BF5BEC}"/>
              </a:ext>
            </a:extLst>
          </p:cNvPr>
          <p:cNvSpPr>
            <a:spLocks xmlns:a="http://schemas.openxmlformats.org/drawingml/2006/main" noGrp="1"/>
          </p:cNvSpPr>
          <p:nvPr/>
        </p:nvSpPr>
        <p:spPr>
          <a:xfrm xmlns:a="http://schemas.openxmlformats.org/drawingml/2006/main">
            <a:off x="8782050" y="51054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FAFAF6"/>
                </a:solidFill>
                <a:latin typeface="Menlo"/>
                <a:ea typeface="Menlo"/>
                <a:cs typeface="Menlo"/>
              </a:defRPr>
            </a:pPr>
            <a:r>
              <a:rPr sz="1650" b="1">
                <a:solidFill>
                  <a:srgbClr val="FAFAF6"/>
                </a:solidFill>
                <a:latin typeface="Menlo"/>
                <a:ea typeface="Menlo"/>
                <a:cs typeface="Menlo"/>
              </a:rPr>
              <a:t>DATABASE_URL</a:t>
            </a:r>
          </a:p>
        </p:txBody>
      </p:sp>
      <p:sp>
        <p:nvSpPr>
          <p:cNvPr id="31" name="text-122">
            <a:extLst xmlns:a="http://schemas.openxmlformats.org/drawingml/2006/main">
              <a:ext uri="{FF2B5EF4-FFF2-40B4-BE49-F238E27FC236}">
                <a16:creationId xmlns:a16="http://schemas.microsoft.com/office/drawing/2014/main" id="{98EF8A3C-4CFD-40EE-AF81-6F464F556AD9}"/>
              </a:ext>
            </a:extLst>
          </p:cNvPr>
          <p:cNvSpPr>
            <a:spLocks xmlns:a="http://schemas.openxmlformats.org/drawingml/2006/main" noGrp="1"/>
          </p:cNvSpPr>
          <p:nvPr/>
        </p:nvSpPr>
        <p:spPr>
          <a:xfrm xmlns:a="http://schemas.openxmlformats.org/drawingml/2006/main">
            <a:off x="533400" y="5838825"/>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ALSO IMPLEMENTED: PYTHON / envsync</a:t>
            </a:r>
          </a:p>
        </p:txBody>
      </p:sp>
    </p:spTree>
    <p:extLst>
      <p:ext uri="{BB962C8B-B14F-4D97-AF65-F5344CB8AC3E}">
        <p14:creationId xmlns:p14="http://schemas.microsoft.com/office/powerpoint/2010/main" val="295805780"/>
      </p:ext>
    </p:extLst>
  </p:cSld>
</p:sld>
</file>

<file path=ppt/slides/slide7.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8a81f3cf0cf4666">
            <a:extLst>
              <a:ext uri="{96DAC541-7B7A-43D3-8B79-37D633B846F1}">
                <asvg:svgBlip xmlns:asvg="http://schemas.microsoft.com/office/drawing/2016/SVG/main" r:embed="Rbdc9ef92dde44d17"/>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123">
            <a:extLst xmlns:a="http://schemas.openxmlformats.org/drawingml/2006/main">
              <a:ext uri="{FF2B5EF4-FFF2-40B4-BE49-F238E27FC236}">
                <a16:creationId xmlns:a16="http://schemas.microsoft.com/office/drawing/2014/main" id="{21254793-5233-458A-857D-CBD77E480558}"/>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3" name="text-124">
            <a:extLst xmlns:a="http://schemas.openxmlformats.org/drawingml/2006/main">
              <a:ext uri="{FF2B5EF4-FFF2-40B4-BE49-F238E27FC236}">
                <a16:creationId xmlns:a16="http://schemas.microsoft.com/office/drawing/2014/main" id="{36EEC6EE-CF4B-4AF2-AB82-B9FD1BBFB13B}"/>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sp>
        <p:nvSpPr>
          <p:cNvPr id="4" name="text-125">
            <a:extLst xmlns:a="http://schemas.openxmlformats.org/drawingml/2006/main">
              <a:ext uri="{FF2B5EF4-FFF2-40B4-BE49-F238E27FC236}">
                <a16:creationId xmlns:a16="http://schemas.microsoft.com/office/drawing/2014/main" id="{B207D5EC-F3B1-44CF-B6AE-EAF1FDBFFDA3}"/>
              </a:ext>
            </a:extLst>
          </p:cNvPr>
          <p:cNvSpPr>
            <a:spLocks xmlns:a="http://schemas.openxmlformats.org/drawingml/2006/main" noGrp="1"/>
          </p:cNvSpPr>
          <p:nvPr/>
        </p:nvSpPr>
        <p:spPr>
          <a:xfrm xmlns:a="http://schemas.openxmlformats.org/drawingml/2006/main">
            <a:off x="533400" y="94297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AFAF6"/>
                </a:solidFill>
                <a:latin typeface="Arial"/>
                <a:ea typeface="Arial"/>
                <a:cs typeface="Arial"/>
              </a:defRPr>
            </a:pPr>
            <a:r>
              <a:rPr sz="4200" b="1">
                <a:solidFill>
                  <a:srgbClr val="FAFAF6"/>
                </a:solidFill>
                <a:latin typeface="Arial"/>
                <a:ea typeface="Arial"/>
                <a:cs typeface="Arial"/>
              </a:rPr>
              <a:t>Give your agents a workspace.</a:t>
            </a:r>
          </a:p>
        </p:txBody>
      </p:sp>
      <p:sp>
        <p:nvSpPr>
          <p:cNvPr id="5" name="text-126">
            <a:extLst xmlns:a="http://schemas.openxmlformats.org/drawingml/2006/main">
              <a:ext uri="{FF2B5EF4-FFF2-40B4-BE49-F238E27FC236}">
                <a16:creationId xmlns:a16="http://schemas.microsoft.com/office/drawing/2014/main" id="{205976CA-8522-443E-A7B1-34ADDB4304D3}"/>
              </a:ext>
            </a:extLst>
          </p:cNvPr>
          <p:cNvSpPr>
            <a:spLocks xmlns:a="http://schemas.openxmlformats.org/drawingml/2006/main" noGrp="1"/>
          </p:cNvSpPr>
          <p:nvPr/>
        </p:nvSpPr>
        <p:spPr>
          <a:xfrm xmlns:a="http://schemas.openxmlformats.org/drawingml/2006/main">
            <a:off x="533400" y="15621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AFAF6"/>
                </a:solidFill>
                <a:latin typeface="Arial"/>
                <a:ea typeface="Arial"/>
                <a:cs typeface="Arial"/>
              </a:defRPr>
            </a:pPr>
            <a:r>
              <a:rPr sz="4200" b="1">
                <a:solidFill>
                  <a:srgbClr val="FAFAF6"/>
                </a:solidFill>
                <a:latin typeface="Arial"/>
                <a:ea typeface="Arial"/>
                <a:cs typeface="Arial"/>
              </a:rPr>
              <a:t>Not your entire vault.</a:t>
            </a:r>
          </a:p>
        </p:txBody>
      </p:sp>
      <p:sp>
        <p:nvSpPr>
          <p:cNvPr id="6" name="shape-127">
            <a:extLst xmlns:a="http://schemas.openxmlformats.org/drawingml/2006/main">
              <a:ext uri="{FF2B5EF4-FFF2-40B4-BE49-F238E27FC236}">
                <a16:creationId xmlns:a16="http://schemas.microsoft.com/office/drawing/2014/main" id="{C74681DB-066E-4E30-89D0-14ACC38779A5}"/>
              </a:ext>
            </a:extLst>
          </p:cNvPr>
          <p:cNvSpPr>
            <a:spLocks xmlns:a="http://schemas.openxmlformats.org/drawingml/2006/main" noGrp="1"/>
          </p:cNvSpPr>
          <p:nvPr/>
        </p:nvSpPr>
        <p:spPr>
          <a:xfrm xmlns:a="http://schemas.openxmlformats.org/drawingml/2006/main">
            <a:off x="533400" y="2543175"/>
            <a:ext cx="3190875" cy="638175"/>
          </a:xfrm>
          <a:prstGeom xmlns:a="http://schemas.openxmlformats.org/drawingml/2006/main" prst="rect">
            <a:avLst/>
          </a:prstGeom>
          <a:solidFill xmlns:a="http://schemas.openxmlformats.org/drawingml/2006/main">
            <a:srgbClr val="191A1A"/>
          </a:solidFill>
          <a:ln xmlns:a="http://schemas.openxmlformats.org/drawingml/2006/main" w="9525">
            <a:solidFill>
              <a:srgbClr val="454741"/>
            </a:solidFill>
          </a:ln>
        </p:spPr>
      </p:sp>
      <p:sp>
        <p:nvSpPr>
          <p:cNvPr id="7" name="text-128">
            <a:extLst xmlns:a="http://schemas.openxmlformats.org/drawingml/2006/main">
              <a:ext uri="{FF2B5EF4-FFF2-40B4-BE49-F238E27FC236}">
                <a16:creationId xmlns:a16="http://schemas.microsoft.com/office/drawing/2014/main" id="{C144C7CE-890C-40C9-90EE-6150934E1041}"/>
              </a:ext>
            </a:extLst>
          </p:cNvPr>
          <p:cNvSpPr>
            <a:spLocks xmlns:a="http://schemas.openxmlformats.org/drawingml/2006/main" noGrp="1"/>
          </p:cNvSpPr>
          <p:nvPr/>
        </p:nvSpPr>
        <p:spPr>
          <a:xfrm xmlns:a="http://schemas.openxmlformats.org/drawingml/2006/main">
            <a:off x="70485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CONNECT</a:t>
            </a:r>
          </a:p>
        </p:txBody>
      </p:sp>
      <p:sp>
        <p:nvSpPr>
          <p:cNvPr id="8" name="text-129">
            <a:extLst xmlns:a="http://schemas.openxmlformats.org/drawingml/2006/main">
              <a:ext uri="{FF2B5EF4-FFF2-40B4-BE49-F238E27FC236}">
                <a16:creationId xmlns:a16="http://schemas.microsoft.com/office/drawing/2014/main" id="{BF6382CE-9AAB-462E-ABD9-ED2597E24F35}"/>
              </a:ext>
            </a:extLst>
          </p:cNvPr>
          <p:cNvSpPr>
            <a:spLocks xmlns:a="http://schemas.openxmlformats.org/drawingml/2006/main" noGrp="1"/>
          </p:cNvSpPr>
          <p:nvPr/>
        </p:nvSpPr>
        <p:spPr>
          <a:xfrm xmlns:a="http://schemas.openxmlformats.org/drawingml/2006/main">
            <a:off x="3886200" y="2638425"/>
            <a:ext cx="33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DCD7FF"/>
                </a:solidFill>
                <a:latin typeface="Arial"/>
                <a:ea typeface="Arial"/>
                <a:cs typeface="Arial"/>
              </a:defRPr>
            </a:pPr>
            <a:r>
              <a:rPr sz="2550" b="0">
                <a:solidFill>
                  <a:srgbClr val="DCD7FF"/>
                </a:solidFill>
                <a:latin typeface="Arial"/>
                <a:ea typeface="Arial"/>
                <a:cs typeface="Arial"/>
              </a:rPr>
              <a:t>→</a:t>
            </a:r>
          </a:p>
        </p:txBody>
      </p:sp>
      <p:sp>
        <p:nvSpPr>
          <p:cNvPr id="9" name="shape-130">
            <a:extLst xmlns:a="http://schemas.openxmlformats.org/drawingml/2006/main">
              <a:ext uri="{FF2B5EF4-FFF2-40B4-BE49-F238E27FC236}">
                <a16:creationId xmlns:a16="http://schemas.microsoft.com/office/drawing/2014/main" id="{BF2EB7F9-BF66-4A26-AB75-E51E857B569E}"/>
              </a:ext>
            </a:extLst>
          </p:cNvPr>
          <p:cNvSpPr>
            <a:spLocks xmlns:a="http://schemas.openxmlformats.org/drawingml/2006/main" noGrp="1"/>
          </p:cNvSpPr>
          <p:nvPr/>
        </p:nvSpPr>
        <p:spPr>
          <a:xfrm xmlns:a="http://schemas.openxmlformats.org/drawingml/2006/main">
            <a:off x="4210050" y="2543175"/>
            <a:ext cx="3190875" cy="638175"/>
          </a:xfrm>
          <a:prstGeom xmlns:a="http://schemas.openxmlformats.org/drawingml/2006/main" prst="rect">
            <a:avLst/>
          </a:prstGeom>
          <a:solidFill xmlns:a="http://schemas.openxmlformats.org/drawingml/2006/main">
            <a:srgbClr val="191A1A"/>
          </a:solidFill>
          <a:ln xmlns:a="http://schemas.openxmlformats.org/drawingml/2006/main" w="9525">
            <a:solidFill>
              <a:srgbClr val="454741"/>
            </a:solidFill>
          </a:ln>
        </p:spPr>
      </p:sp>
      <p:sp>
        <p:nvSpPr>
          <p:cNvPr id="10" name="text-131">
            <a:extLst xmlns:a="http://schemas.openxmlformats.org/drawingml/2006/main">
              <a:ext uri="{FF2B5EF4-FFF2-40B4-BE49-F238E27FC236}">
                <a16:creationId xmlns:a16="http://schemas.microsoft.com/office/drawing/2014/main" id="{B849B060-267F-4DFA-93A8-FC7A8717D7BC}"/>
              </a:ext>
            </a:extLst>
          </p:cNvPr>
          <p:cNvSpPr>
            <a:spLocks xmlns:a="http://schemas.openxmlformats.org/drawingml/2006/main" noGrp="1"/>
          </p:cNvSpPr>
          <p:nvPr/>
        </p:nvSpPr>
        <p:spPr>
          <a:xfrm xmlns:a="http://schemas.openxmlformats.org/drawingml/2006/main">
            <a:off x="438150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PENDING</a:t>
            </a:r>
          </a:p>
        </p:txBody>
      </p:sp>
      <p:sp>
        <p:nvSpPr>
          <p:cNvPr id="11" name="text-132">
            <a:extLst xmlns:a="http://schemas.openxmlformats.org/drawingml/2006/main">
              <a:ext uri="{FF2B5EF4-FFF2-40B4-BE49-F238E27FC236}">
                <a16:creationId xmlns:a16="http://schemas.microsoft.com/office/drawing/2014/main" id="{B3052D3F-D749-4860-BA8A-24EEDE46C13A}"/>
              </a:ext>
            </a:extLst>
          </p:cNvPr>
          <p:cNvSpPr>
            <a:spLocks xmlns:a="http://schemas.openxmlformats.org/drawingml/2006/main" noGrp="1"/>
          </p:cNvSpPr>
          <p:nvPr/>
        </p:nvSpPr>
        <p:spPr>
          <a:xfrm xmlns:a="http://schemas.openxmlformats.org/drawingml/2006/main">
            <a:off x="7562850" y="2638425"/>
            <a:ext cx="33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DCD7FF"/>
                </a:solidFill>
                <a:latin typeface="Arial"/>
                <a:ea typeface="Arial"/>
                <a:cs typeface="Arial"/>
              </a:defRPr>
            </a:pPr>
            <a:r>
              <a:rPr sz="2550" b="0">
                <a:solidFill>
                  <a:srgbClr val="DCD7FF"/>
                </a:solidFill>
                <a:latin typeface="Arial"/>
                <a:ea typeface="Arial"/>
                <a:cs typeface="Arial"/>
              </a:rPr>
              <a:t>→</a:t>
            </a:r>
          </a:p>
        </p:txBody>
      </p:sp>
      <p:sp>
        <p:nvSpPr>
          <p:cNvPr id="12" name="shape-133">
            <a:extLst xmlns:a="http://schemas.openxmlformats.org/drawingml/2006/main">
              <a:ext uri="{FF2B5EF4-FFF2-40B4-BE49-F238E27FC236}">
                <a16:creationId xmlns:a16="http://schemas.microsoft.com/office/drawing/2014/main" id="{49D8EB16-87A4-42F3-B573-E48A54660938}"/>
              </a:ext>
            </a:extLst>
          </p:cNvPr>
          <p:cNvSpPr>
            <a:spLocks xmlns:a="http://schemas.openxmlformats.org/drawingml/2006/main" noGrp="1"/>
          </p:cNvSpPr>
          <p:nvPr/>
        </p:nvSpPr>
        <p:spPr>
          <a:xfrm xmlns:a="http://schemas.openxmlformats.org/drawingml/2006/main">
            <a:off x="7886700" y="2543175"/>
            <a:ext cx="3190875" cy="638175"/>
          </a:xfrm>
          <a:prstGeom xmlns:a="http://schemas.openxmlformats.org/drawingml/2006/main" prst="rect">
            <a:avLst/>
          </a:prstGeom>
          <a:solidFill xmlns:a="http://schemas.openxmlformats.org/drawingml/2006/main">
            <a:srgbClr val="6D5EF4"/>
          </a:solidFill>
          <a:ln xmlns:a="http://schemas.openxmlformats.org/drawingml/2006/main" w="9525">
            <a:solidFill>
              <a:srgbClr val="6D5EF4"/>
            </a:solidFill>
          </a:ln>
        </p:spPr>
      </p:sp>
      <p:sp>
        <p:nvSpPr>
          <p:cNvPr id="13" name="text-134">
            <a:extLst xmlns:a="http://schemas.openxmlformats.org/drawingml/2006/main">
              <a:ext uri="{FF2B5EF4-FFF2-40B4-BE49-F238E27FC236}">
                <a16:creationId xmlns:a16="http://schemas.microsoft.com/office/drawing/2014/main" id="{A6A579FB-3851-4FB3-9821-9486AA2BDCB7}"/>
              </a:ext>
            </a:extLst>
          </p:cNvPr>
          <p:cNvSpPr>
            <a:spLocks xmlns:a="http://schemas.openxmlformats.org/drawingml/2006/main" noGrp="1"/>
          </p:cNvSpPr>
          <p:nvPr/>
        </p:nvSpPr>
        <p:spPr>
          <a:xfrm xmlns:a="http://schemas.openxmlformats.org/drawingml/2006/main">
            <a:off x="8058150" y="2705100"/>
            <a:ext cx="2847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FAFAF6"/>
                </a:solidFill>
                <a:latin typeface="Arial"/>
                <a:ea typeface="Arial"/>
                <a:cs typeface="Arial"/>
              </a:defRPr>
            </a:pPr>
            <a:r>
              <a:rPr sz="1800" b="1">
                <a:solidFill>
                  <a:srgbClr val="FAFAF6"/>
                </a:solidFill>
                <a:latin typeface="Arial"/>
                <a:ea typeface="Arial"/>
                <a:cs typeface="Arial"/>
              </a:rPr>
              <a:t>HUMAN APPROVAL</a:t>
            </a:r>
          </a:p>
        </p:txBody>
      </p:sp>
      <p:sp>
        <p:nvSpPr>
          <p:cNvPr id="14" name="text-135">
            <a:extLst xmlns:a="http://schemas.openxmlformats.org/drawingml/2006/main">
              <a:ext uri="{FF2B5EF4-FFF2-40B4-BE49-F238E27FC236}">
                <a16:creationId xmlns:a16="http://schemas.microsoft.com/office/drawing/2014/main" id="{A51FEA09-649F-4C05-8C47-A52C7B4444C4}"/>
              </a:ext>
            </a:extLst>
          </p:cNvPr>
          <p:cNvSpPr>
            <a:spLocks xmlns:a="http://schemas.openxmlformats.org/drawingml/2006/main" noGrp="1"/>
          </p:cNvSpPr>
          <p:nvPr/>
        </p:nvSpPr>
        <p:spPr>
          <a:xfrm xmlns:a="http://schemas.openxmlformats.org/drawingml/2006/main">
            <a:off x="533400" y="35528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BACKEND CODING AGENT / MCP / PREVIEW</a:t>
            </a:r>
          </a:p>
        </p:txBody>
      </p:sp>
      <p:sp>
        <p:nvSpPr>
          <p:cNvPr id="15" name="shape-136">
            <a:extLst xmlns:a="http://schemas.openxmlformats.org/drawingml/2006/main">
              <a:ext uri="{FF2B5EF4-FFF2-40B4-BE49-F238E27FC236}">
                <a16:creationId xmlns:a16="http://schemas.microsoft.com/office/drawing/2014/main" id="{91B0B6B4-6108-4148-8027-0CF43923113C}"/>
              </a:ext>
            </a:extLst>
          </p:cNvPr>
          <p:cNvSpPr>
            <a:spLocks xmlns:a="http://schemas.openxmlformats.org/drawingml/2006/main" noGrp="1"/>
          </p:cNvSpPr>
          <p:nvPr/>
        </p:nvSpPr>
        <p:spPr>
          <a:xfrm xmlns:a="http://schemas.openxmlformats.org/drawingml/2006/main">
            <a:off x="533400" y="39338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16" name="text-137">
            <a:extLst xmlns:a="http://schemas.openxmlformats.org/drawingml/2006/main">
              <a:ext uri="{FF2B5EF4-FFF2-40B4-BE49-F238E27FC236}">
                <a16:creationId xmlns:a16="http://schemas.microsoft.com/office/drawing/2014/main" id="{0E24956C-B9DB-4C45-8A90-13CAE48837B7}"/>
              </a:ext>
            </a:extLst>
          </p:cNvPr>
          <p:cNvSpPr>
            <a:spLocks xmlns:a="http://schemas.openxmlformats.org/drawingml/2006/main" noGrp="1"/>
          </p:cNvSpPr>
          <p:nvPr/>
        </p:nvSpPr>
        <p:spPr>
          <a:xfrm xmlns:a="http://schemas.openxmlformats.org/drawingml/2006/main">
            <a:off x="533400" y="40481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DEVELOPMENT</a:t>
            </a:r>
          </a:p>
        </p:txBody>
      </p:sp>
      <p:sp>
        <p:nvSpPr>
          <p:cNvPr id="17" name="text-138">
            <a:extLst xmlns:a="http://schemas.openxmlformats.org/drawingml/2006/main">
              <a:ext uri="{FF2B5EF4-FFF2-40B4-BE49-F238E27FC236}">
                <a16:creationId xmlns:a16="http://schemas.microsoft.com/office/drawing/2014/main" id="{23EC695A-68DE-42C1-9F21-628CF6A0D096}"/>
              </a:ext>
            </a:extLst>
          </p:cNvPr>
          <p:cNvSpPr>
            <a:spLocks xmlns:a="http://schemas.openxmlformats.org/drawingml/2006/main" noGrp="1"/>
          </p:cNvSpPr>
          <p:nvPr/>
        </p:nvSpPr>
        <p:spPr>
          <a:xfrm xmlns:a="http://schemas.openxmlformats.org/drawingml/2006/main">
            <a:off x="4667250" y="40767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DCD7FF"/>
                </a:solidFill>
                <a:latin typeface="Menlo"/>
                <a:ea typeface="Menlo"/>
                <a:cs typeface="Menlo"/>
              </a:defRPr>
            </a:pPr>
            <a:r>
              <a:rPr sz="1725" b="0">
                <a:solidFill>
                  <a:srgbClr val="DCD7FF"/>
                </a:solidFill>
                <a:latin typeface="Menlo"/>
                <a:ea typeface="Menlo"/>
                <a:cs typeface="Menlo"/>
              </a:rPr>
              <a:t>READ + WRITE</a:t>
            </a:r>
          </a:p>
        </p:txBody>
      </p:sp>
      <p:sp>
        <p:nvSpPr>
          <p:cNvPr id="18" name="text-139">
            <a:extLst xmlns:a="http://schemas.openxmlformats.org/drawingml/2006/main">
              <a:ext uri="{FF2B5EF4-FFF2-40B4-BE49-F238E27FC236}">
                <a16:creationId xmlns:a16="http://schemas.microsoft.com/office/drawing/2014/main" id="{E44EEF62-1E38-4DB2-AD12-137BBC4B45D0}"/>
              </a:ext>
            </a:extLst>
          </p:cNvPr>
          <p:cNvSpPr>
            <a:spLocks xmlns:a="http://schemas.openxmlformats.org/drawingml/2006/main" noGrp="1"/>
          </p:cNvSpPr>
          <p:nvPr/>
        </p:nvSpPr>
        <p:spPr>
          <a:xfrm xmlns:a="http://schemas.openxmlformats.org/drawingml/2006/main">
            <a:off x="8905875" y="40195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DCD7FF"/>
                </a:solidFill>
                <a:latin typeface="Menlo"/>
                <a:ea typeface="Menlo"/>
                <a:cs typeface="Menlo"/>
              </a:defRPr>
            </a:pPr>
            <a:r>
              <a:rPr sz="2175" b="0">
                <a:solidFill>
                  <a:srgbClr val="DCD7FF"/>
                </a:solidFill>
                <a:latin typeface="Menlo"/>
                <a:ea typeface="Menlo"/>
                <a:cs typeface="Menlo"/>
              </a:rPr>
              <a:t>03 : 42 : 18</a:t>
            </a:r>
          </a:p>
        </p:txBody>
      </p:sp>
      <p:sp>
        <p:nvSpPr>
          <p:cNvPr id="19" name="shape-140">
            <a:extLst xmlns:a="http://schemas.openxmlformats.org/drawingml/2006/main">
              <a:ext uri="{FF2B5EF4-FFF2-40B4-BE49-F238E27FC236}">
                <a16:creationId xmlns:a16="http://schemas.microsoft.com/office/drawing/2014/main" id="{900021ED-F879-4632-8C08-A3D9E3B03F95}"/>
              </a:ext>
            </a:extLst>
          </p:cNvPr>
          <p:cNvSpPr>
            <a:spLocks xmlns:a="http://schemas.openxmlformats.org/drawingml/2006/main" noGrp="1"/>
          </p:cNvSpPr>
          <p:nvPr/>
        </p:nvSpPr>
        <p:spPr>
          <a:xfrm xmlns:a="http://schemas.openxmlformats.org/drawingml/2006/main">
            <a:off x="533400" y="45434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20" name="text-141">
            <a:extLst xmlns:a="http://schemas.openxmlformats.org/drawingml/2006/main">
              <a:ext uri="{FF2B5EF4-FFF2-40B4-BE49-F238E27FC236}">
                <a16:creationId xmlns:a16="http://schemas.microsoft.com/office/drawing/2014/main" id="{03E165BA-0973-47A6-BD37-6A8A596620CE}"/>
              </a:ext>
            </a:extLst>
          </p:cNvPr>
          <p:cNvSpPr>
            <a:spLocks xmlns:a="http://schemas.openxmlformats.org/drawingml/2006/main" noGrp="1"/>
          </p:cNvSpPr>
          <p:nvPr/>
        </p:nvSpPr>
        <p:spPr>
          <a:xfrm xmlns:a="http://schemas.openxmlformats.org/drawingml/2006/main">
            <a:off x="533400" y="46577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TESTING</a:t>
            </a:r>
          </a:p>
        </p:txBody>
      </p:sp>
      <p:sp>
        <p:nvSpPr>
          <p:cNvPr id="21" name="text-142">
            <a:extLst xmlns:a="http://schemas.openxmlformats.org/drawingml/2006/main">
              <a:ext uri="{FF2B5EF4-FFF2-40B4-BE49-F238E27FC236}">
                <a16:creationId xmlns:a16="http://schemas.microsoft.com/office/drawing/2014/main" id="{EAA96064-3719-46F0-90A7-14899E6AF132}"/>
              </a:ext>
            </a:extLst>
          </p:cNvPr>
          <p:cNvSpPr>
            <a:spLocks xmlns:a="http://schemas.openxmlformats.org/drawingml/2006/main" noGrp="1"/>
          </p:cNvSpPr>
          <p:nvPr/>
        </p:nvSpPr>
        <p:spPr>
          <a:xfrm xmlns:a="http://schemas.openxmlformats.org/drawingml/2006/main">
            <a:off x="4667250" y="46863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FAFAF6"/>
                </a:solidFill>
                <a:latin typeface="Menlo"/>
                <a:ea typeface="Menlo"/>
                <a:cs typeface="Menlo"/>
              </a:defRPr>
            </a:pPr>
            <a:r>
              <a:rPr sz="1725" b="0">
                <a:solidFill>
                  <a:srgbClr val="FAFAF6"/>
                </a:solidFill>
                <a:latin typeface="Menlo"/>
                <a:ea typeface="Menlo"/>
                <a:cs typeface="Menlo"/>
              </a:rPr>
              <a:t>READ</a:t>
            </a:r>
          </a:p>
        </p:txBody>
      </p:sp>
      <p:sp>
        <p:nvSpPr>
          <p:cNvPr id="22" name="text-143">
            <a:extLst xmlns:a="http://schemas.openxmlformats.org/drawingml/2006/main">
              <a:ext uri="{FF2B5EF4-FFF2-40B4-BE49-F238E27FC236}">
                <a16:creationId xmlns:a16="http://schemas.microsoft.com/office/drawing/2014/main" id="{416B6DD4-DE94-4664-8C3E-8468F9EAD02A}"/>
              </a:ext>
            </a:extLst>
          </p:cNvPr>
          <p:cNvSpPr>
            <a:spLocks xmlns:a="http://schemas.openxmlformats.org/drawingml/2006/main" noGrp="1"/>
          </p:cNvSpPr>
          <p:nvPr/>
        </p:nvSpPr>
        <p:spPr>
          <a:xfrm xmlns:a="http://schemas.openxmlformats.org/drawingml/2006/main">
            <a:off x="8905875" y="46291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AFAF6"/>
                </a:solidFill>
                <a:latin typeface="Menlo"/>
                <a:ea typeface="Menlo"/>
                <a:cs typeface="Menlo"/>
              </a:defRPr>
            </a:pPr>
            <a:r>
              <a:rPr sz="2175" b="0">
                <a:solidFill>
                  <a:srgbClr val="FAFAF6"/>
                </a:solidFill>
                <a:latin typeface="Menlo"/>
                <a:ea typeface="Menlo"/>
                <a:cs typeface="Menlo"/>
              </a:rPr>
              <a:t>23 : 42 : 18</a:t>
            </a:r>
          </a:p>
        </p:txBody>
      </p:sp>
      <p:sp>
        <p:nvSpPr>
          <p:cNvPr id="23" name="shape-144">
            <a:extLst xmlns:a="http://schemas.openxmlformats.org/drawingml/2006/main">
              <a:ext uri="{FF2B5EF4-FFF2-40B4-BE49-F238E27FC236}">
                <a16:creationId xmlns:a16="http://schemas.microsoft.com/office/drawing/2014/main" id="{A2AB578E-73BB-46EF-955C-04BA2A55240C}"/>
              </a:ext>
            </a:extLst>
          </p:cNvPr>
          <p:cNvSpPr>
            <a:spLocks xmlns:a="http://schemas.openxmlformats.org/drawingml/2006/main" noGrp="1"/>
          </p:cNvSpPr>
          <p:nvPr/>
        </p:nvSpPr>
        <p:spPr>
          <a:xfrm xmlns:a="http://schemas.openxmlformats.org/drawingml/2006/main">
            <a:off x="533400" y="515302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24" name="text-145">
            <a:extLst xmlns:a="http://schemas.openxmlformats.org/drawingml/2006/main">
              <a:ext uri="{FF2B5EF4-FFF2-40B4-BE49-F238E27FC236}">
                <a16:creationId xmlns:a16="http://schemas.microsoft.com/office/drawing/2014/main" id="{338BFADC-AB70-48BF-882F-2CD027417BC4}"/>
              </a:ext>
            </a:extLst>
          </p:cNvPr>
          <p:cNvSpPr>
            <a:spLocks xmlns:a="http://schemas.openxmlformats.org/drawingml/2006/main" noGrp="1"/>
          </p:cNvSpPr>
          <p:nvPr/>
        </p:nvSpPr>
        <p:spPr>
          <a:xfrm xmlns:a="http://schemas.openxmlformats.org/drawingml/2006/main">
            <a:off x="533400" y="5267325"/>
            <a:ext cx="3905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FAFAF6"/>
                </a:solidFill>
                <a:latin typeface="Arial"/>
                <a:ea typeface="Arial"/>
                <a:cs typeface="Arial"/>
              </a:defRPr>
            </a:pPr>
            <a:r>
              <a:rPr sz="2025" b="1">
                <a:solidFill>
                  <a:srgbClr val="FAFAF6"/>
                </a:solidFill>
                <a:latin typeface="Arial"/>
                <a:ea typeface="Arial"/>
                <a:cs typeface="Arial"/>
              </a:rPr>
              <a:t>PRODUCTION</a:t>
            </a:r>
          </a:p>
        </p:txBody>
      </p:sp>
      <p:sp>
        <p:nvSpPr>
          <p:cNvPr id="25" name="text-146">
            <a:extLst xmlns:a="http://schemas.openxmlformats.org/drawingml/2006/main">
              <a:ext uri="{FF2B5EF4-FFF2-40B4-BE49-F238E27FC236}">
                <a16:creationId xmlns:a16="http://schemas.microsoft.com/office/drawing/2014/main" id="{3E9B9B39-7041-4EC3-823E-342889337326}"/>
              </a:ext>
            </a:extLst>
          </p:cNvPr>
          <p:cNvSpPr>
            <a:spLocks xmlns:a="http://schemas.openxmlformats.org/drawingml/2006/main" noGrp="1"/>
          </p:cNvSpPr>
          <p:nvPr/>
        </p:nvSpPr>
        <p:spPr>
          <a:xfrm xmlns:a="http://schemas.openxmlformats.org/drawingml/2006/main">
            <a:off x="4667250" y="5295900"/>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E59C93"/>
                </a:solidFill>
                <a:latin typeface="Menlo"/>
                <a:ea typeface="Menlo"/>
                <a:cs typeface="Menlo"/>
              </a:defRPr>
            </a:pPr>
            <a:r>
              <a:rPr sz="1725" b="0">
                <a:solidFill>
                  <a:srgbClr val="E59C93"/>
                </a:solidFill>
                <a:latin typeface="Menlo"/>
                <a:ea typeface="Menlo"/>
                <a:cs typeface="Menlo"/>
              </a:rPr>
              <a:t>DENIED</a:t>
            </a:r>
          </a:p>
        </p:txBody>
      </p:sp>
      <p:sp>
        <p:nvSpPr>
          <p:cNvPr id="26" name="text-147">
            <a:extLst xmlns:a="http://schemas.openxmlformats.org/drawingml/2006/main">
              <a:ext uri="{FF2B5EF4-FFF2-40B4-BE49-F238E27FC236}">
                <a16:creationId xmlns:a16="http://schemas.microsoft.com/office/drawing/2014/main" id="{E0040201-1F54-4EF1-A5EC-DF853E0A597E}"/>
              </a:ext>
            </a:extLst>
          </p:cNvPr>
          <p:cNvSpPr>
            <a:spLocks xmlns:a="http://schemas.openxmlformats.org/drawingml/2006/main" noGrp="1"/>
          </p:cNvSpPr>
          <p:nvPr/>
        </p:nvSpPr>
        <p:spPr>
          <a:xfrm xmlns:a="http://schemas.openxmlformats.org/drawingml/2006/main">
            <a:off x="8905875" y="52387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E59C93"/>
                </a:solidFill>
                <a:latin typeface="Menlo"/>
                <a:ea typeface="Menlo"/>
                <a:cs typeface="Menlo"/>
              </a:defRPr>
            </a:pPr>
            <a:r>
              <a:rPr sz="2175" b="0">
                <a:solidFill>
                  <a:srgbClr val="E59C93"/>
                </a:solidFill>
                <a:latin typeface="Menlo"/>
                <a:ea typeface="Menlo"/>
                <a:cs typeface="Menlo"/>
              </a:rPr>
              <a:t>NO ACCESS</a:t>
            </a:r>
          </a:p>
        </p:txBody>
      </p:sp>
    </p:spTree>
    <p:extLst>
      <p:ext uri="{BB962C8B-B14F-4D97-AF65-F5344CB8AC3E}">
        <p14:creationId xmlns:p14="http://schemas.microsoft.com/office/powerpoint/2010/main" val="1490904014"/>
      </p:ext>
    </p:extLst>
  </p:cSld>
</p:sld>
</file>

<file path=ppt/slides/slide8.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024b43e1b9c4dd3">
            <a:extLst>
              <a:ext uri="{96DAC541-7B7A-43D3-8B79-37D633B846F1}">
                <asvg:svgBlip xmlns:asvg="http://schemas.microsoft.com/office/drawing/2016/SVG/main" r:embed="R74120c50d5f84764"/>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148">
            <a:extLst xmlns:a="http://schemas.openxmlformats.org/drawingml/2006/main">
              <a:ext uri="{FF2B5EF4-FFF2-40B4-BE49-F238E27FC236}">
                <a16:creationId xmlns:a16="http://schemas.microsoft.com/office/drawing/2014/main" id="{1EB24CA3-9041-435A-8D8F-D2F49C17C8C8}"/>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149">
            <a:extLst xmlns:a="http://schemas.openxmlformats.org/drawingml/2006/main">
              <a:ext uri="{FF2B5EF4-FFF2-40B4-BE49-F238E27FC236}">
                <a16:creationId xmlns:a16="http://schemas.microsoft.com/office/drawing/2014/main" id="{429F7B9F-C97E-4C1B-90D7-433D68507720}"/>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150">
            <a:extLst xmlns:a="http://schemas.openxmlformats.org/drawingml/2006/main">
              <a:ext uri="{FF2B5EF4-FFF2-40B4-BE49-F238E27FC236}">
                <a16:creationId xmlns:a16="http://schemas.microsoft.com/office/drawing/2014/main" id="{E8297568-EF9B-4459-837C-78E5F4E6339A}"/>
              </a:ext>
            </a:extLst>
          </p:cNvPr>
          <p:cNvSpPr>
            <a:spLocks xmlns:a="http://schemas.openxmlformats.org/drawingml/2006/main" noGrp="1"/>
          </p:cNvSpPr>
          <p:nvPr/>
        </p:nvSpPr>
        <p:spPr>
          <a:xfrm xmlns:a="http://schemas.openxmlformats.org/drawingml/2006/main">
            <a:off x="533400" y="9715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350" b="1">
                <a:solidFill>
                  <a:srgbClr val="20211F"/>
                </a:solidFill>
                <a:latin typeface="Arial"/>
                <a:ea typeface="Arial"/>
                <a:cs typeface="Arial"/>
              </a:defRPr>
            </a:pPr>
            <a:r>
              <a:rPr sz="4350" b="1">
                <a:solidFill>
                  <a:srgbClr val="20211F"/>
                </a:solidFill>
                <a:latin typeface="Arial"/>
                <a:ea typeface="Arial"/>
                <a:cs typeface="Arial"/>
              </a:rPr>
              <a:t>Connection ≠ authorization.</a:t>
            </a:r>
          </a:p>
        </p:txBody>
      </p:sp>
      <p:sp>
        <p:nvSpPr>
          <p:cNvPr id="5" name="text-151">
            <a:extLst xmlns:a="http://schemas.openxmlformats.org/drawingml/2006/main">
              <a:ext uri="{FF2B5EF4-FFF2-40B4-BE49-F238E27FC236}">
                <a16:creationId xmlns:a16="http://schemas.microsoft.com/office/drawing/2014/main" id="{D539D5BB-411A-4378-A8FE-4E0D30D85F6F}"/>
              </a:ext>
            </a:extLst>
          </p:cNvPr>
          <p:cNvSpPr>
            <a:spLocks xmlns:a="http://schemas.openxmlformats.org/drawingml/2006/main" noGrp="1"/>
          </p:cNvSpPr>
          <p:nvPr/>
        </p:nvSpPr>
        <p:spPr>
          <a:xfrm xmlns:a="http://schemas.openxmlformats.org/drawingml/2006/main">
            <a:off x="542925" y="213360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EVERY AGENT SECRET REQUEST / SERVER-SIDE CHECKS</a:t>
            </a:r>
          </a:p>
        </p:txBody>
      </p:sp>
      <p:sp>
        <p:nvSpPr>
          <p:cNvPr id="6" name="shape-152">
            <a:extLst xmlns:a="http://schemas.openxmlformats.org/drawingml/2006/main">
              <a:ext uri="{FF2B5EF4-FFF2-40B4-BE49-F238E27FC236}">
                <a16:creationId xmlns:a16="http://schemas.microsoft.com/office/drawing/2014/main" id="{0C786A73-D2EF-44AD-987E-77EF44A4F6B3}"/>
              </a:ext>
            </a:extLst>
          </p:cNvPr>
          <p:cNvSpPr>
            <a:spLocks xmlns:a="http://schemas.openxmlformats.org/drawingml/2006/main" noGrp="1"/>
          </p:cNvSpPr>
          <p:nvPr/>
        </p:nvSpPr>
        <p:spPr>
          <a:xfrm xmlns:a="http://schemas.openxmlformats.org/drawingml/2006/main">
            <a:off x="5334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7" name="text-153">
            <a:extLst xmlns:a="http://schemas.openxmlformats.org/drawingml/2006/main">
              <a:ext uri="{FF2B5EF4-FFF2-40B4-BE49-F238E27FC236}">
                <a16:creationId xmlns:a16="http://schemas.microsoft.com/office/drawing/2014/main" id="{FE15CAAF-2136-4882-809F-E25671DC7BDA}"/>
              </a:ext>
            </a:extLst>
          </p:cNvPr>
          <p:cNvSpPr>
            <a:spLocks xmlns:a="http://schemas.openxmlformats.org/drawingml/2006/main" noGrp="1"/>
          </p:cNvSpPr>
          <p:nvPr/>
        </p:nvSpPr>
        <p:spPr>
          <a:xfrm xmlns:a="http://schemas.openxmlformats.org/drawingml/2006/main">
            <a:off x="7048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IDENTITY</a:t>
            </a:r>
          </a:p>
        </p:txBody>
      </p:sp>
      <p:sp>
        <p:nvSpPr>
          <p:cNvPr id="8" name="text-154">
            <a:extLst xmlns:a="http://schemas.openxmlformats.org/drawingml/2006/main">
              <a:ext uri="{FF2B5EF4-FFF2-40B4-BE49-F238E27FC236}">
                <a16:creationId xmlns:a16="http://schemas.microsoft.com/office/drawing/2014/main" id="{7FC7162E-1D7A-42B0-8E70-B30AD9FCC50D}"/>
              </a:ext>
            </a:extLst>
          </p:cNvPr>
          <p:cNvSpPr>
            <a:spLocks xmlns:a="http://schemas.openxmlformats.org/drawingml/2006/main" noGrp="1"/>
          </p:cNvSpPr>
          <p:nvPr/>
        </p:nvSpPr>
        <p:spPr>
          <a:xfrm xmlns:a="http://schemas.openxmlformats.org/drawingml/2006/main">
            <a:off x="7048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01</a:t>
            </a:r>
          </a:p>
        </p:txBody>
      </p:sp>
      <p:sp>
        <p:nvSpPr>
          <p:cNvPr id="9" name="text-155">
            <a:extLst xmlns:a="http://schemas.openxmlformats.org/drawingml/2006/main">
              <a:ext uri="{FF2B5EF4-FFF2-40B4-BE49-F238E27FC236}">
                <a16:creationId xmlns:a16="http://schemas.microsoft.com/office/drawing/2014/main" id="{9B461AA6-32AF-4800-852D-B862221829EB}"/>
              </a:ext>
            </a:extLst>
          </p:cNvPr>
          <p:cNvSpPr>
            <a:spLocks xmlns:a="http://schemas.openxmlformats.org/drawingml/2006/main" noGrp="1"/>
          </p:cNvSpPr>
          <p:nvPr/>
        </p:nvSpPr>
        <p:spPr>
          <a:xfrm xmlns:a="http://schemas.openxmlformats.org/drawingml/2006/main">
            <a:off x="260985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10" name="shape-156">
            <a:extLst xmlns:a="http://schemas.openxmlformats.org/drawingml/2006/main">
              <a:ext uri="{FF2B5EF4-FFF2-40B4-BE49-F238E27FC236}">
                <a16:creationId xmlns:a16="http://schemas.microsoft.com/office/drawing/2014/main" id="{32AE3982-8612-445F-A2AF-0AA1AE5840DD}"/>
              </a:ext>
            </a:extLst>
          </p:cNvPr>
          <p:cNvSpPr>
            <a:spLocks xmlns:a="http://schemas.openxmlformats.org/drawingml/2006/main" noGrp="1"/>
          </p:cNvSpPr>
          <p:nvPr/>
        </p:nvSpPr>
        <p:spPr>
          <a:xfrm xmlns:a="http://schemas.openxmlformats.org/drawingml/2006/main">
            <a:off x="280035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1" name="text-157">
            <a:extLst xmlns:a="http://schemas.openxmlformats.org/drawingml/2006/main">
              <a:ext uri="{FF2B5EF4-FFF2-40B4-BE49-F238E27FC236}">
                <a16:creationId xmlns:a16="http://schemas.microsoft.com/office/drawing/2014/main" id="{B11FDAD2-BF6F-4057-A5AB-3B1B45CC3DA9}"/>
              </a:ext>
            </a:extLst>
          </p:cNvPr>
          <p:cNvSpPr>
            <a:spLocks xmlns:a="http://schemas.openxmlformats.org/drawingml/2006/main" noGrp="1"/>
          </p:cNvSpPr>
          <p:nvPr/>
        </p:nvSpPr>
        <p:spPr>
          <a:xfrm xmlns:a="http://schemas.openxmlformats.org/drawingml/2006/main">
            <a:off x="297180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APPROVED</a:t>
            </a:r>
          </a:p>
        </p:txBody>
      </p:sp>
      <p:sp>
        <p:nvSpPr>
          <p:cNvPr id="12" name="text-158">
            <a:extLst xmlns:a="http://schemas.openxmlformats.org/drawingml/2006/main">
              <a:ext uri="{FF2B5EF4-FFF2-40B4-BE49-F238E27FC236}">
                <a16:creationId xmlns:a16="http://schemas.microsoft.com/office/drawing/2014/main" id="{F506A90F-A22D-4A9A-9E52-263EE36A999C}"/>
              </a:ext>
            </a:extLst>
          </p:cNvPr>
          <p:cNvSpPr>
            <a:spLocks xmlns:a="http://schemas.openxmlformats.org/drawingml/2006/main" noGrp="1"/>
          </p:cNvSpPr>
          <p:nvPr/>
        </p:nvSpPr>
        <p:spPr>
          <a:xfrm xmlns:a="http://schemas.openxmlformats.org/drawingml/2006/main">
            <a:off x="297180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02</a:t>
            </a:r>
          </a:p>
        </p:txBody>
      </p:sp>
      <p:sp>
        <p:nvSpPr>
          <p:cNvPr id="13" name="text-159">
            <a:extLst xmlns:a="http://schemas.openxmlformats.org/drawingml/2006/main">
              <a:ext uri="{FF2B5EF4-FFF2-40B4-BE49-F238E27FC236}">
                <a16:creationId xmlns:a16="http://schemas.microsoft.com/office/drawing/2014/main" id="{3A89E3AC-14A4-480E-A8BF-6107F390830C}"/>
              </a:ext>
            </a:extLst>
          </p:cNvPr>
          <p:cNvSpPr>
            <a:spLocks xmlns:a="http://schemas.openxmlformats.org/drawingml/2006/main" noGrp="1"/>
          </p:cNvSpPr>
          <p:nvPr/>
        </p:nvSpPr>
        <p:spPr>
          <a:xfrm xmlns:a="http://schemas.openxmlformats.org/drawingml/2006/main">
            <a:off x="487680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14" name="shape-160">
            <a:extLst xmlns:a="http://schemas.openxmlformats.org/drawingml/2006/main">
              <a:ext uri="{FF2B5EF4-FFF2-40B4-BE49-F238E27FC236}">
                <a16:creationId xmlns:a16="http://schemas.microsoft.com/office/drawing/2014/main" id="{DCB87A4E-08CF-4FBD-9AD1-1121CB28ED0A}"/>
              </a:ext>
            </a:extLst>
          </p:cNvPr>
          <p:cNvSpPr>
            <a:spLocks xmlns:a="http://schemas.openxmlformats.org/drawingml/2006/main" noGrp="1"/>
          </p:cNvSpPr>
          <p:nvPr/>
        </p:nvSpPr>
        <p:spPr>
          <a:xfrm xmlns:a="http://schemas.openxmlformats.org/drawingml/2006/main">
            <a:off x="50673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5" name="text-161">
            <a:extLst xmlns:a="http://schemas.openxmlformats.org/drawingml/2006/main">
              <a:ext uri="{FF2B5EF4-FFF2-40B4-BE49-F238E27FC236}">
                <a16:creationId xmlns:a16="http://schemas.microsoft.com/office/drawing/2014/main" id="{37C93DDB-434B-4911-A042-A9096593F293}"/>
              </a:ext>
            </a:extLst>
          </p:cNvPr>
          <p:cNvSpPr>
            <a:spLocks xmlns:a="http://schemas.openxmlformats.org/drawingml/2006/main" noGrp="1"/>
          </p:cNvSpPr>
          <p:nvPr/>
        </p:nvSpPr>
        <p:spPr>
          <a:xfrm xmlns:a="http://schemas.openxmlformats.org/drawingml/2006/main">
            <a:off x="52387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ENVIRONMENT</a:t>
            </a:r>
          </a:p>
        </p:txBody>
      </p:sp>
      <p:sp>
        <p:nvSpPr>
          <p:cNvPr id="16" name="text-162">
            <a:extLst xmlns:a="http://schemas.openxmlformats.org/drawingml/2006/main">
              <a:ext uri="{FF2B5EF4-FFF2-40B4-BE49-F238E27FC236}">
                <a16:creationId xmlns:a16="http://schemas.microsoft.com/office/drawing/2014/main" id="{F9B5C12D-90CB-4546-8011-C3F59D644379}"/>
              </a:ext>
            </a:extLst>
          </p:cNvPr>
          <p:cNvSpPr>
            <a:spLocks xmlns:a="http://schemas.openxmlformats.org/drawingml/2006/main" noGrp="1"/>
          </p:cNvSpPr>
          <p:nvPr/>
        </p:nvSpPr>
        <p:spPr>
          <a:xfrm xmlns:a="http://schemas.openxmlformats.org/drawingml/2006/main">
            <a:off x="52387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03</a:t>
            </a:r>
          </a:p>
        </p:txBody>
      </p:sp>
      <p:sp>
        <p:nvSpPr>
          <p:cNvPr id="17" name="text-163">
            <a:extLst xmlns:a="http://schemas.openxmlformats.org/drawingml/2006/main">
              <a:ext uri="{FF2B5EF4-FFF2-40B4-BE49-F238E27FC236}">
                <a16:creationId xmlns:a16="http://schemas.microsoft.com/office/drawing/2014/main" id="{16CA7FF9-BCFB-46F4-9EE9-4B7D6A3E3D07}"/>
              </a:ext>
            </a:extLst>
          </p:cNvPr>
          <p:cNvSpPr>
            <a:spLocks xmlns:a="http://schemas.openxmlformats.org/drawingml/2006/main" noGrp="1"/>
          </p:cNvSpPr>
          <p:nvPr/>
        </p:nvSpPr>
        <p:spPr>
          <a:xfrm xmlns:a="http://schemas.openxmlformats.org/drawingml/2006/main">
            <a:off x="714375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18" name="shape-164">
            <a:extLst xmlns:a="http://schemas.openxmlformats.org/drawingml/2006/main">
              <a:ext uri="{FF2B5EF4-FFF2-40B4-BE49-F238E27FC236}">
                <a16:creationId xmlns:a16="http://schemas.microsoft.com/office/drawing/2014/main" id="{EDB68AFC-CC38-4C88-B9C8-5C0802C8138A}"/>
              </a:ext>
            </a:extLst>
          </p:cNvPr>
          <p:cNvSpPr>
            <a:spLocks xmlns:a="http://schemas.openxmlformats.org/drawingml/2006/main" noGrp="1"/>
          </p:cNvSpPr>
          <p:nvPr/>
        </p:nvSpPr>
        <p:spPr>
          <a:xfrm xmlns:a="http://schemas.openxmlformats.org/drawingml/2006/main">
            <a:off x="733425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9" name="text-165">
            <a:extLst xmlns:a="http://schemas.openxmlformats.org/drawingml/2006/main">
              <a:ext uri="{FF2B5EF4-FFF2-40B4-BE49-F238E27FC236}">
                <a16:creationId xmlns:a16="http://schemas.microsoft.com/office/drawing/2014/main" id="{906FAA38-FAED-4D89-B004-5C85B169BCAE}"/>
              </a:ext>
            </a:extLst>
          </p:cNvPr>
          <p:cNvSpPr>
            <a:spLocks xmlns:a="http://schemas.openxmlformats.org/drawingml/2006/main" noGrp="1"/>
          </p:cNvSpPr>
          <p:nvPr/>
        </p:nvSpPr>
        <p:spPr>
          <a:xfrm xmlns:a="http://schemas.openxmlformats.org/drawingml/2006/main">
            <a:off x="750570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PERMISSION</a:t>
            </a:r>
          </a:p>
        </p:txBody>
      </p:sp>
      <p:sp>
        <p:nvSpPr>
          <p:cNvPr id="20" name="text-166">
            <a:extLst xmlns:a="http://schemas.openxmlformats.org/drawingml/2006/main">
              <a:ext uri="{FF2B5EF4-FFF2-40B4-BE49-F238E27FC236}">
                <a16:creationId xmlns:a16="http://schemas.microsoft.com/office/drawing/2014/main" id="{449EBFEE-80AF-4151-949C-A10986565589}"/>
              </a:ext>
            </a:extLst>
          </p:cNvPr>
          <p:cNvSpPr>
            <a:spLocks xmlns:a="http://schemas.openxmlformats.org/drawingml/2006/main" noGrp="1"/>
          </p:cNvSpPr>
          <p:nvPr/>
        </p:nvSpPr>
        <p:spPr>
          <a:xfrm xmlns:a="http://schemas.openxmlformats.org/drawingml/2006/main">
            <a:off x="750570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04</a:t>
            </a:r>
          </a:p>
        </p:txBody>
      </p:sp>
      <p:sp>
        <p:nvSpPr>
          <p:cNvPr id="21" name="text-167">
            <a:extLst xmlns:a="http://schemas.openxmlformats.org/drawingml/2006/main">
              <a:ext uri="{FF2B5EF4-FFF2-40B4-BE49-F238E27FC236}">
                <a16:creationId xmlns:a16="http://schemas.microsoft.com/office/drawing/2014/main" id="{7B6A8A2D-7A50-47BC-8E65-3637DC16F88D}"/>
              </a:ext>
            </a:extLst>
          </p:cNvPr>
          <p:cNvSpPr>
            <a:spLocks xmlns:a="http://schemas.openxmlformats.org/drawingml/2006/main" noGrp="1"/>
          </p:cNvSpPr>
          <p:nvPr/>
        </p:nvSpPr>
        <p:spPr>
          <a:xfrm xmlns:a="http://schemas.openxmlformats.org/drawingml/2006/main">
            <a:off x="9410700" y="3143250"/>
            <a:ext cx="247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76961"/>
                </a:solidFill>
                <a:latin typeface="Arial"/>
                <a:ea typeface="Arial"/>
                <a:cs typeface="Arial"/>
              </a:defRPr>
            </a:pPr>
            <a:r>
              <a:rPr sz="2550" b="0">
                <a:solidFill>
                  <a:srgbClr val="676961"/>
                </a:solidFill>
                <a:latin typeface="Arial"/>
                <a:ea typeface="Arial"/>
                <a:cs typeface="Arial"/>
              </a:rPr>
              <a:t>→</a:t>
            </a:r>
          </a:p>
        </p:txBody>
      </p:sp>
      <p:sp>
        <p:nvSpPr>
          <p:cNvPr id="22" name="shape-168">
            <a:extLst xmlns:a="http://schemas.openxmlformats.org/drawingml/2006/main">
              <a:ext uri="{FF2B5EF4-FFF2-40B4-BE49-F238E27FC236}">
                <a16:creationId xmlns:a16="http://schemas.microsoft.com/office/drawing/2014/main" id="{2465810C-D5F7-40CC-A5C6-18C244563558}"/>
              </a:ext>
            </a:extLst>
          </p:cNvPr>
          <p:cNvSpPr>
            <a:spLocks xmlns:a="http://schemas.openxmlformats.org/drawingml/2006/main" noGrp="1"/>
          </p:cNvSpPr>
          <p:nvPr/>
        </p:nvSpPr>
        <p:spPr>
          <a:xfrm xmlns:a="http://schemas.openxmlformats.org/drawingml/2006/main">
            <a:off x="9601200" y="2809875"/>
            <a:ext cx="2057400" cy="1152525"/>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23" name="text-169">
            <a:extLst xmlns:a="http://schemas.openxmlformats.org/drawingml/2006/main">
              <a:ext uri="{FF2B5EF4-FFF2-40B4-BE49-F238E27FC236}">
                <a16:creationId xmlns:a16="http://schemas.microsoft.com/office/drawing/2014/main" id="{79478C92-A3E8-4CED-83F2-150C3750C386}"/>
              </a:ext>
            </a:extLst>
          </p:cNvPr>
          <p:cNvSpPr>
            <a:spLocks xmlns:a="http://schemas.openxmlformats.org/drawingml/2006/main" noGrp="1"/>
          </p:cNvSpPr>
          <p:nvPr/>
        </p:nvSpPr>
        <p:spPr>
          <a:xfrm xmlns:a="http://schemas.openxmlformats.org/drawingml/2006/main">
            <a:off x="9772650" y="2971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UNEXPIRED</a:t>
            </a:r>
          </a:p>
        </p:txBody>
      </p:sp>
      <p:sp>
        <p:nvSpPr>
          <p:cNvPr id="24" name="text-170">
            <a:extLst xmlns:a="http://schemas.openxmlformats.org/drawingml/2006/main">
              <a:ext uri="{FF2B5EF4-FFF2-40B4-BE49-F238E27FC236}">
                <a16:creationId xmlns:a16="http://schemas.microsoft.com/office/drawing/2014/main" id="{53EC5F98-A5D6-468E-B3A8-008BD801F6CA}"/>
              </a:ext>
            </a:extLst>
          </p:cNvPr>
          <p:cNvSpPr>
            <a:spLocks xmlns:a="http://schemas.openxmlformats.org/drawingml/2006/main" noGrp="1"/>
          </p:cNvSpPr>
          <p:nvPr/>
        </p:nvSpPr>
        <p:spPr>
          <a:xfrm xmlns:a="http://schemas.openxmlformats.org/drawingml/2006/main">
            <a:off x="9772650" y="3352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05</a:t>
            </a:r>
          </a:p>
        </p:txBody>
      </p:sp>
      <p:sp>
        <p:nvSpPr>
          <p:cNvPr id="25" name="shape-171">
            <a:extLst xmlns:a="http://schemas.openxmlformats.org/drawingml/2006/main">
              <a:ext uri="{FF2B5EF4-FFF2-40B4-BE49-F238E27FC236}">
                <a16:creationId xmlns:a16="http://schemas.microsoft.com/office/drawing/2014/main" id="{AD96C022-E874-4A14-9FCD-FA5592816437}"/>
              </a:ext>
            </a:extLst>
          </p:cNvPr>
          <p:cNvSpPr>
            <a:spLocks xmlns:a="http://schemas.openxmlformats.org/drawingml/2006/main" noGrp="1"/>
          </p:cNvSpPr>
          <p:nvPr/>
        </p:nvSpPr>
        <p:spPr>
          <a:xfrm xmlns:a="http://schemas.openxmlformats.org/drawingml/2006/main">
            <a:off x="533400" y="4429125"/>
            <a:ext cx="7620000" cy="124777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26" name="text-172">
            <a:extLst xmlns:a="http://schemas.openxmlformats.org/drawingml/2006/main">
              <a:ext uri="{FF2B5EF4-FFF2-40B4-BE49-F238E27FC236}">
                <a16:creationId xmlns:a16="http://schemas.microsoft.com/office/drawing/2014/main" id="{2551359A-B08D-413C-AF7E-F271D6FDC277}"/>
              </a:ext>
            </a:extLst>
          </p:cNvPr>
          <p:cNvSpPr>
            <a:spLocks xmlns:a="http://schemas.openxmlformats.org/drawingml/2006/main" noGrp="1"/>
          </p:cNvSpPr>
          <p:nvPr/>
        </p:nvSpPr>
        <p:spPr>
          <a:xfrm xmlns:a="http://schemas.openxmlformats.org/drawingml/2006/main">
            <a:off x="742950" y="4629150"/>
            <a:ext cx="7181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FAFAF6"/>
                </a:solidFill>
                <a:latin typeface="Arial"/>
                <a:ea typeface="Arial"/>
                <a:cs typeface="Arial"/>
              </a:defRPr>
            </a:pPr>
            <a:r>
              <a:rPr sz="3150" b="1">
                <a:solidFill>
                  <a:srgbClr val="FAFAF6"/>
                </a:solidFill>
                <a:latin typeface="Arial"/>
                <a:ea typeface="Arial"/>
                <a:cs typeface="Arial"/>
              </a:rPr>
              <a:t>DEFAULT DENY</a:t>
            </a:r>
          </a:p>
        </p:txBody>
      </p:sp>
      <p:sp>
        <p:nvSpPr>
          <p:cNvPr id="27" name="text-173">
            <a:extLst xmlns:a="http://schemas.openxmlformats.org/drawingml/2006/main">
              <a:ext uri="{FF2B5EF4-FFF2-40B4-BE49-F238E27FC236}">
                <a16:creationId xmlns:a16="http://schemas.microsoft.com/office/drawing/2014/main" id="{833C74EC-8F44-4B33-9740-D448B1E4B9A5}"/>
              </a:ext>
            </a:extLst>
          </p:cNvPr>
          <p:cNvSpPr>
            <a:spLocks xmlns:a="http://schemas.openxmlformats.org/drawingml/2006/main" noGrp="1"/>
          </p:cNvSpPr>
          <p:nvPr/>
        </p:nvSpPr>
        <p:spPr>
          <a:xfrm xmlns:a="http://schemas.openxmlformats.org/drawingml/2006/main">
            <a:off x="742950" y="5238750"/>
            <a:ext cx="7105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B1B5AC"/>
                </a:solidFill>
                <a:latin typeface="Arial"/>
                <a:ea typeface="Arial"/>
                <a:cs typeface="Arial"/>
              </a:defRPr>
            </a:pPr>
            <a:r>
              <a:rPr sz="1650" b="0">
                <a:solidFill>
                  <a:srgbClr val="B1B5AC"/>
                </a:solidFill>
                <a:latin typeface="Arial"/>
                <a:ea typeface="Arial"/>
                <a:cs typeface="Arial"/>
              </a:rPr>
              <a:t>Unknown · pending · expired · revoked · unassigned</a:t>
            </a:r>
          </a:p>
        </p:txBody>
      </p:sp>
      <p:sp>
        <p:nvSpPr>
          <p:cNvPr id="28" name="text-174">
            <a:extLst xmlns:a="http://schemas.openxmlformats.org/drawingml/2006/main">
              <a:ext uri="{FF2B5EF4-FFF2-40B4-BE49-F238E27FC236}">
                <a16:creationId xmlns:a16="http://schemas.microsoft.com/office/drawing/2014/main" id="{01AAA261-ECC2-43D0-901A-528A819FD2CF}"/>
              </a:ext>
            </a:extLst>
          </p:cNvPr>
          <p:cNvSpPr>
            <a:spLocks xmlns:a="http://schemas.openxmlformats.org/drawingml/2006/main" noGrp="1"/>
          </p:cNvSpPr>
          <p:nvPr/>
        </p:nvSpPr>
        <p:spPr>
          <a:xfrm xmlns:a="http://schemas.openxmlformats.org/drawingml/2006/main">
            <a:off x="8591550" y="4476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676961"/>
                </a:solidFill>
                <a:latin typeface="Menlo"/>
                <a:ea typeface="Menlo"/>
                <a:cs typeface="Menlo"/>
              </a:defRPr>
            </a:pPr>
            <a:r>
              <a:rPr sz="1500" b="0">
                <a:solidFill>
                  <a:srgbClr val="676961"/>
                </a:solidFill>
                <a:latin typeface="Menlo"/>
                <a:ea typeface="Menlo"/>
                <a:cs typeface="Menlo"/>
              </a:rPr>
              <a:t>ALL CHECKS PASS</a:t>
            </a:r>
          </a:p>
        </p:txBody>
      </p:sp>
      <p:sp>
        <p:nvSpPr>
          <p:cNvPr id="29" name="text-175">
            <a:extLst xmlns:a="http://schemas.openxmlformats.org/drawingml/2006/main">
              <a:ext uri="{FF2B5EF4-FFF2-40B4-BE49-F238E27FC236}">
                <a16:creationId xmlns:a16="http://schemas.microsoft.com/office/drawing/2014/main" id="{14EA7B2E-A5D0-4C57-9B7D-795C985B1CF5}"/>
              </a:ext>
            </a:extLst>
          </p:cNvPr>
          <p:cNvSpPr>
            <a:spLocks xmlns:a="http://schemas.openxmlformats.org/drawingml/2006/main" noGrp="1"/>
          </p:cNvSpPr>
          <p:nvPr/>
        </p:nvSpPr>
        <p:spPr>
          <a:xfrm xmlns:a="http://schemas.openxmlformats.org/drawingml/2006/main">
            <a:off x="8591550" y="4914900"/>
            <a:ext cx="3057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75" b="1">
                <a:solidFill>
                  <a:srgbClr val="277D58"/>
                </a:solidFill>
                <a:latin typeface="Arial"/>
                <a:ea typeface="Arial"/>
                <a:cs typeface="Arial"/>
              </a:defRPr>
            </a:pPr>
            <a:r>
              <a:rPr sz="2475" b="1">
                <a:solidFill>
                  <a:srgbClr val="277D58"/>
                </a:solidFill>
                <a:latin typeface="Arial"/>
                <a:ea typeface="Arial"/>
                <a:cs typeface="Arial"/>
              </a:rPr>
              <a:t>AUTHORIZED</a:t>
            </a:r>
          </a:p>
        </p:txBody>
      </p:sp>
    </p:spTree>
    <p:extLst>
      <p:ext uri="{BB962C8B-B14F-4D97-AF65-F5344CB8AC3E}">
        <p14:creationId xmlns:p14="http://schemas.microsoft.com/office/powerpoint/2010/main" val="2099966823"/>
      </p:ext>
    </p:extLst>
  </p:cSld>
</p:sld>
</file>

<file path=ppt/slides/slide9.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163c64ad963492e">
            <a:extLst>
              <a:ext uri="{96DAC541-7B7A-43D3-8B79-37D633B846F1}">
                <asvg:svgBlip xmlns:asvg="http://schemas.microsoft.com/office/drawing/2016/SVG/main" r:embed="R1fe1d61067a84a2b"/>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176">
            <a:extLst xmlns:a="http://schemas.openxmlformats.org/drawingml/2006/main">
              <a:ext uri="{FF2B5EF4-FFF2-40B4-BE49-F238E27FC236}">
                <a16:creationId xmlns:a16="http://schemas.microsoft.com/office/drawing/2014/main" id="{BAB86316-FE49-4F83-B273-4285F9252A0A}"/>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177">
            <a:extLst xmlns:a="http://schemas.openxmlformats.org/drawingml/2006/main">
              <a:ext uri="{FF2B5EF4-FFF2-40B4-BE49-F238E27FC236}">
                <a16:creationId xmlns:a16="http://schemas.microsoft.com/office/drawing/2014/main" id="{4F8969B9-9D92-4845-ACD4-F2F9C7C99D77}"/>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178">
            <a:extLst xmlns:a="http://schemas.openxmlformats.org/drawingml/2006/main">
              <a:ext uri="{FF2B5EF4-FFF2-40B4-BE49-F238E27FC236}">
                <a16:creationId xmlns:a16="http://schemas.microsoft.com/office/drawing/2014/main" id="{673ED3CD-69E6-4AE9-8463-26318A1B8ABC}"/>
              </a:ext>
            </a:extLst>
          </p:cNvPr>
          <p:cNvSpPr>
            <a:spLocks xmlns:a="http://schemas.openxmlformats.org/drawingml/2006/main" noGrp="1"/>
          </p:cNvSpPr>
          <p:nvPr/>
        </p:nvSpPr>
        <p:spPr>
          <a:xfrm xmlns:a="http://schemas.openxmlformats.org/drawingml/2006/main">
            <a:off x="533400" y="952500"/>
            <a:ext cx="11144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Your infrastructure.</a:t>
            </a:r>
          </a:p>
        </p:txBody>
      </p:sp>
      <p:sp>
        <p:nvSpPr>
          <p:cNvPr id="5" name="text-179">
            <a:extLst xmlns:a="http://schemas.openxmlformats.org/drawingml/2006/main">
              <a:ext uri="{FF2B5EF4-FFF2-40B4-BE49-F238E27FC236}">
                <a16:creationId xmlns:a16="http://schemas.microsoft.com/office/drawing/2014/main" id="{AF9913A5-D2D3-4B9F-8714-5CE892FCD61B}"/>
              </a:ext>
            </a:extLst>
          </p:cNvPr>
          <p:cNvSpPr>
            <a:spLocks xmlns:a="http://schemas.openxmlformats.org/drawingml/2006/main" noGrp="1"/>
          </p:cNvSpPr>
          <p:nvPr/>
        </p:nvSpPr>
        <p:spPr>
          <a:xfrm xmlns:a="http://schemas.openxmlformats.org/drawingml/2006/main">
            <a:off x="533400" y="1609725"/>
            <a:ext cx="11144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650" b="1">
                <a:solidFill>
                  <a:srgbClr val="20211F"/>
                </a:solidFill>
                <a:latin typeface="Arial"/>
                <a:ea typeface="Arial"/>
                <a:cs typeface="Arial"/>
              </a:defRPr>
            </a:pPr>
            <a:r>
              <a:rPr sz="4650" b="1">
                <a:solidFill>
                  <a:srgbClr val="20211F"/>
                </a:solidFill>
                <a:latin typeface="Arial"/>
                <a:ea typeface="Arial"/>
                <a:cs typeface="Arial"/>
              </a:rPr>
              <a:t>Your secrets.</a:t>
            </a:r>
          </a:p>
        </p:txBody>
      </p:sp>
      <p:sp>
        <p:nvSpPr>
          <p:cNvPr id="6" name="text-180">
            <a:extLst xmlns:a="http://schemas.openxmlformats.org/drawingml/2006/main">
              <a:ext uri="{FF2B5EF4-FFF2-40B4-BE49-F238E27FC236}">
                <a16:creationId xmlns:a16="http://schemas.microsoft.com/office/drawing/2014/main" id="{5DC78116-769A-4F39-8991-33700DA3F89E}"/>
              </a:ext>
            </a:extLst>
          </p:cNvPr>
          <p:cNvSpPr>
            <a:spLocks xmlns:a="http://schemas.openxmlformats.org/drawingml/2006/main" noGrp="1"/>
          </p:cNvSpPr>
          <p:nvPr/>
        </p:nvSpPr>
        <p:spPr>
          <a:xfrm xmlns:a="http://schemas.openxmlformats.org/drawingml/2006/main">
            <a:off x="533400" y="26860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YOUR MACHINE / PRIVATE NETWORK</a:t>
            </a:r>
          </a:p>
        </p:txBody>
      </p:sp>
      <p:sp>
        <p:nvSpPr>
          <p:cNvPr id="7" name="shape-181">
            <a:extLst xmlns:a="http://schemas.openxmlformats.org/drawingml/2006/main">
              <a:ext uri="{FF2B5EF4-FFF2-40B4-BE49-F238E27FC236}">
                <a16:creationId xmlns:a16="http://schemas.microsoft.com/office/drawing/2014/main" id="{028849AE-8DCF-470C-A24C-070E23FE36CC}"/>
              </a:ext>
            </a:extLst>
          </p:cNvPr>
          <p:cNvSpPr>
            <a:spLocks xmlns:a="http://schemas.openxmlformats.org/drawingml/2006/main" noGrp="1"/>
          </p:cNvSpPr>
          <p:nvPr/>
        </p:nvSpPr>
        <p:spPr>
          <a:xfrm xmlns:a="http://schemas.openxmlformats.org/drawingml/2006/main">
            <a:off x="533400" y="3067050"/>
            <a:ext cx="11125200" cy="2124075"/>
          </a:xfrm>
          <a:prstGeom xmlns:a="http://schemas.openxmlformats.org/drawingml/2006/main" prst="rect">
            <a:avLst/>
          </a:prstGeom>
          <a:noFill xmlns:a="http://schemas.openxmlformats.org/drawingml/2006/main"/>
          <a:ln xmlns:a="http://schemas.openxmlformats.org/drawingml/2006/main" w="9525">
            <a:solidFill>
              <a:srgbClr val="CDCEC5"/>
            </a:solidFill>
          </a:ln>
        </p:spPr>
      </p:sp>
      <p:sp>
        <p:nvSpPr>
          <p:cNvPr id="8" name="text-182">
            <a:extLst xmlns:a="http://schemas.openxmlformats.org/drawingml/2006/main">
              <a:ext uri="{FF2B5EF4-FFF2-40B4-BE49-F238E27FC236}">
                <a16:creationId xmlns:a16="http://schemas.microsoft.com/office/drawing/2014/main" id="{6DB2D8EF-1028-4CE2-A423-DAAB8C3F0D5F}"/>
              </a:ext>
            </a:extLst>
          </p:cNvPr>
          <p:cNvSpPr>
            <a:spLocks xmlns:a="http://schemas.openxmlformats.org/drawingml/2006/main" noGrp="1"/>
          </p:cNvSpPr>
          <p:nvPr/>
        </p:nvSpPr>
        <p:spPr>
          <a:xfrm xmlns:a="http://schemas.openxmlformats.org/drawingml/2006/main">
            <a:off x="742950" y="3228975"/>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DOCKER COMPOSE</a:t>
            </a:r>
          </a:p>
        </p:txBody>
      </p:sp>
      <p:sp>
        <p:nvSpPr>
          <p:cNvPr id="9" name="shape-183">
            <a:extLst xmlns:a="http://schemas.openxmlformats.org/drawingml/2006/main">
              <a:ext uri="{FF2B5EF4-FFF2-40B4-BE49-F238E27FC236}">
                <a16:creationId xmlns:a16="http://schemas.microsoft.com/office/drawing/2014/main" id="{E9763576-1EFC-41F9-AB89-36AD89FC8237}"/>
              </a:ext>
            </a:extLst>
          </p:cNvPr>
          <p:cNvSpPr>
            <a:spLocks xmlns:a="http://schemas.openxmlformats.org/drawingml/2006/main" noGrp="1"/>
          </p:cNvSpPr>
          <p:nvPr/>
        </p:nvSpPr>
        <p:spPr>
          <a:xfrm xmlns:a="http://schemas.openxmlformats.org/drawingml/2006/main">
            <a:off x="838200" y="3724275"/>
            <a:ext cx="289560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0" name="text-184">
            <a:extLst xmlns:a="http://schemas.openxmlformats.org/drawingml/2006/main">
              <a:ext uri="{FF2B5EF4-FFF2-40B4-BE49-F238E27FC236}">
                <a16:creationId xmlns:a16="http://schemas.microsoft.com/office/drawing/2014/main" id="{5A93239E-58CE-4612-80A8-5BBC467341F2}"/>
              </a:ext>
            </a:extLst>
          </p:cNvPr>
          <p:cNvSpPr>
            <a:spLocks xmlns:a="http://schemas.openxmlformats.org/drawingml/2006/main" noGrp="1"/>
          </p:cNvSpPr>
          <p:nvPr/>
        </p:nvSpPr>
        <p:spPr>
          <a:xfrm xmlns:a="http://schemas.openxmlformats.org/drawingml/2006/main">
            <a:off x="1009650" y="38862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FRONTEND</a:t>
            </a:r>
          </a:p>
        </p:txBody>
      </p:sp>
      <p:sp>
        <p:nvSpPr>
          <p:cNvPr id="11" name="text-185">
            <a:extLst xmlns:a="http://schemas.openxmlformats.org/drawingml/2006/main">
              <a:ext uri="{FF2B5EF4-FFF2-40B4-BE49-F238E27FC236}">
                <a16:creationId xmlns:a16="http://schemas.microsoft.com/office/drawing/2014/main" id="{DD44C9B1-345B-42CB-A4F5-7E000CEFEB76}"/>
              </a:ext>
            </a:extLst>
          </p:cNvPr>
          <p:cNvSpPr>
            <a:spLocks xmlns:a="http://schemas.openxmlformats.org/drawingml/2006/main" noGrp="1"/>
          </p:cNvSpPr>
          <p:nvPr/>
        </p:nvSpPr>
        <p:spPr>
          <a:xfrm xmlns:a="http://schemas.openxmlformats.org/drawingml/2006/main">
            <a:off x="1009650" y="42672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NGINX</a:t>
            </a:r>
          </a:p>
        </p:txBody>
      </p:sp>
      <p:sp>
        <p:nvSpPr>
          <p:cNvPr id="12" name="text-186">
            <a:extLst xmlns:a="http://schemas.openxmlformats.org/drawingml/2006/main">
              <a:ext uri="{FF2B5EF4-FFF2-40B4-BE49-F238E27FC236}">
                <a16:creationId xmlns:a16="http://schemas.microsoft.com/office/drawing/2014/main" id="{5EF561AF-7F23-43AD-9F81-E26F5F0C394E}"/>
              </a:ext>
            </a:extLst>
          </p:cNvPr>
          <p:cNvSpPr>
            <a:spLocks xmlns:a="http://schemas.openxmlformats.org/drawingml/2006/main" noGrp="1"/>
          </p:cNvSpPr>
          <p:nvPr/>
        </p:nvSpPr>
        <p:spPr>
          <a:xfrm xmlns:a="http://schemas.openxmlformats.org/drawingml/2006/main">
            <a:off x="3924300" y="40005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D5EF4"/>
                </a:solidFill>
                <a:latin typeface="Arial"/>
                <a:ea typeface="Arial"/>
                <a:cs typeface="Arial"/>
              </a:defRPr>
            </a:pPr>
            <a:r>
              <a:rPr sz="2550" b="0">
                <a:solidFill>
                  <a:srgbClr val="6D5EF4"/>
                </a:solidFill>
                <a:latin typeface="Arial"/>
                <a:ea typeface="Arial"/>
                <a:cs typeface="Arial"/>
              </a:rPr>
              <a:t>→</a:t>
            </a:r>
          </a:p>
        </p:txBody>
      </p:sp>
      <p:sp>
        <p:nvSpPr>
          <p:cNvPr id="13" name="shape-187">
            <a:extLst xmlns:a="http://schemas.openxmlformats.org/drawingml/2006/main">
              <a:ext uri="{FF2B5EF4-FFF2-40B4-BE49-F238E27FC236}">
                <a16:creationId xmlns:a16="http://schemas.microsoft.com/office/drawing/2014/main" id="{15C1C45C-5415-4A2E-8B46-88838FC84493}"/>
              </a:ext>
            </a:extLst>
          </p:cNvPr>
          <p:cNvSpPr>
            <a:spLocks xmlns:a="http://schemas.openxmlformats.org/drawingml/2006/main" noGrp="1"/>
          </p:cNvSpPr>
          <p:nvPr/>
        </p:nvSpPr>
        <p:spPr>
          <a:xfrm xmlns:a="http://schemas.openxmlformats.org/drawingml/2006/main">
            <a:off x="4619625" y="3724275"/>
            <a:ext cx="287655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4" name="text-188">
            <a:extLst xmlns:a="http://schemas.openxmlformats.org/drawingml/2006/main">
              <a:ext uri="{FF2B5EF4-FFF2-40B4-BE49-F238E27FC236}">
                <a16:creationId xmlns:a16="http://schemas.microsoft.com/office/drawing/2014/main" id="{F2D17838-A2AF-47C3-B74F-681B08BBC598}"/>
              </a:ext>
            </a:extLst>
          </p:cNvPr>
          <p:cNvSpPr>
            <a:spLocks xmlns:a="http://schemas.openxmlformats.org/drawingml/2006/main" noGrp="1"/>
          </p:cNvSpPr>
          <p:nvPr/>
        </p:nvSpPr>
        <p:spPr>
          <a:xfrm xmlns:a="http://schemas.openxmlformats.org/drawingml/2006/main">
            <a:off x="4791075" y="3886200"/>
            <a:ext cx="2533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API</a:t>
            </a:r>
          </a:p>
        </p:txBody>
      </p:sp>
      <p:sp>
        <p:nvSpPr>
          <p:cNvPr id="15" name="text-189">
            <a:extLst xmlns:a="http://schemas.openxmlformats.org/drawingml/2006/main">
              <a:ext uri="{FF2B5EF4-FFF2-40B4-BE49-F238E27FC236}">
                <a16:creationId xmlns:a16="http://schemas.microsoft.com/office/drawing/2014/main" id="{59DDFA06-F426-48D6-A376-C64FF52CBC6F}"/>
              </a:ext>
            </a:extLst>
          </p:cNvPr>
          <p:cNvSpPr>
            <a:spLocks xmlns:a="http://schemas.openxmlformats.org/drawingml/2006/main" noGrp="1"/>
          </p:cNvSpPr>
          <p:nvPr/>
        </p:nvSpPr>
        <p:spPr>
          <a:xfrm xmlns:a="http://schemas.openxmlformats.org/drawingml/2006/main">
            <a:off x="4791075" y="4267200"/>
            <a:ext cx="2533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NODE.JS</a:t>
            </a:r>
          </a:p>
        </p:txBody>
      </p:sp>
      <p:sp>
        <p:nvSpPr>
          <p:cNvPr id="16" name="text-190">
            <a:extLst xmlns:a="http://schemas.openxmlformats.org/drawingml/2006/main">
              <a:ext uri="{FF2B5EF4-FFF2-40B4-BE49-F238E27FC236}">
                <a16:creationId xmlns:a16="http://schemas.microsoft.com/office/drawing/2014/main" id="{817EAB83-5975-43B5-99A2-22974F92090A}"/>
              </a:ext>
            </a:extLst>
          </p:cNvPr>
          <p:cNvSpPr>
            <a:spLocks xmlns:a="http://schemas.openxmlformats.org/drawingml/2006/main" noGrp="1"/>
          </p:cNvSpPr>
          <p:nvPr/>
        </p:nvSpPr>
        <p:spPr>
          <a:xfrm xmlns:a="http://schemas.openxmlformats.org/drawingml/2006/main">
            <a:off x="7696200" y="40005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6D5EF4"/>
                </a:solidFill>
                <a:latin typeface="Arial"/>
                <a:ea typeface="Arial"/>
                <a:cs typeface="Arial"/>
              </a:defRPr>
            </a:pPr>
            <a:r>
              <a:rPr sz="2550" b="0">
                <a:solidFill>
                  <a:srgbClr val="6D5EF4"/>
                </a:solidFill>
                <a:latin typeface="Arial"/>
                <a:ea typeface="Arial"/>
                <a:cs typeface="Arial"/>
              </a:rPr>
              <a:t>→</a:t>
            </a:r>
          </a:p>
        </p:txBody>
      </p:sp>
      <p:sp>
        <p:nvSpPr>
          <p:cNvPr id="17" name="shape-191">
            <a:extLst xmlns:a="http://schemas.openxmlformats.org/drawingml/2006/main">
              <a:ext uri="{FF2B5EF4-FFF2-40B4-BE49-F238E27FC236}">
                <a16:creationId xmlns:a16="http://schemas.microsoft.com/office/drawing/2014/main" id="{75015C5D-D902-45A2-941B-A398871F1CFF}"/>
              </a:ext>
            </a:extLst>
          </p:cNvPr>
          <p:cNvSpPr>
            <a:spLocks xmlns:a="http://schemas.openxmlformats.org/drawingml/2006/main" noGrp="1"/>
          </p:cNvSpPr>
          <p:nvPr/>
        </p:nvSpPr>
        <p:spPr>
          <a:xfrm xmlns:a="http://schemas.openxmlformats.org/drawingml/2006/main">
            <a:off x="8420100" y="3724275"/>
            <a:ext cx="2895600" cy="1066800"/>
          </a:xfrm>
          <a:prstGeom xmlns:a="http://schemas.openxmlformats.org/drawingml/2006/main" prst="rect">
            <a:avLst/>
          </a:prstGeom>
          <a:solidFill xmlns:a="http://schemas.openxmlformats.org/drawingml/2006/main">
            <a:srgbClr val="F3F2ED"/>
          </a:solidFill>
          <a:ln xmlns:a="http://schemas.openxmlformats.org/drawingml/2006/main" w="9525">
            <a:solidFill>
              <a:srgbClr val="CDCEC5"/>
            </a:solidFill>
          </a:ln>
        </p:spPr>
      </p:sp>
      <p:sp>
        <p:nvSpPr>
          <p:cNvPr id="18" name="text-192">
            <a:extLst xmlns:a="http://schemas.openxmlformats.org/drawingml/2006/main">
              <a:ext uri="{FF2B5EF4-FFF2-40B4-BE49-F238E27FC236}">
                <a16:creationId xmlns:a16="http://schemas.microsoft.com/office/drawing/2014/main" id="{8170EA24-1088-4C75-80AA-632C1B2C0906}"/>
              </a:ext>
            </a:extLst>
          </p:cNvPr>
          <p:cNvSpPr>
            <a:spLocks xmlns:a="http://schemas.openxmlformats.org/drawingml/2006/main" noGrp="1"/>
          </p:cNvSpPr>
          <p:nvPr/>
        </p:nvSpPr>
        <p:spPr>
          <a:xfrm xmlns:a="http://schemas.openxmlformats.org/drawingml/2006/main">
            <a:off x="8591550" y="3886200"/>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20211F"/>
                </a:solidFill>
                <a:latin typeface="Arial"/>
                <a:ea typeface="Arial"/>
                <a:cs typeface="Arial"/>
              </a:defRPr>
            </a:pPr>
            <a:r>
              <a:rPr sz="1800" b="1">
                <a:solidFill>
                  <a:srgbClr val="20211F"/>
                </a:solidFill>
                <a:latin typeface="Arial"/>
                <a:ea typeface="Arial"/>
                <a:cs typeface="Arial"/>
              </a:rPr>
              <a:t>DATABASE</a:t>
            </a:r>
          </a:p>
        </p:txBody>
      </p:sp>
      <p:sp>
        <p:nvSpPr>
          <p:cNvPr id="19" name="text-193">
            <a:extLst xmlns:a="http://schemas.openxmlformats.org/drawingml/2006/main">
              <a:ext uri="{FF2B5EF4-FFF2-40B4-BE49-F238E27FC236}">
                <a16:creationId xmlns:a16="http://schemas.microsoft.com/office/drawing/2014/main" id="{5418BC12-3F0F-4F69-A0DC-2F6F363D9A68}"/>
              </a:ext>
            </a:extLst>
          </p:cNvPr>
          <p:cNvSpPr>
            <a:spLocks xmlns:a="http://schemas.openxmlformats.org/drawingml/2006/main" noGrp="1"/>
          </p:cNvSpPr>
          <p:nvPr/>
        </p:nvSpPr>
        <p:spPr>
          <a:xfrm xmlns:a="http://schemas.openxmlformats.org/drawingml/2006/main">
            <a:off x="8591550" y="4267200"/>
            <a:ext cx="2552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676961"/>
                </a:solidFill>
                <a:latin typeface="Menlo"/>
                <a:ea typeface="Menlo"/>
                <a:cs typeface="Menlo"/>
              </a:defRPr>
            </a:pPr>
            <a:r>
              <a:rPr sz="1200" b="0">
                <a:solidFill>
                  <a:srgbClr val="676961"/>
                </a:solidFill>
                <a:latin typeface="Menlo"/>
                <a:ea typeface="Menlo"/>
                <a:cs typeface="Menlo"/>
              </a:rPr>
              <a:t>POSTGRESQL</a:t>
            </a:r>
          </a:p>
        </p:txBody>
      </p:sp>
      <p:sp>
        <p:nvSpPr>
          <p:cNvPr id="20" name="text-194">
            <a:extLst xmlns:a="http://schemas.openxmlformats.org/drawingml/2006/main">
              <a:ext uri="{FF2B5EF4-FFF2-40B4-BE49-F238E27FC236}">
                <a16:creationId xmlns:a16="http://schemas.microsoft.com/office/drawing/2014/main" id="{F7A3DD9D-C4C8-490A-8B80-A507B98C0038}"/>
              </a:ext>
            </a:extLst>
          </p:cNvPr>
          <p:cNvSpPr>
            <a:spLocks xmlns:a="http://schemas.openxmlformats.org/drawingml/2006/main" noGrp="1"/>
          </p:cNvSpPr>
          <p:nvPr/>
        </p:nvSpPr>
        <p:spPr>
          <a:xfrm xmlns:a="http://schemas.openxmlformats.org/drawingml/2006/main">
            <a:off x="533400" y="5543550"/>
            <a:ext cx="59721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6D5EF4"/>
                </a:solidFill>
                <a:latin typeface="Menlo"/>
                <a:ea typeface="Menlo"/>
                <a:cs typeface="Menlo"/>
              </a:defRPr>
            </a:pPr>
            <a:r>
              <a:rPr sz="2775" b="1">
                <a:solidFill>
                  <a:srgbClr val="6D5EF4"/>
                </a:solidFill>
                <a:latin typeface="Menlo"/>
                <a:ea typeface="Menlo"/>
                <a:cs typeface="Menlo"/>
              </a:rPr>
              <a:t>$ npm run setup</a:t>
            </a:r>
          </a:p>
        </p:txBody>
      </p:sp>
      <p:sp>
        <p:nvSpPr>
          <p:cNvPr id="21" name="text-195">
            <a:extLst xmlns:a="http://schemas.openxmlformats.org/drawingml/2006/main">
              <a:ext uri="{FF2B5EF4-FFF2-40B4-BE49-F238E27FC236}">
                <a16:creationId xmlns:a16="http://schemas.microsoft.com/office/drawing/2014/main" id="{0F1F0AA4-8B96-425A-96F8-2A714BE61A13}"/>
              </a:ext>
            </a:extLst>
          </p:cNvPr>
          <p:cNvSpPr>
            <a:spLocks xmlns:a="http://schemas.openxmlformats.org/drawingml/2006/main" noGrp="1"/>
          </p:cNvSpPr>
          <p:nvPr/>
        </p:nvSpPr>
        <p:spPr>
          <a:xfrm xmlns:a="http://schemas.openxmlformats.org/drawingml/2006/main">
            <a:off x="6829425" y="5676900"/>
            <a:ext cx="4819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After cloning / Node.js 20+ + Docker</a:t>
            </a:r>
          </a:p>
        </p:txBody>
      </p:sp>
    </p:spTree>
    <p:extLst>
      <p:ext uri="{BB962C8B-B14F-4D97-AF65-F5344CB8AC3E}">
        <p14:creationId xmlns:p14="http://schemas.microsoft.com/office/powerpoint/2010/main" val="1367464424"/>
      </p:ext>
    </p:extLst>
  </p:cSld>
</p:sld>
</file>

<file path=ppt/slides/slide10.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b2f88aabc9f4af3">
            <a:extLst>
              <a:ext uri="{96DAC541-7B7A-43D3-8B79-37D633B846F1}">
                <asvg:svgBlip xmlns:asvg="http://schemas.microsoft.com/office/drawing/2016/SVG/main" r:embed="R7e932061cc0e4f28"/>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196">
            <a:extLst xmlns:a="http://schemas.openxmlformats.org/drawingml/2006/main">
              <a:ext uri="{FF2B5EF4-FFF2-40B4-BE49-F238E27FC236}">
                <a16:creationId xmlns:a16="http://schemas.microsoft.com/office/drawing/2014/main" id="{81F2396B-46BE-436C-88ED-2B6D165CA9E0}"/>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197">
            <a:extLst xmlns:a="http://schemas.openxmlformats.org/drawingml/2006/main">
              <a:ext uri="{FF2B5EF4-FFF2-40B4-BE49-F238E27FC236}">
                <a16:creationId xmlns:a16="http://schemas.microsoft.com/office/drawing/2014/main" id="{14E396CC-D4FC-4B83-AD4C-980380C15351}"/>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198">
            <a:extLst xmlns:a="http://schemas.openxmlformats.org/drawingml/2006/main">
              <a:ext uri="{FF2B5EF4-FFF2-40B4-BE49-F238E27FC236}">
                <a16:creationId xmlns:a16="http://schemas.microsoft.com/office/drawing/2014/main" id="{8D5A4011-9A22-4E86-BCD6-BADE6397109A}"/>
              </a:ext>
            </a:extLst>
          </p:cNvPr>
          <p:cNvSpPr>
            <a:spLocks xmlns:a="http://schemas.openxmlformats.org/drawingml/2006/main" noGrp="1"/>
          </p:cNvSpPr>
          <p:nvPr/>
        </p:nvSpPr>
        <p:spPr>
          <a:xfrm xmlns:a="http://schemas.openxmlformats.org/drawingml/2006/main">
            <a:off x="533400" y="9334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More than a concept.</a:t>
            </a:r>
          </a:p>
        </p:txBody>
      </p:sp>
      <p:sp>
        <p:nvSpPr>
          <p:cNvPr id="5" name="shape-199">
            <a:extLst xmlns:a="http://schemas.openxmlformats.org/drawingml/2006/main">
              <a:ext uri="{FF2B5EF4-FFF2-40B4-BE49-F238E27FC236}">
                <a16:creationId xmlns:a16="http://schemas.microsoft.com/office/drawing/2014/main" id="{47F32359-6760-4D3C-A69E-10AA85291D31}"/>
              </a:ext>
            </a:extLst>
          </p:cNvPr>
          <p:cNvSpPr>
            <a:spLocks xmlns:a="http://schemas.openxmlformats.org/drawingml/2006/main" noGrp="1"/>
          </p:cNvSpPr>
          <p:nvPr/>
        </p:nvSpPr>
        <p:spPr>
          <a:xfrm xmlns:a="http://schemas.openxmlformats.org/drawingml/2006/main">
            <a:off x="5334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6" name="text-200">
            <a:extLst xmlns:a="http://schemas.openxmlformats.org/drawingml/2006/main">
              <a:ext uri="{FF2B5EF4-FFF2-40B4-BE49-F238E27FC236}">
                <a16:creationId xmlns:a16="http://schemas.microsoft.com/office/drawing/2014/main" id="{6C13E512-9DA5-4E9A-A435-4E5C83762279}"/>
              </a:ext>
            </a:extLst>
          </p:cNvPr>
          <p:cNvSpPr>
            <a:spLocks xmlns:a="http://schemas.openxmlformats.org/drawingml/2006/main" noGrp="1"/>
          </p:cNvSpPr>
          <p:nvPr/>
        </p:nvSpPr>
        <p:spPr>
          <a:xfrm xmlns:a="http://schemas.openxmlformats.org/drawingml/2006/main">
            <a:off x="5334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01 / IDENTITY</a:t>
            </a:r>
          </a:p>
        </p:txBody>
      </p:sp>
      <p:sp>
        <p:nvSpPr>
          <p:cNvPr id="7" name="text-201">
            <a:extLst xmlns:a="http://schemas.openxmlformats.org/drawingml/2006/main">
              <a:ext uri="{FF2B5EF4-FFF2-40B4-BE49-F238E27FC236}">
                <a16:creationId xmlns:a16="http://schemas.microsoft.com/office/drawing/2014/main" id="{B1F0363C-7230-471E-A5B4-D2F90B43A98E}"/>
              </a:ext>
            </a:extLst>
          </p:cNvPr>
          <p:cNvSpPr>
            <a:spLocks xmlns:a="http://schemas.openxmlformats.org/drawingml/2006/main" noGrp="1"/>
          </p:cNvSpPr>
          <p:nvPr/>
        </p:nvSpPr>
        <p:spPr>
          <a:xfrm xmlns:a="http://schemas.openxmlformats.org/drawingml/2006/main">
            <a:off x="5334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Accounts · sessions</a:t>
            </a:r>
          </a:p>
        </p:txBody>
      </p:sp>
      <p:sp>
        <p:nvSpPr>
          <p:cNvPr id="8" name="text-202">
            <a:extLst xmlns:a="http://schemas.openxmlformats.org/drawingml/2006/main">
              <a:ext uri="{FF2B5EF4-FFF2-40B4-BE49-F238E27FC236}">
                <a16:creationId xmlns:a16="http://schemas.microsoft.com/office/drawing/2014/main" id="{25C48FC3-B196-46DD-AC74-4416258F894E}"/>
              </a:ext>
            </a:extLst>
          </p:cNvPr>
          <p:cNvSpPr>
            <a:spLocks xmlns:a="http://schemas.openxmlformats.org/drawingml/2006/main" noGrp="1"/>
          </p:cNvSpPr>
          <p:nvPr/>
        </p:nvSpPr>
        <p:spPr>
          <a:xfrm xmlns:a="http://schemas.openxmlformats.org/drawingml/2006/main">
            <a:off x="5334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Admin controls</a:t>
            </a:r>
          </a:p>
        </p:txBody>
      </p:sp>
      <p:sp>
        <p:nvSpPr>
          <p:cNvPr id="9" name="shape-203">
            <a:extLst xmlns:a="http://schemas.openxmlformats.org/drawingml/2006/main">
              <a:ext uri="{FF2B5EF4-FFF2-40B4-BE49-F238E27FC236}">
                <a16:creationId xmlns:a16="http://schemas.microsoft.com/office/drawing/2014/main" id="{85E3451B-5727-40C4-8A52-492D0267346E}"/>
              </a:ext>
            </a:extLst>
          </p:cNvPr>
          <p:cNvSpPr>
            <a:spLocks xmlns:a="http://schemas.openxmlformats.org/drawingml/2006/main" noGrp="1"/>
          </p:cNvSpPr>
          <p:nvPr/>
        </p:nvSpPr>
        <p:spPr>
          <a:xfrm xmlns:a="http://schemas.openxmlformats.org/drawingml/2006/main">
            <a:off x="43815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0" name="text-204">
            <a:extLst xmlns:a="http://schemas.openxmlformats.org/drawingml/2006/main">
              <a:ext uri="{FF2B5EF4-FFF2-40B4-BE49-F238E27FC236}">
                <a16:creationId xmlns:a16="http://schemas.microsoft.com/office/drawing/2014/main" id="{9B0725BC-4D64-4992-82DE-64FF6F433C68}"/>
              </a:ext>
            </a:extLst>
          </p:cNvPr>
          <p:cNvSpPr>
            <a:spLocks xmlns:a="http://schemas.openxmlformats.org/drawingml/2006/main" noGrp="1"/>
          </p:cNvSpPr>
          <p:nvPr/>
        </p:nvSpPr>
        <p:spPr>
          <a:xfrm xmlns:a="http://schemas.openxmlformats.org/drawingml/2006/main">
            <a:off x="43815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02 / SECRETS</a:t>
            </a:r>
          </a:p>
        </p:txBody>
      </p:sp>
      <p:sp>
        <p:nvSpPr>
          <p:cNvPr id="11" name="text-205">
            <a:extLst xmlns:a="http://schemas.openxmlformats.org/drawingml/2006/main">
              <a:ext uri="{FF2B5EF4-FFF2-40B4-BE49-F238E27FC236}">
                <a16:creationId xmlns:a16="http://schemas.microsoft.com/office/drawing/2014/main" id="{BA6642CE-851F-401C-B00D-3884C25F16B0}"/>
              </a:ext>
            </a:extLst>
          </p:cNvPr>
          <p:cNvSpPr>
            <a:spLocks xmlns:a="http://schemas.openxmlformats.org/drawingml/2006/main" noGrp="1"/>
          </p:cNvSpPr>
          <p:nvPr/>
        </p:nvSpPr>
        <p:spPr>
          <a:xfrm xmlns:a="http://schemas.openxmlformats.org/drawingml/2006/main">
            <a:off x="43815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Projects · environments</a:t>
            </a:r>
          </a:p>
        </p:txBody>
      </p:sp>
      <p:sp>
        <p:nvSpPr>
          <p:cNvPr id="12" name="text-206">
            <a:extLst xmlns:a="http://schemas.openxmlformats.org/drawingml/2006/main">
              <a:ext uri="{FF2B5EF4-FFF2-40B4-BE49-F238E27FC236}">
                <a16:creationId xmlns:a16="http://schemas.microsoft.com/office/drawing/2014/main" id="{DB237C2C-3F46-464A-B66B-A12971C4D3B5}"/>
              </a:ext>
            </a:extLst>
          </p:cNvPr>
          <p:cNvSpPr>
            <a:spLocks xmlns:a="http://schemas.openxmlformats.org/drawingml/2006/main" noGrp="1"/>
          </p:cNvSpPr>
          <p:nvPr/>
        </p:nvSpPr>
        <p:spPr>
          <a:xfrm xmlns:a="http://schemas.openxmlformats.org/drawingml/2006/main">
            <a:off x="43815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Encrypted storage</a:t>
            </a:r>
          </a:p>
        </p:txBody>
      </p:sp>
      <p:sp>
        <p:nvSpPr>
          <p:cNvPr id="13" name="shape-207">
            <a:extLst xmlns:a="http://schemas.openxmlformats.org/drawingml/2006/main">
              <a:ext uri="{FF2B5EF4-FFF2-40B4-BE49-F238E27FC236}">
                <a16:creationId xmlns:a16="http://schemas.microsoft.com/office/drawing/2014/main" id="{2A99EB72-FC32-4740-A1E4-5515684E6CF9}"/>
              </a:ext>
            </a:extLst>
          </p:cNvPr>
          <p:cNvSpPr>
            <a:spLocks xmlns:a="http://schemas.openxmlformats.org/drawingml/2006/main" noGrp="1"/>
          </p:cNvSpPr>
          <p:nvPr/>
        </p:nvSpPr>
        <p:spPr>
          <a:xfrm xmlns:a="http://schemas.openxmlformats.org/drawingml/2006/main">
            <a:off x="8229600" y="2428875"/>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4" name="text-208">
            <a:extLst xmlns:a="http://schemas.openxmlformats.org/drawingml/2006/main">
              <a:ext uri="{FF2B5EF4-FFF2-40B4-BE49-F238E27FC236}">
                <a16:creationId xmlns:a16="http://schemas.microsoft.com/office/drawing/2014/main" id="{5B581E3F-7C84-4CD3-BCFD-1747819E207D}"/>
              </a:ext>
            </a:extLst>
          </p:cNvPr>
          <p:cNvSpPr>
            <a:spLocks xmlns:a="http://schemas.openxmlformats.org/drawingml/2006/main" noGrp="1"/>
          </p:cNvSpPr>
          <p:nvPr/>
        </p:nvSpPr>
        <p:spPr>
          <a:xfrm xmlns:a="http://schemas.openxmlformats.org/drawingml/2006/main">
            <a:off x="8229600" y="2638425"/>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03 / ACCESS</a:t>
            </a:r>
          </a:p>
        </p:txBody>
      </p:sp>
      <p:sp>
        <p:nvSpPr>
          <p:cNvPr id="15" name="text-209">
            <a:extLst xmlns:a="http://schemas.openxmlformats.org/drawingml/2006/main">
              <a:ext uri="{FF2B5EF4-FFF2-40B4-BE49-F238E27FC236}">
                <a16:creationId xmlns:a16="http://schemas.microsoft.com/office/drawing/2014/main" id="{66DB7244-5BA7-483C-9A10-AF42EB3791C7}"/>
              </a:ext>
            </a:extLst>
          </p:cNvPr>
          <p:cNvSpPr>
            <a:spLocks xmlns:a="http://schemas.openxmlformats.org/drawingml/2006/main" noGrp="1"/>
          </p:cNvSpPr>
          <p:nvPr/>
        </p:nvSpPr>
        <p:spPr>
          <a:xfrm xmlns:a="http://schemas.openxmlformats.org/drawingml/2006/main">
            <a:off x="8229600" y="30480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Resource sharing</a:t>
            </a:r>
          </a:p>
        </p:txBody>
      </p:sp>
      <p:sp>
        <p:nvSpPr>
          <p:cNvPr id="16" name="text-210">
            <a:extLst xmlns:a="http://schemas.openxmlformats.org/drawingml/2006/main">
              <a:ext uri="{FF2B5EF4-FFF2-40B4-BE49-F238E27FC236}">
                <a16:creationId xmlns:a16="http://schemas.microsoft.com/office/drawing/2014/main" id="{EAC68F5B-B280-4791-9866-9A9D30A1945D}"/>
              </a:ext>
            </a:extLst>
          </p:cNvPr>
          <p:cNvSpPr>
            <a:spLocks xmlns:a="http://schemas.openxmlformats.org/drawingml/2006/main" noGrp="1"/>
          </p:cNvSpPr>
          <p:nvPr/>
        </p:nvSpPr>
        <p:spPr>
          <a:xfrm xmlns:a="http://schemas.openxmlformats.org/drawingml/2006/main">
            <a:off x="8229600" y="3429000"/>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Scoped application keys</a:t>
            </a:r>
          </a:p>
        </p:txBody>
      </p:sp>
      <p:sp>
        <p:nvSpPr>
          <p:cNvPr id="17" name="shape-211">
            <a:extLst xmlns:a="http://schemas.openxmlformats.org/drawingml/2006/main">
              <a:ext uri="{FF2B5EF4-FFF2-40B4-BE49-F238E27FC236}">
                <a16:creationId xmlns:a16="http://schemas.microsoft.com/office/drawing/2014/main" id="{A7CF35A9-3C62-456F-99E5-63A1597A5159}"/>
              </a:ext>
            </a:extLst>
          </p:cNvPr>
          <p:cNvSpPr>
            <a:spLocks xmlns:a="http://schemas.openxmlformats.org/drawingml/2006/main" noGrp="1"/>
          </p:cNvSpPr>
          <p:nvPr/>
        </p:nvSpPr>
        <p:spPr>
          <a:xfrm xmlns:a="http://schemas.openxmlformats.org/drawingml/2006/main">
            <a:off x="5334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18" name="text-212">
            <a:extLst xmlns:a="http://schemas.openxmlformats.org/drawingml/2006/main">
              <a:ext uri="{FF2B5EF4-FFF2-40B4-BE49-F238E27FC236}">
                <a16:creationId xmlns:a16="http://schemas.microsoft.com/office/drawing/2014/main" id="{DE4C6150-C50F-4AD5-B66C-A7A99019FFA0}"/>
              </a:ext>
            </a:extLst>
          </p:cNvPr>
          <p:cNvSpPr>
            <a:spLocks xmlns:a="http://schemas.openxmlformats.org/drawingml/2006/main" noGrp="1"/>
          </p:cNvSpPr>
          <p:nvPr/>
        </p:nvSpPr>
        <p:spPr>
          <a:xfrm xmlns:a="http://schemas.openxmlformats.org/drawingml/2006/main">
            <a:off x="5334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04 / DEVELOPERS</a:t>
            </a:r>
          </a:p>
        </p:txBody>
      </p:sp>
      <p:sp>
        <p:nvSpPr>
          <p:cNvPr id="19" name="text-213">
            <a:extLst xmlns:a="http://schemas.openxmlformats.org/drawingml/2006/main">
              <a:ext uri="{FF2B5EF4-FFF2-40B4-BE49-F238E27FC236}">
                <a16:creationId xmlns:a16="http://schemas.microsoft.com/office/drawing/2014/main" id="{EDB4FA9F-D181-43E3-9308-E33BD05D7EF9}"/>
              </a:ext>
            </a:extLst>
          </p:cNvPr>
          <p:cNvSpPr>
            <a:spLocks xmlns:a="http://schemas.openxmlformats.org/drawingml/2006/main" noGrp="1"/>
          </p:cNvSpPr>
          <p:nvPr/>
        </p:nvSpPr>
        <p:spPr>
          <a:xfrm xmlns:a="http://schemas.openxmlformats.org/drawingml/2006/main">
            <a:off x="5334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Node.js + Python SDKs</a:t>
            </a:r>
          </a:p>
        </p:txBody>
      </p:sp>
      <p:sp>
        <p:nvSpPr>
          <p:cNvPr id="20" name="text-214">
            <a:extLst xmlns:a="http://schemas.openxmlformats.org/drawingml/2006/main">
              <a:ext uri="{FF2B5EF4-FFF2-40B4-BE49-F238E27FC236}">
                <a16:creationId xmlns:a16="http://schemas.microsoft.com/office/drawing/2014/main" id="{8598CD79-487D-4BD2-B447-49B6B7B61C49}"/>
              </a:ext>
            </a:extLst>
          </p:cNvPr>
          <p:cNvSpPr>
            <a:spLocks xmlns:a="http://schemas.openxmlformats.org/drawingml/2006/main" noGrp="1"/>
          </p:cNvSpPr>
          <p:nvPr/>
        </p:nvSpPr>
        <p:spPr>
          <a:xfrm xmlns:a="http://schemas.openxmlformats.org/drawingml/2006/main">
            <a:off x="5334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API · documentation</a:t>
            </a:r>
          </a:p>
        </p:txBody>
      </p:sp>
      <p:sp>
        <p:nvSpPr>
          <p:cNvPr id="21" name="shape-215">
            <a:extLst xmlns:a="http://schemas.openxmlformats.org/drawingml/2006/main">
              <a:ext uri="{FF2B5EF4-FFF2-40B4-BE49-F238E27FC236}">
                <a16:creationId xmlns:a16="http://schemas.microsoft.com/office/drawing/2014/main" id="{2309019F-383F-4333-A5DF-322AF778C6AC}"/>
              </a:ext>
            </a:extLst>
          </p:cNvPr>
          <p:cNvSpPr>
            <a:spLocks xmlns:a="http://schemas.openxmlformats.org/drawingml/2006/main" noGrp="1"/>
          </p:cNvSpPr>
          <p:nvPr/>
        </p:nvSpPr>
        <p:spPr>
          <a:xfrm xmlns:a="http://schemas.openxmlformats.org/drawingml/2006/main">
            <a:off x="43815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2" name="text-216">
            <a:extLst xmlns:a="http://schemas.openxmlformats.org/drawingml/2006/main">
              <a:ext uri="{FF2B5EF4-FFF2-40B4-BE49-F238E27FC236}">
                <a16:creationId xmlns:a16="http://schemas.microsoft.com/office/drawing/2014/main" id="{E66698D0-BA2A-4D61-8BA2-43927880E442}"/>
              </a:ext>
            </a:extLst>
          </p:cNvPr>
          <p:cNvSpPr>
            <a:spLocks xmlns:a="http://schemas.openxmlformats.org/drawingml/2006/main" noGrp="1"/>
          </p:cNvSpPr>
          <p:nvPr/>
        </p:nvSpPr>
        <p:spPr>
          <a:xfrm xmlns:a="http://schemas.openxmlformats.org/drawingml/2006/main">
            <a:off x="43815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05 / AGENTS · PREVIEW</a:t>
            </a:r>
          </a:p>
        </p:txBody>
      </p:sp>
      <p:sp>
        <p:nvSpPr>
          <p:cNvPr id="23" name="text-217">
            <a:extLst xmlns:a="http://schemas.openxmlformats.org/drawingml/2006/main">
              <a:ext uri="{FF2B5EF4-FFF2-40B4-BE49-F238E27FC236}">
                <a16:creationId xmlns:a16="http://schemas.microsoft.com/office/drawing/2014/main" id="{F0A5EF90-96DC-4F6D-A218-1F553212CF15}"/>
              </a:ext>
            </a:extLst>
          </p:cNvPr>
          <p:cNvSpPr>
            <a:spLocks xmlns:a="http://schemas.openxmlformats.org/drawingml/2006/main" noGrp="1"/>
          </p:cNvSpPr>
          <p:nvPr/>
        </p:nvSpPr>
        <p:spPr>
          <a:xfrm xmlns:a="http://schemas.openxmlformats.org/drawingml/2006/main">
            <a:off x="43815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MCP · approvals</a:t>
            </a:r>
          </a:p>
        </p:txBody>
      </p:sp>
      <p:sp>
        <p:nvSpPr>
          <p:cNvPr id="24" name="text-218">
            <a:extLst xmlns:a="http://schemas.openxmlformats.org/drawingml/2006/main">
              <a:ext uri="{FF2B5EF4-FFF2-40B4-BE49-F238E27FC236}">
                <a16:creationId xmlns:a16="http://schemas.microsoft.com/office/drawing/2014/main" id="{3B35FBA5-0446-4313-9614-048C7E945DE2}"/>
              </a:ext>
            </a:extLst>
          </p:cNvPr>
          <p:cNvSpPr>
            <a:spLocks xmlns:a="http://schemas.openxmlformats.org/drawingml/2006/main" noGrp="1"/>
          </p:cNvSpPr>
          <p:nvPr/>
        </p:nvSpPr>
        <p:spPr>
          <a:xfrm xmlns:a="http://schemas.openxmlformats.org/drawingml/2006/main">
            <a:off x="43815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Per-environment grants · TTL</a:t>
            </a:r>
          </a:p>
        </p:txBody>
      </p:sp>
      <p:sp>
        <p:nvSpPr>
          <p:cNvPr id="25" name="shape-219">
            <a:extLst xmlns:a="http://schemas.openxmlformats.org/drawingml/2006/main">
              <a:ext uri="{FF2B5EF4-FFF2-40B4-BE49-F238E27FC236}">
                <a16:creationId xmlns:a16="http://schemas.microsoft.com/office/drawing/2014/main" id="{A02D6638-7D2A-4F74-9049-856E4DBA3A38}"/>
              </a:ext>
            </a:extLst>
          </p:cNvPr>
          <p:cNvSpPr>
            <a:spLocks xmlns:a="http://schemas.openxmlformats.org/drawingml/2006/main" noGrp="1"/>
          </p:cNvSpPr>
          <p:nvPr/>
        </p:nvSpPr>
        <p:spPr>
          <a:xfrm xmlns:a="http://schemas.openxmlformats.org/drawingml/2006/main">
            <a:off x="8229600" y="4210050"/>
            <a:ext cx="34290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26" name="text-220">
            <a:extLst xmlns:a="http://schemas.openxmlformats.org/drawingml/2006/main">
              <a:ext uri="{FF2B5EF4-FFF2-40B4-BE49-F238E27FC236}">
                <a16:creationId xmlns:a16="http://schemas.microsoft.com/office/drawing/2014/main" id="{FC8FDBD5-6CEE-4C2F-A9C8-3F1BFBBDA986}"/>
              </a:ext>
            </a:extLst>
          </p:cNvPr>
          <p:cNvSpPr>
            <a:spLocks xmlns:a="http://schemas.openxmlformats.org/drawingml/2006/main" noGrp="1"/>
          </p:cNvSpPr>
          <p:nvPr/>
        </p:nvSpPr>
        <p:spPr>
          <a:xfrm xmlns:a="http://schemas.openxmlformats.org/drawingml/2006/main">
            <a:off x="8229600" y="4419600"/>
            <a:ext cx="3667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06 / OPERATIONS</a:t>
            </a:r>
          </a:p>
        </p:txBody>
      </p:sp>
      <p:sp>
        <p:nvSpPr>
          <p:cNvPr id="27" name="text-221">
            <a:extLst xmlns:a="http://schemas.openxmlformats.org/drawingml/2006/main">
              <a:ext uri="{FF2B5EF4-FFF2-40B4-BE49-F238E27FC236}">
                <a16:creationId xmlns:a16="http://schemas.microsoft.com/office/drawing/2014/main" id="{91DBA20D-3C93-4824-9CF8-7C4888DEBDF6}"/>
              </a:ext>
            </a:extLst>
          </p:cNvPr>
          <p:cNvSpPr>
            <a:spLocks xmlns:a="http://schemas.openxmlformats.org/drawingml/2006/main" noGrp="1"/>
          </p:cNvSpPr>
          <p:nvPr/>
        </p:nvSpPr>
        <p:spPr>
          <a:xfrm xmlns:a="http://schemas.openxmlformats.org/drawingml/2006/main">
            <a:off x="8229600" y="4829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20211F"/>
                </a:solidFill>
                <a:latin typeface="Arial"/>
                <a:ea typeface="Arial"/>
                <a:cs typeface="Arial"/>
              </a:defRPr>
            </a:pPr>
            <a:r>
              <a:rPr sz="1875" b="1">
                <a:solidFill>
                  <a:srgbClr val="20211F"/>
                </a:solidFill>
                <a:latin typeface="Arial"/>
                <a:ea typeface="Arial"/>
                <a:cs typeface="Arial"/>
              </a:rPr>
              <a:t>Docker · guided setup</a:t>
            </a:r>
          </a:p>
        </p:txBody>
      </p:sp>
      <p:sp>
        <p:nvSpPr>
          <p:cNvPr id="28" name="text-222">
            <a:extLst xmlns:a="http://schemas.openxmlformats.org/drawingml/2006/main">
              <a:ext uri="{FF2B5EF4-FFF2-40B4-BE49-F238E27FC236}">
                <a16:creationId xmlns:a16="http://schemas.microsoft.com/office/drawing/2014/main" id="{6DE8B593-D5BA-4022-84DB-76693A34D34F}"/>
              </a:ext>
            </a:extLst>
          </p:cNvPr>
          <p:cNvSpPr>
            <a:spLocks xmlns:a="http://schemas.openxmlformats.org/drawingml/2006/main" noGrp="1"/>
          </p:cNvSpPr>
          <p:nvPr/>
        </p:nvSpPr>
        <p:spPr>
          <a:xfrm xmlns:a="http://schemas.openxmlformats.org/drawingml/2006/main">
            <a:off x="8229600" y="5210175"/>
            <a:ext cx="3571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676961"/>
                </a:solidFill>
                <a:latin typeface="Arial"/>
                <a:ea typeface="Arial"/>
                <a:cs typeface="Arial"/>
              </a:defRPr>
            </a:pPr>
            <a:r>
              <a:rPr sz="1725" b="0">
                <a:solidFill>
                  <a:srgbClr val="676961"/>
                </a:solidFill>
                <a:latin typeface="Arial"/>
                <a:ea typeface="Arial"/>
                <a:cs typeface="Arial"/>
              </a:rPr>
              <a:t>Audit history</a:t>
            </a:r>
          </a:p>
        </p:txBody>
      </p:sp>
    </p:spTree>
    <p:extLst>
      <p:ext uri="{BB962C8B-B14F-4D97-AF65-F5344CB8AC3E}">
        <p14:creationId xmlns:p14="http://schemas.microsoft.com/office/powerpoint/2010/main" val="491445091"/>
      </p:ext>
    </p:extLst>
  </p:cSld>
</p:sld>
</file>

<file path=ppt/slides/slide11.xml><?xml version="1.0" encoding="utf-8"?>
<p:sld xmlns:p="http://schemas.openxmlformats.org/presentationml/2006/main">
  <p:cSld>
    <p:bg>
      <p:bgPr>
        <a:solidFill xmlns:a="http://schemas.openxmlformats.org/drawingml/2006/main">
          <a:srgbClr val="F3F2ED"/>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558bebc95b44f08">
            <a:extLst>
              <a:ext uri="{96DAC541-7B7A-43D3-8B79-37D633B846F1}">
                <asvg:svgBlip xmlns:asvg="http://schemas.microsoft.com/office/drawing/2016/SVG/main" r:embed="R0f53c28f258e4453"/>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223">
            <a:extLst xmlns:a="http://schemas.openxmlformats.org/drawingml/2006/main">
              <a:ext uri="{FF2B5EF4-FFF2-40B4-BE49-F238E27FC236}">
                <a16:creationId xmlns:a16="http://schemas.microsoft.com/office/drawing/2014/main" id="{9E76FE1D-46B7-43E3-8415-43C654557E1D}"/>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CDCEC5"/>
          </a:solidFill>
          <a:ln xmlns:a="http://schemas.openxmlformats.org/drawingml/2006/main" w="0">
            <a:noFill/>
          </a:ln>
        </p:spPr>
      </p:sp>
      <p:sp>
        <p:nvSpPr>
          <p:cNvPr id="3" name="text-224">
            <a:extLst xmlns:a="http://schemas.openxmlformats.org/drawingml/2006/main">
              <a:ext uri="{FF2B5EF4-FFF2-40B4-BE49-F238E27FC236}">
                <a16:creationId xmlns:a16="http://schemas.microsoft.com/office/drawing/2014/main" id="{60683110-6FC9-4C02-8456-B09903F2BD7E}"/>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ENVSYNC / SELF-HOSTED SECRETS</a:t>
            </a:r>
          </a:p>
        </p:txBody>
      </p:sp>
      <p:sp>
        <p:nvSpPr>
          <p:cNvPr id="4" name="text-225">
            <a:extLst xmlns:a="http://schemas.openxmlformats.org/drawingml/2006/main">
              <a:ext uri="{FF2B5EF4-FFF2-40B4-BE49-F238E27FC236}">
                <a16:creationId xmlns:a16="http://schemas.microsoft.com/office/drawing/2014/main" id="{E717D809-C5C5-49F8-8684-AD51660F5C8B}"/>
              </a:ext>
            </a:extLst>
          </p:cNvPr>
          <p:cNvSpPr>
            <a:spLocks xmlns:a="http://schemas.openxmlformats.org/drawingml/2006/main" noGrp="1"/>
          </p:cNvSpPr>
          <p:nvPr/>
        </p:nvSpPr>
        <p:spPr>
          <a:xfrm xmlns:a="http://schemas.openxmlformats.org/drawingml/2006/main">
            <a:off x="533400" y="942975"/>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800" b="1">
                <a:solidFill>
                  <a:srgbClr val="20211F"/>
                </a:solidFill>
                <a:latin typeface="Arial"/>
                <a:ea typeface="Arial"/>
                <a:cs typeface="Arial"/>
              </a:defRPr>
            </a:pPr>
            <a:r>
              <a:rPr sz="4800" b="1">
                <a:solidFill>
                  <a:srgbClr val="20211F"/>
                </a:solidFill>
                <a:latin typeface="Arial"/>
                <a:ea typeface="Arial"/>
                <a:cs typeface="Arial"/>
              </a:rPr>
              <a:t>Built. Now hardening.</a:t>
            </a:r>
          </a:p>
        </p:txBody>
      </p:sp>
      <p:sp>
        <p:nvSpPr>
          <p:cNvPr id="5" name="shape-226">
            <a:extLst xmlns:a="http://schemas.openxmlformats.org/drawingml/2006/main">
              <a:ext uri="{FF2B5EF4-FFF2-40B4-BE49-F238E27FC236}">
                <a16:creationId xmlns:a16="http://schemas.microsoft.com/office/drawing/2014/main" id="{2C6D2A97-E27D-42FC-9420-17A72909B713}"/>
              </a:ext>
            </a:extLst>
          </p:cNvPr>
          <p:cNvSpPr>
            <a:spLocks xmlns:a="http://schemas.openxmlformats.org/drawingml/2006/main" noGrp="1"/>
          </p:cNvSpPr>
          <p:nvPr/>
        </p:nvSpPr>
        <p:spPr>
          <a:xfrm xmlns:a="http://schemas.openxmlformats.org/drawingml/2006/main">
            <a:off x="533400" y="2581275"/>
            <a:ext cx="3467100" cy="4762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6" name="text-227">
            <a:extLst xmlns:a="http://schemas.openxmlformats.org/drawingml/2006/main">
              <a:ext uri="{FF2B5EF4-FFF2-40B4-BE49-F238E27FC236}">
                <a16:creationId xmlns:a16="http://schemas.microsoft.com/office/drawing/2014/main" id="{FDEFA463-8267-4215-BD32-17991BF06FD5}"/>
              </a:ext>
            </a:extLst>
          </p:cNvPr>
          <p:cNvSpPr>
            <a:spLocks xmlns:a="http://schemas.openxmlformats.org/drawingml/2006/main" noGrp="1"/>
          </p:cNvSpPr>
          <p:nvPr/>
        </p:nvSpPr>
        <p:spPr>
          <a:xfrm xmlns:a="http://schemas.openxmlformats.org/drawingml/2006/main">
            <a:off x="533400"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20211F"/>
                </a:solidFill>
                <a:latin typeface="Arial"/>
                <a:ea typeface="Arial"/>
                <a:cs typeface="Arial"/>
              </a:defRPr>
            </a:pPr>
            <a:r>
              <a:rPr sz="2775" b="1">
                <a:solidFill>
                  <a:srgbClr val="20211F"/>
                </a:solidFill>
                <a:latin typeface="Arial"/>
                <a:ea typeface="Arial"/>
                <a:cs typeface="Arial"/>
              </a:rPr>
              <a:t>BUILT</a:t>
            </a:r>
          </a:p>
        </p:txBody>
      </p:sp>
      <p:sp>
        <p:nvSpPr>
          <p:cNvPr id="7" name="text-228">
            <a:extLst xmlns:a="http://schemas.openxmlformats.org/drawingml/2006/main">
              <a:ext uri="{FF2B5EF4-FFF2-40B4-BE49-F238E27FC236}">
                <a16:creationId xmlns:a16="http://schemas.microsoft.com/office/drawing/2014/main" id="{6C40A529-C8A8-4670-9FED-7FA1448FB697}"/>
              </a:ext>
            </a:extLst>
          </p:cNvPr>
          <p:cNvSpPr>
            <a:spLocks xmlns:a="http://schemas.openxmlformats.org/drawingml/2006/main" noGrp="1"/>
          </p:cNvSpPr>
          <p:nvPr/>
        </p:nvSpPr>
        <p:spPr>
          <a:xfrm xmlns:a="http://schemas.openxmlformats.org/drawingml/2006/main">
            <a:off x="533400"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Core secret workflows</a:t>
            </a:r>
          </a:p>
        </p:txBody>
      </p:sp>
      <p:sp>
        <p:nvSpPr>
          <p:cNvPr id="8" name="text-229">
            <a:extLst xmlns:a="http://schemas.openxmlformats.org/drawingml/2006/main">
              <a:ext uri="{FF2B5EF4-FFF2-40B4-BE49-F238E27FC236}">
                <a16:creationId xmlns:a16="http://schemas.microsoft.com/office/drawing/2014/main" id="{B492816E-4509-4612-AD72-DDA5884FEA4D}"/>
              </a:ext>
            </a:extLst>
          </p:cNvPr>
          <p:cNvSpPr>
            <a:spLocks xmlns:a="http://schemas.openxmlformats.org/drawingml/2006/main" noGrp="1"/>
          </p:cNvSpPr>
          <p:nvPr/>
        </p:nvSpPr>
        <p:spPr>
          <a:xfrm xmlns:a="http://schemas.openxmlformats.org/drawingml/2006/main">
            <a:off x="533400"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SDK retrieval</a:t>
            </a:r>
          </a:p>
        </p:txBody>
      </p:sp>
      <p:sp>
        <p:nvSpPr>
          <p:cNvPr id="9" name="text-230">
            <a:extLst xmlns:a="http://schemas.openxmlformats.org/drawingml/2006/main">
              <a:ext uri="{FF2B5EF4-FFF2-40B4-BE49-F238E27FC236}">
                <a16:creationId xmlns:a16="http://schemas.microsoft.com/office/drawing/2014/main" id="{648BF1CA-43FC-491C-AB8B-DCB0EEADA25E}"/>
              </a:ext>
            </a:extLst>
          </p:cNvPr>
          <p:cNvSpPr>
            <a:spLocks xmlns:a="http://schemas.openxmlformats.org/drawingml/2006/main" noGrp="1"/>
          </p:cNvSpPr>
          <p:nvPr/>
        </p:nvSpPr>
        <p:spPr>
          <a:xfrm xmlns:a="http://schemas.openxmlformats.org/drawingml/2006/main">
            <a:off x="533400"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Agent policy + MCP</a:t>
            </a:r>
          </a:p>
        </p:txBody>
      </p:sp>
      <p:sp>
        <p:nvSpPr>
          <p:cNvPr id="10" name="text-231">
            <a:extLst xmlns:a="http://schemas.openxmlformats.org/drawingml/2006/main">
              <a:ext uri="{FF2B5EF4-FFF2-40B4-BE49-F238E27FC236}">
                <a16:creationId xmlns:a16="http://schemas.microsoft.com/office/drawing/2014/main" id="{56885779-5EEE-4652-AB00-FAEDF94C1DBB}"/>
              </a:ext>
            </a:extLst>
          </p:cNvPr>
          <p:cNvSpPr>
            <a:spLocks xmlns:a="http://schemas.openxmlformats.org/drawingml/2006/main" noGrp="1"/>
          </p:cNvSpPr>
          <p:nvPr/>
        </p:nvSpPr>
        <p:spPr>
          <a:xfrm xmlns:a="http://schemas.openxmlformats.org/drawingml/2006/main">
            <a:off x="533400"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Self-hosted setup</a:t>
            </a:r>
          </a:p>
        </p:txBody>
      </p:sp>
      <p:sp>
        <p:nvSpPr>
          <p:cNvPr id="11" name="shape-232">
            <a:extLst xmlns:a="http://schemas.openxmlformats.org/drawingml/2006/main">
              <a:ext uri="{FF2B5EF4-FFF2-40B4-BE49-F238E27FC236}">
                <a16:creationId xmlns:a16="http://schemas.microsoft.com/office/drawing/2014/main" id="{A8812FF5-5389-4A4A-BC7F-C81F2910F011}"/>
              </a:ext>
            </a:extLst>
          </p:cNvPr>
          <p:cNvSpPr>
            <a:spLocks xmlns:a="http://schemas.openxmlformats.org/drawingml/2006/main" noGrp="1"/>
          </p:cNvSpPr>
          <p:nvPr/>
        </p:nvSpPr>
        <p:spPr>
          <a:xfrm xmlns:a="http://schemas.openxmlformats.org/drawingml/2006/main">
            <a:off x="4371975" y="2581275"/>
            <a:ext cx="3467100" cy="47625"/>
          </a:xfrm>
          <a:prstGeom xmlns:a="http://schemas.openxmlformats.org/drawingml/2006/main" prst="rect">
            <a:avLst/>
          </a:prstGeom>
          <a:solidFill xmlns:a="http://schemas.openxmlformats.org/drawingml/2006/main">
            <a:srgbClr val="6D5EF4"/>
          </a:solidFill>
          <a:ln xmlns:a="http://schemas.openxmlformats.org/drawingml/2006/main" w="0">
            <a:noFill/>
          </a:ln>
        </p:spPr>
      </p:sp>
      <p:sp>
        <p:nvSpPr>
          <p:cNvPr id="12" name="text-233">
            <a:extLst xmlns:a="http://schemas.openxmlformats.org/drawingml/2006/main">
              <a:ext uri="{FF2B5EF4-FFF2-40B4-BE49-F238E27FC236}">
                <a16:creationId xmlns:a16="http://schemas.microsoft.com/office/drawing/2014/main" id="{79BA7A06-96EB-4CA7-B4EB-2EDA27843B0A}"/>
              </a:ext>
            </a:extLst>
          </p:cNvPr>
          <p:cNvSpPr>
            <a:spLocks xmlns:a="http://schemas.openxmlformats.org/drawingml/2006/main" noGrp="1"/>
          </p:cNvSpPr>
          <p:nvPr/>
        </p:nvSpPr>
        <p:spPr>
          <a:xfrm xmlns:a="http://schemas.openxmlformats.org/drawingml/2006/main">
            <a:off x="4371975"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6D5EF4"/>
                </a:solidFill>
                <a:latin typeface="Arial"/>
                <a:ea typeface="Arial"/>
                <a:cs typeface="Arial"/>
              </a:defRPr>
            </a:pPr>
            <a:r>
              <a:rPr sz="2775" b="1">
                <a:solidFill>
                  <a:srgbClr val="6D5EF4"/>
                </a:solidFill>
                <a:latin typeface="Arial"/>
                <a:ea typeface="Arial"/>
                <a:cs typeface="Arial"/>
              </a:rPr>
              <a:t>NOW</a:t>
            </a:r>
          </a:p>
        </p:txBody>
      </p:sp>
      <p:sp>
        <p:nvSpPr>
          <p:cNvPr id="13" name="text-234">
            <a:extLst xmlns:a="http://schemas.openxmlformats.org/drawingml/2006/main">
              <a:ext uri="{FF2B5EF4-FFF2-40B4-BE49-F238E27FC236}">
                <a16:creationId xmlns:a16="http://schemas.microsoft.com/office/drawing/2014/main" id="{34FB4F5D-516E-43C9-BE15-99B802D95862}"/>
              </a:ext>
            </a:extLst>
          </p:cNvPr>
          <p:cNvSpPr>
            <a:spLocks xmlns:a="http://schemas.openxmlformats.org/drawingml/2006/main" noGrp="1"/>
          </p:cNvSpPr>
          <p:nvPr/>
        </p:nvSpPr>
        <p:spPr>
          <a:xfrm xmlns:a="http://schemas.openxmlformats.org/drawingml/2006/main">
            <a:off x="4371975"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Real-client MCP testing</a:t>
            </a:r>
          </a:p>
        </p:txBody>
      </p:sp>
      <p:sp>
        <p:nvSpPr>
          <p:cNvPr id="14" name="text-235">
            <a:extLst xmlns:a="http://schemas.openxmlformats.org/drawingml/2006/main">
              <a:ext uri="{FF2B5EF4-FFF2-40B4-BE49-F238E27FC236}">
                <a16:creationId xmlns:a16="http://schemas.microsoft.com/office/drawing/2014/main" id="{A772FDD6-9CDA-48DC-BB9E-BCCB4B8C849D}"/>
              </a:ext>
            </a:extLst>
          </p:cNvPr>
          <p:cNvSpPr>
            <a:spLocks xmlns:a="http://schemas.openxmlformats.org/drawingml/2006/main" noGrp="1"/>
          </p:cNvSpPr>
          <p:nvPr/>
        </p:nvSpPr>
        <p:spPr>
          <a:xfrm xmlns:a="http://schemas.openxmlformats.org/drawingml/2006/main">
            <a:off x="4371975"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Security validation</a:t>
            </a:r>
          </a:p>
        </p:txBody>
      </p:sp>
      <p:sp>
        <p:nvSpPr>
          <p:cNvPr id="15" name="text-236">
            <a:extLst xmlns:a="http://schemas.openxmlformats.org/drawingml/2006/main">
              <a:ext uri="{FF2B5EF4-FFF2-40B4-BE49-F238E27FC236}">
                <a16:creationId xmlns:a16="http://schemas.microsoft.com/office/drawing/2014/main" id="{7AACBCE9-4C01-4FD6-9533-3A75169539E2}"/>
              </a:ext>
            </a:extLst>
          </p:cNvPr>
          <p:cNvSpPr>
            <a:spLocks xmlns:a="http://schemas.openxmlformats.org/drawingml/2006/main" noGrp="1"/>
          </p:cNvSpPr>
          <p:nvPr/>
        </p:nvSpPr>
        <p:spPr>
          <a:xfrm xmlns:a="http://schemas.openxmlformats.org/drawingml/2006/main">
            <a:off x="4371975"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Deployment verification</a:t>
            </a:r>
          </a:p>
        </p:txBody>
      </p:sp>
      <p:sp>
        <p:nvSpPr>
          <p:cNvPr id="16" name="text-237">
            <a:extLst xmlns:a="http://schemas.openxmlformats.org/drawingml/2006/main">
              <a:ext uri="{FF2B5EF4-FFF2-40B4-BE49-F238E27FC236}">
                <a16:creationId xmlns:a16="http://schemas.microsoft.com/office/drawing/2014/main" id="{91ABB0D6-4C69-4ECF-852F-672D23265D46}"/>
              </a:ext>
            </a:extLst>
          </p:cNvPr>
          <p:cNvSpPr>
            <a:spLocks xmlns:a="http://schemas.openxmlformats.org/drawingml/2006/main" noGrp="1"/>
          </p:cNvSpPr>
          <p:nvPr/>
        </p:nvSpPr>
        <p:spPr>
          <a:xfrm xmlns:a="http://schemas.openxmlformats.org/drawingml/2006/main">
            <a:off x="4371975"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Release checks</a:t>
            </a:r>
          </a:p>
        </p:txBody>
      </p:sp>
      <p:sp>
        <p:nvSpPr>
          <p:cNvPr id="17" name="shape-238">
            <a:extLst xmlns:a="http://schemas.openxmlformats.org/drawingml/2006/main">
              <a:ext uri="{FF2B5EF4-FFF2-40B4-BE49-F238E27FC236}">
                <a16:creationId xmlns:a16="http://schemas.microsoft.com/office/drawing/2014/main" id="{3955AD80-6436-4B46-8DFF-6478FB1CFC7F}"/>
              </a:ext>
            </a:extLst>
          </p:cNvPr>
          <p:cNvSpPr>
            <a:spLocks xmlns:a="http://schemas.openxmlformats.org/drawingml/2006/main" noGrp="1"/>
          </p:cNvSpPr>
          <p:nvPr/>
        </p:nvSpPr>
        <p:spPr>
          <a:xfrm xmlns:a="http://schemas.openxmlformats.org/drawingml/2006/main">
            <a:off x="8210550" y="2581275"/>
            <a:ext cx="3467100" cy="47625"/>
          </a:xfrm>
          <a:prstGeom xmlns:a="http://schemas.openxmlformats.org/drawingml/2006/main" prst="rect">
            <a:avLst/>
          </a:prstGeom>
          <a:solidFill xmlns:a="http://schemas.openxmlformats.org/drawingml/2006/main">
            <a:srgbClr val="20211F"/>
          </a:solidFill>
          <a:ln xmlns:a="http://schemas.openxmlformats.org/drawingml/2006/main" w="0">
            <a:noFill/>
          </a:ln>
        </p:spPr>
      </p:sp>
      <p:sp>
        <p:nvSpPr>
          <p:cNvPr id="18" name="text-239">
            <a:extLst xmlns:a="http://schemas.openxmlformats.org/drawingml/2006/main">
              <a:ext uri="{FF2B5EF4-FFF2-40B4-BE49-F238E27FC236}">
                <a16:creationId xmlns:a16="http://schemas.microsoft.com/office/drawing/2014/main" id="{A9486537-A7BF-458B-807B-7175D4F794B4}"/>
              </a:ext>
            </a:extLst>
          </p:cNvPr>
          <p:cNvSpPr>
            <a:spLocks xmlns:a="http://schemas.openxmlformats.org/drawingml/2006/main" noGrp="1"/>
          </p:cNvSpPr>
          <p:nvPr/>
        </p:nvSpPr>
        <p:spPr>
          <a:xfrm xmlns:a="http://schemas.openxmlformats.org/drawingml/2006/main">
            <a:off x="8210550" y="2867025"/>
            <a:ext cx="346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75" b="1">
                <a:solidFill>
                  <a:srgbClr val="20211F"/>
                </a:solidFill>
                <a:latin typeface="Arial"/>
                <a:ea typeface="Arial"/>
                <a:cs typeface="Arial"/>
              </a:defRPr>
            </a:pPr>
            <a:r>
              <a:rPr sz="2775" b="1">
                <a:solidFill>
                  <a:srgbClr val="20211F"/>
                </a:solidFill>
                <a:latin typeface="Arial"/>
                <a:ea typeface="Arial"/>
                <a:cs typeface="Arial"/>
              </a:rPr>
              <a:t>NEXT</a:t>
            </a:r>
          </a:p>
        </p:txBody>
      </p:sp>
      <p:sp>
        <p:nvSpPr>
          <p:cNvPr id="19" name="text-240">
            <a:extLst xmlns:a="http://schemas.openxmlformats.org/drawingml/2006/main">
              <a:ext uri="{FF2B5EF4-FFF2-40B4-BE49-F238E27FC236}">
                <a16:creationId xmlns:a16="http://schemas.microsoft.com/office/drawing/2014/main" id="{D65A8AB5-4CA8-441C-AA1D-95444A670113}"/>
              </a:ext>
            </a:extLst>
          </p:cNvPr>
          <p:cNvSpPr>
            <a:spLocks xmlns:a="http://schemas.openxmlformats.org/drawingml/2006/main" noGrp="1"/>
          </p:cNvSpPr>
          <p:nvPr/>
        </p:nvSpPr>
        <p:spPr>
          <a:xfrm xmlns:a="http://schemas.openxmlformats.org/drawingml/2006/main">
            <a:off x="8210550" y="361950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SMTP invitations</a:t>
            </a:r>
          </a:p>
        </p:txBody>
      </p:sp>
      <p:sp>
        <p:nvSpPr>
          <p:cNvPr id="20" name="text-241">
            <a:extLst xmlns:a="http://schemas.openxmlformats.org/drawingml/2006/main">
              <a:ext uri="{FF2B5EF4-FFF2-40B4-BE49-F238E27FC236}">
                <a16:creationId xmlns:a16="http://schemas.microsoft.com/office/drawing/2014/main" id="{D6933CDB-44D0-43DE-9E83-D8A47981CE75}"/>
              </a:ext>
            </a:extLst>
          </p:cNvPr>
          <p:cNvSpPr>
            <a:spLocks xmlns:a="http://schemas.openxmlformats.org/drawingml/2006/main" noGrp="1"/>
          </p:cNvSpPr>
          <p:nvPr/>
        </p:nvSpPr>
        <p:spPr>
          <a:xfrm xmlns:a="http://schemas.openxmlformats.org/drawingml/2006/main">
            <a:off x="8210550" y="408622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Developer experience</a:t>
            </a:r>
          </a:p>
        </p:txBody>
      </p:sp>
      <p:sp>
        <p:nvSpPr>
          <p:cNvPr id="21" name="text-242">
            <a:extLst xmlns:a="http://schemas.openxmlformats.org/drawingml/2006/main">
              <a:ext uri="{FF2B5EF4-FFF2-40B4-BE49-F238E27FC236}">
                <a16:creationId xmlns:a16="http://schemas.microsoft.com/office/drawing/2014/main" id="{EEEE1F49-E89C-419E-B6B0-0D6ECE669E48}"/>
              </a:ext>
            </a:extLst>
          </p:cNvPr>
          <p:cNvSpPr>
            <a:spLocks xmlns:a="http://schemas.openxmlformats.org/drawingml/2006/main" noGrp="1"/>
          </p:cNvSpPr>
          <p:nvPr/>
        </p:nvSpPr>
        <p:spPr>
          <a:xfrm xmlns:a="http://schemas.openxmlformats.org/drawingml/2006/main">
            <a:off x="8210550" y="4552950"/>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Client compatibility</a:t>
            </a:r>
          </a:p>
        </p:txBody>
      </p:sp>
      <p:sp>
        <p:nvSpPr>
          <p:cNvPr id="22" name="text-243">
            <a:extLst xmlns:a="http://schemas.openxmlformats.org/drawingml/2006/main">
              <a:ext uri="{FF2B5EF4-FFF2-40B4-BE49-F238E27FC236}">
                <a16:creationId xmlns:a16="http://schemas.microsoft.com/office/drawing/2014/main" id="{F0D538A4-142B-4DDF-BA29-969D6CEACFF9}"/>
              </a:ext>
            </a:extLst>
          </p:cNvPr>
          <p:cNvSpPr>
            <a:spLocks xmlns:a="http://schemas.openxmlformats.org/drawingml/2006/main" noGrp="1"/>
          </p:cNvSpPr>
          <p:nvPr/>
        </p:nvSpPr>
        <p:spPr>
          <a:xfrm xmlns:a="http://schemas.openxmlformats.org/drawingml/2006/main">
            <a:off x="8210550" y="5019675"/>
            <a:ext cx="3743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20211F"/>
                </a:solidFill>
                <a:latin typeface="Arial"/>
                <a:ea typeface="Arial"/>
                <a:cs typeface="Arial"/>
              </a:defRPr>
            </a:pPr>
            <a:r>
              <a:rPr sz="1950" b="0">
                <a:solidFill>
                  <a:srgbClr val="20211F"/>
                </a:solidFill>
                <a:latin typeface="Arial"/>
                <a:ea typeface="Arial"/>
                <a:cs typeface="Arial"/>
              </a:rPr>
              <a:t>Production readiness</a:t>
            </a:r>
          </a:p>
        </p:txBody>
      </p:sp>
      <p:sp>
        <p:nvSpPr>
          <p:cNvPr id="23" name="text-244">
            <a:extLst xmlns:a="http://schemas.openxmlformats.org/drawingml/2006/main">
              <a:ext uri="{FF2B5EF4-FFF2-40B4-BE49-F238E27FC236}">
                <a16:creationId xmlns:a16="http://schemas.microsoft.com/office/drawing/2014/main" id="{9BDCC8A7-1322-4C09-9A6D-34A5151A5B54}"/>
              </a:ext>
            </a:extLst>
          </p:cNvPr>
          <p:cNvSpPr>
            <a:spLocks xmlns:a="http://schemas.openxmlformats.org/drawingml/2006/main" noGrp="1"/>
          </p:cNvSpPr>
          <p:nvPr/>
        </p:nvSpPr>
        <p:spPr>
          <a:xfrm xmlns:a="http://schemas.openxmlformats.org/drawingml/2006/main">
            <a:off x="533400" y="584835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676961"/>
                </a:solidFill>
                <a:latin typeface="Menlo"/>
                <a:ea typeface="Menlo"/>
                <a:cs typeface="Menlo"/>
              </a:defRPr>
            </a:pPr>
            <a:r>
              <a:rPr sz="1275" b="0">
                <a:solidFill>
                  <a:srgbClr val="676961"/>
                </a:solidFill>
                <a:latin typeface="Menlo"/>
                <a:ea typeface="Menlo"/>
                <a:cs typeface="Menlo"/>
              </a:rPr>
              <a:t>PREVIEW DESCRIBES AGENT MATURITY — NOT A SEPARATE PRODUCT.</a:t>
            </a:r>
          </a:p>
        </p:txBody>
      </p:sp>
    </p:spTree>
    <p:extLst>
      <p:ext uri="{BB962C8B-B14F-4D97-AF65-F5344CB8AC3E}">
        <p14:creationId xmlns:p14="http://schemas.microsoft.com/office/powerpoint/2010/main" val="923245047"/>
      </p:ext>
    </p:extLst>
  </p:cSld>
</p:sld>
</file>

<file path=ppt/slides/slide12.xml><?xml version="1.0" encoding="utf-8"?>
<p:sld xmlns:p="http://schemas.openxmlformats.org/presentationml/2006/main">
  <p:cSld>
    <p:bg>
      <p:bgPr>
        <a:solidFill xmlns:a="http://schemas.openxmlformats.org/drawingml/2006/main">
          <a:srgbClr val="191A1A"/>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db9dbf0e23a432d">
            <a:extLst>
              <a:ext uri="{96DAC541-7B7A-43D3-8B79-37D633B846F1}">
                <asvg:svgBlip xmlns:asvg="http://schemas.microsoft.com/office/drawing/2016/SVG/main" r:embed="R6b4202bad8ca49fb"/>
              </a:ext>
            </a:extLst>
          </a:blip>
          <a:stretch xmlns:a="http://schemas.openxmlformats.org/drawingml/2006/main"/>
        </p:blipFill>
        <p:spPr>
          <a:xfrm xmlns:a="http://schemas.openxmlformats.org/drawingml/2006/main">
            <a:off x="11287125" y="238125"/>
            <a:ext cx="323850" cy="323850"/>
          </a:xfrm>
          <a:prstGeom xmlns:a="http://schemas.openxmlformats.org/drawingml/2006/main" prst="rect">
            <a:avLst/>
          </a:prstGeom>
        </p:spPr>
      </p:pic>
      <p:sp>
        <p:nvSpPr>
          <p:cNvPr id="2" name="shape-245">
            <a:extLst xmlns:a="http://schemas.openxmlformats.org/drawingml/2006/main">
              <a:ext uri="{FF2B5EF4-FFF2-40B4-BE49-F238E27FC236}">
                <a16:creationId xmlns:a16="http://schemas.microsoft.com/office/drawing/2014/main" id="{16117051-6A9D-4FAA-B8DF-8153376A9CB7}"/>
              </a:ext>
            </a:extLst>
          </p:cNvPr>
          <p:cNvSpPr>
            <a:spLocks xmlns:a="http://schemas.openxmlformats.org/drawingml/2006/main" noGrp="1"/>
          </p:cNvSpPr>
          <p:nvPr/>
        </p:nvSpPr>
        <p:spPr>
          <a:xfrm xmlns:a="http://schemas.openxmlformats.org/drawingml/2006/main">
            <a:off x="533400" y="6315075"/>
            <a:ext cx="11125200" cy="9525"/>
          </a:xfrm>
          <a:prstGeom xmlns:a="http://schemas.openxmlformats.org/drawingml/2006/main" prst="rect">
            <a:avLst/>
          </a:prstGeom>
          <a:solidFill xmlns:a="http://schemas.openxmlformats.org/drawingml/2006/main">
            <a:srgbClr val="454741"/>
          </a:solidFill>
          <a:ln xmlns:a="http://schemas.openxmlformats.org/drawingml/2006/main" w="0">
            <a:noFill/>
          </a:ln>
        </p:spPr>
      </p:sp>
      <p:sp>
        <p:nvSpPr>
          <p:cNvPr id="3" name="text-246">
            <a:extLst xmlns:a="http://schemas.openxmlformats.org/drawingml/2006/main">
              <a:ext uri="{FF2B5EF4-FFF2-40B4-BE49-F238E27FC236}">
                <a16:creationId xmlns:a16="http://schemas.microsoft.com/office/drawing/2014/main" id="{90A31588-0EED-4C5A-ADB4-28DA6ADFAD4D}"/>
              </a:ext>
            </a:extLst>
          </p:cNvPr>
          <p:cNvSpPr>
            <a:spLocks xmlns:a="http://schemas.openxmlformats.org/drawingml/2006/main" noGrp="1"/>
          </p:cNvSpPr>
          <p:nvPr/>
        </p:nvSpPr>
        <p:spPr>
          <a:xfrm xmlns:a="http://schemas.openxmlformats.org/drawingml/2006/main">
            <a:off x="533400" y="64770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1B5AC"/>
                </a:solidFill>
                <a:latin typeface="Menlo"/>
                <a:ea typeface="Menlo"/>
                <a:cs typeface="Menlo"/>
              </a:defRPr>
            </a:pPr>
            <a:r>
              <a:rPr sz="1275" b="0">
                <a:solidFill>
                  <a:srgbClr val="B1B5AC"/>
                </a:solidFill>
                <a:latin typeface="Menlo"/>
                <a:ea typeface="Menlo"/>
                <a:cs typeface="Menlo"/>
              </a:rPr>
              <a:t>ENVSYNC / SELF-HOSTED SECRETS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debe1113584355">
            <a:extLst>
              <a:ext uri="{96DAC541-7B7A-43D3-8B79-37D633B846F1}">
                <asvg:svgBlip xmlns:asvg="http://schemas.microsoft.com/office/drawing/2016/SVG/main" r:embed="R0f0506a3663d47a9"/>
              </a:ext>
            </a:extLst>
          </a:blip>
          <a:stretch xmlns:a="http://schemas.openxmlformats.org/drawingml/2006/main"/>
        </p:blipFill>
        <p:spPr>
          <a:xfrm xmlns:a="http://schemas.openxmlformats.org/drawingml/2006/main">
            <a:off x="533400" y="1000125"/>
            <a:ext cx="552450" cy="552450"/>
          </a:xfrm>
          <a:prstGeom xmlns:a="http://schemas.openxmlformats.org/drawingml/2006/main" prst="rect">
            <a:avLst/>
          </a:prstGeom>
        </p:spPr>
      </p:pic>
      <p:sp>
        <p:nvSpPr>
          <p:cNvPr id="5" name="text-247">
            <a:extLst xmlns:a="http://schemas.openxmlformats.org/drawingml/2006/main">
              <a:ext uri="{FF2B5EF4-FFF2-40B4-BE49-F238E27FC236}">
                <a16:creationId xmlns:a16="http://schemas.microsoft.com/office/drawing/2014/main" id="{81AC210B-7687-4BC2-9EB4-23D7675E2861}"/>
              </a:ext>
            </a:extLst>
          </p:cNvPr>
          <p:cNvSpPr>
            <a:spLocks xmlns:a="http://schemas.openxmlformats.org/drawingml/2006/main" noGrp="1"/>
          </p:cNvSpPr>
          <p:nvPr/>
        </p:nvSpPr>
        <p:spPr>
          <a:xfrm xmlns:a="http://schemas.openxmlformats.org/drawingml/2006/main">
            <a:off x="1257300" y="10096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FAFAF6"/>
                </a:solidFill>
                <a:latin typeface="Arial"/>
                <a:ea typeface="Arial"/>
                <a:cs typeface="Arial"/>
              </a:defRPr>
            </a:pPr>
            <a:r>
              <a:rPr sz="3675" b="1">
                <a:solidFill>
                  <a:srgbClr val="FAFAF6"/>
                </a:solidFill>
                <a:latin typeface="Arial"/>
                <a:ea typeface="Arial"/>
                <a:cs typeface="Arial"/>
              </a:rPr>
              <a:t>EnvSync</a:t>
            </a:r>
          </a:p>
        </p:txBody>
      </p:sp>
      <p:sp>
        <p:nvSpPr>
          <p:cNvPr id="6" name="text-248">
            <a:extLst xmlns:a="http://schemas.openxmlformats.org/drawingml/2006/main">
              <a:ext uri="{FF2B5EF4-FFF2-40B4-BE49-F238E27FC236}">
                <a16:creationId xmlns:a16="http://schemas.microsoft.com/office/drawing/2014/main" id="{AC80EC18-DDC0-42DD-A3FD-0351F17F4443}"/>
              </a:ext>
            </a:extLst>
          </p:cNvPr>
          <p:cNvSpPr>
            <a:spLocks xmlns:a="http://schemas.openxmlformats.org/drawingml/2006/main" noGrp="1"/>
          </p:cNvSpPr>
          <p:nvPr/>
        </p:nvSpPr>
        <p:spPr>
          <a:xfrm xmlns:a="http://schemas.openxmlformats.org/drawingml/2006/main">
            <a:off x="533400" y="2009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Secrets should go</a:t>
            </a:r>
          </a:p>
        </p:txBody>
      </p:sp>
      <p:sp>
        <p:nvSpPr>
          <p:cNvPr id="7" name="text-249">
            <a:extLst xmlns:a="http://schemas.openxmlformats.org/drawingml/2006/main">
              <a:ext uri="{FF2B5EF4-FFF2-40B4-BE49-F238E27FC236}">
                <a16:creationId xmlns:a16="http://schemas.microsoft.com/office/drawing/2014/main" id="{5E920766-98FC-4834-88EE-22B1E20DF944}"/>
              </a:ext>
            </a:extLst>
          </p:cNvPr>
          <p:cNvSpPr>
            <a:spLocks xmlns:a="http://schemas.openxmlformats.org/drawingml/2006/main" noGrp="1"/>
          </p:cNvSpPr>
          <p:nvPr/>
        </p:nvSpPr>
        <p:spPr>
          <a:xfrm xmlns:a="http://schemas.openxmlformats.org/drawingml/2006/main">
            <a:off x="533400" y="2771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where they’re needed.</a:t>
            </a:r>
          </a:p>
        </p:txBody>
      </p:sp>
      <p:sp>
        <p:nvSpPr>
          <p:cNvPr id="8" name="text-250">
            <a:extLst xmlns:a="http://schemas.openxmlformats.org/drawingml/2006/main">
              <a:ext uri="{FF2B5EF4-FFF2-40B4-BE49-F238E27FC236}">
                <a16:creationId xmlns:a16="http://schemas.microsoft.com/office/drawing/2014/main" id="{639F85CA-803B-46EF-90A1-5D4D83168F31}"/>
              </a:ext>
            </a:extLst>
          </p:cNvPr>
          <p:cNvSpPr>
            <a:spLocks xmlns:a="http://schemas.openxmlformats.org/drawingml/2006/main" noGrp="1"/>
          </p:cNvSpPr>
          <p:nvPr/>
        </p:nvSpPr>
        <p:spPr>
          <a:xfrm xmlns:a="http://schemas.openxmlformats.org/drawingml/2006/main">
            <a:off x="533400" y="3533775"/>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AFAF6"/>
                </a:solidFill>
                <a:latin typeface="Arial"/>
                <a:ea typeface="Arial"/>
                <a:cs typeface="Arial"/>
              </a:defRPr>
            </a:pPr>
            <a:r>
              <a:rPr sz="5400" b="1">
                <a:solidFill>
                  <a:srgbClr val="FAFAF6"/>
                </a:solidFill>
                <a:latin typeface="Arial"/>
                <a:ea typeface="Arial"/>
                <a:cs typeface="Arial"/>
              </a:rPr>
              <a:t>Not everywhere.</a:t>
            </a:r>
          </a:p>
        </p:txBody>
      </p:sp>
      <p:sp>
        <p:nvSpPr>
          <p:cNvPr id="9" name="text-251">
            <a:extLst xmlns:a="http://schemas.openxmlformats.org/drawingml/2006/main">
              <a:ext uri="{FF2B5EF4-FFF2-40B4-BE49-F238E27FC236}">
                <a16:creationId xmlns:a16="http://schemas.microsoft.com/office/drawing/2014/main" id="{FD9D3941-14B4-4919-8652-0C1C0289E33A}"/>
              </a:ext>
            </a:extLst>
          </p:cNvPr>
          <p:cNvSpPr>
            <a:spLocks xmlns:a="http://schemas.openxmlformats.org/drawingml/2006/main" noGrp="1"/>
          </p:cNvSpPr>
          <p:nvPr/>
        </p:nvSpPr>
        <p:spPr>
          <a:xfrm xmlns:a="http://schemas.openxmlformats.org/drawingml/2006/main">
            <a:off x="533400" y="47720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DCD7FF"/>
                </a:solidFill>
                <a:latin typeface="Menlo"/>
                <a:ea typeface="Menlo"/>
                <a:cs typeface="Menlo"/>
              </a:defRPr>
            </a:pPr>
            <a:r>
              <a:rPr sz="2025" b="1">
                <a:solidFill>
                  <a:srgbClr val="DCD7FF"/>
                </a:solidFill>
                <a:latin typeface="Menlo"/>
                <a:ea typeface="Menlo"/>
                <a:cs typeface="Menlo"/>
              </a:rPr>
              <a:t>HUMANS + APPS + AGENTS  →  ENVIRONMENTS  →  SECRETS</a:t>
            </a:r>
          </a:p>
        </p:txBody>
      </p:sp>
      <p:sp>
        <p:nvSpPr>
          <p:cNvPr id="10" name="text-252">
            <a:extLst xmlns:a="http://schemas.openxmlformats.org/drawingml/2006/main">
              <a:ext uri="{FF2B5EF4-FFF2-40B4-BE49-F238E27FC236}">
                <a16:creationId xmlns:a16="http://schemas.microsoft.com/office/drawing/2014/main" id="{D3B8CA05-28EF-4B89-B521-8976D877371C}"/>
              </a:ext>
            </a:extLst>
          </p:cNvPr>
          <p:cNvSpPr>
            <a:spLocks xmlns:a="http://schemas.openxmlformats.org/drawingml/2006/main" noGrp="1"/>
          </p:cNvSpPr>
          <p:nvPr/>
        </p:nvSpPr>
        <p:spPr>
          <a:xfrm xmlns:a="http://schemas.openxmlformats.org/drawingml/2006/main">
            <a:off x="533400" y="5686425"/>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FAFAF6"/>
                </a:solidFill>
                <a:latin typeface="Arial"/>
                <a:ea typeface="Arial"/>
                <a:cs typeface="Arial"/>
              </a:defRPr>
            </a:pPr>
            <a:r>
              <a:rPr sz="2175" b="1">
                <a:solidFill>
                  <a:srgbClr val="FAFAF6"/>
                </a:solidFill>
                <a:latin typeface="Arial"/>
                <a:ea typeface="Arial"/>
                <a:cs typeface="Arial"/>
              </a:rPr>
              <a:t>envsync.me</a:t>
            </a:r>
          </a:p>
        </p:txBody>
      </p:sp>
      <p:sp>
        <p:nvSpPr>
          <p:cNvPr id="11" name="text-253">
            <a:extLst xmlns:a="http://schemas.openxmlformats.org/drawingml/2006/main">
              <a:ext uri="{FF2B5EF4-FFF2-40B4-BE49-F238E27FC236}">
                <a16:creationId xmlns:a16="http://schemas.microsoft.com/office/drawing/2014/main" id="{89153D21-1DBE-4655-8F84-6F743488C303}"/>
              </a:ext>
            </a:extLst>
          </p:cNvPr>
          <p:cNvSpPr>
            <a:spLocks xmlns:a="http://schemas.openxmlformats.org/drawingml/2006/main" noGrp="1"/>
          </p:cNvSpPr>
          <p:nvPr/>
        </p:nvSpPr>
        <p:spPr>
          <a:xfrm xmlns:a="http://schemas.openxmlformats.org/drawingml/2006/main">
            <a:off x="5838825" y="5743575"/>
            <a:ext cx="582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B1B5AC"/>
                </a:solidFill>
                <a:latin typeface="Menlo"/>
                <a:ea typeface="Menlo"/>
                <a:cs typeface="Menlo"/>
              </a:defRPr>
            </a:pPr>
            <a:r>
              <a:rPr sz="1875" b="0">
                <a:solidFill>
                  <a:srgbClr val="B1B5AC"/>
                </a:solidFill>
                <a:latin typeface="Menlo"/>
                <a:ea typeface="Menlo"/>
                <a:cs typeface="Menlo"/>
              </a:rPr>
              <a:t>github.com/VarunHarinath/EnvSync</a:t>
            </a:r>
          </a:p>
        </p:txBody>
      </p:sp>
    </p:spTree>
    <p:extLst>
      <p:ext uri="{BB962C8B-B14F-4D97-AF65-F5344CB8AC3E}">
        <p14:creationId xmlns:p14="http://schemas.microsoft.com/office/powerpoint/2010/main" val="1387844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2026-09-23T05:03:50.2320000Z</dcterms:created>
  <dcterms:modified xsi:type="dcterms:W3CDTF">2026-09-23T05:03:50.2320000Z</dcterms:modified>
</coreProperties>
</file>