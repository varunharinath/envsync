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f4fcf58253411a" /><Relationship Type="http://schemas.openxmlformats.org/officeDocument/2006/relationships/extended-properties" Target="/docProps/app.xml" Id="R1f19876d3ff24935" /><Relationship Type="http://schemas.openxmlformats.org/officeDocument/2006/relationships/officeDocument" Target="/ppt/presentation.xml" Id="Rc24e1c66611842ec" /></Relationships>
</file>

<file path=ppt/presentation.xml><?xml version="1.0" encoding="utf-8"?>
<p:presentation xmlns:p="http://schemas.openxmlformats.org/presentationml/2006/main">
  <p:sldMasterIdLst>
    <p:sldMasterId xmlns:r="http://schemas.openxmlformats.org/officeDocument/2006/relationships" id="2147483648" r:id="Re877ff7d3b574bac"/>
  </p:sldMasterIdLst>
  <p:notesMasterIdLst>
    <p:notesMasterId xmlns:r="http://schemas.openxmlformats.org/officeDocument/2006/relationships" r:id="R0637b780743b4a01"/>
  </p:notesMasterIdLst>
  <p:sldIdLst>
    <p:sldId xmlns:r="http://schemas.openxmlformats.org/officeDocument/2006/relationships" id="256" r:id="Ra91b24b93f434440"/>
    <p:sldId xmlns:r="http://schemas.openxmlformats.org/officeDocument/2006/relationships" id="257" r:id="R1583f67eca0a40db"/>
    <p:sldId xmlns:r="http://schemas.openxmlformats.org/officeDocument/2006/relationships" id="258" r:id="R14d2f769642f48bf"/>
    <p:sldId xmlns:r="http://schemas.openxmlformats.org/officeDocument/2006/relationships" id="259" r:id="R7db33051b51b4d6a"/>
    <p:sldId xmlns:r="http://schemas.openxmlformats.org/officeDocument/2006/relationships" id="260" r:id="R37d0f45517ef4986"/>
    <p:sldId xmlns:r="http://schemas.openxmlformats.org/officeDocument/2006/relationships" id="261" r:id="R8d029c6c850b4b7b"/>
    <p:sldId xmlns:r="http://schemas.openxmlformats.org/officeDocument/2006/relationships" id="262" r:id="Re95e19b8c76443cb"/>
    <p:sldId xmlns:r="http://schemas.openxmlformats.org/officeDocument/2006/relationships" id="263" r:id="R393ffe6dfe414861"/>
    <p:sldId xmlns:r="http://schemas.openxmlformats.org/officeDocument/2006/relationships" id="264" r:id="R0e8749d28886406b"/>
    <p:sldId xmlns:r="http://schemas.openxmlformats.org/officeDocument/2006/relationships" id="265" r:id="R5b66ce10ef824440"/>
    <p:sldId xmlns:r="http://schemas.openxmlformats.org/officeDocument/2006/relationships" id="266" r:id="R0a86786092c3479b"/>
    <p:sldId xmlns:r="http://schemas.openxmlformats.org/officeDocument/2006/relationships" id="267" r:id="Rdef9553c6cb249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4e6215339644af" /><Relationship Type="http://schemas.openxmlformats.org/officeDocument/2006/relationships/slideMaster" Target="/ppt/slideMasters/slideMaster1.xml" Id="Re877ff7d3b574bac" /><Relationship Type="http://schemas.openxmlformats.org/officeDocument/2006/relationships/notesMaster" Target="/ppt/notesMasters/notesMaster1.xml" Id="R0637b780743b4a01" /><Relationship Type="http://schemas.openxmlformats.org/officeDocument/2006/relationships/presProps" Target="/ppt/presProps.xml" Id="Rc8197b9e9059463f" /><Relationship Type="http://schemas.openxmlformats.org/officeDocument/2006/relationships/tableStyles" Target="/ppt/tableStyles.xml" Id="Ra1005149985b4d37" /><Relationship Type="http://schemas.openxmlformats.org/officeDocument/2006/relationships/slide" Target="/ppt/slides/slide1.xml" Id="Ra91b24b93f434440" /><Relationship Type="http://schemas.openxmlformats.org/officeDocument/2006/relationships/slide" Target="/ppt/slides/slide2.xml" Id="R1583f67eca0a40db" /><Relationship Type="http://schemas.openxmlformats.org/officeDocument/2006/relationships/slide" Target="/ppt/slides/slide3.xml" Id="R14d2f769642f48bf" /><Relationship Type="http://schemas.openxmlformats.org/officeDocument/2006/relationships/slide" Target="/ppt/slides/slide4.xml" Id="R7db33051b51b4d6a" /><Relationship Type="http://schemas.openxmlformats.org/officeDocument/2006/relationships/slide" Target="/ppt/slides/slide5.xml" Id="R37d0f45517ef4986" /><Relationship Type="http://schemas.openxmlformats.org/officeDocument/2006/relationships/slide" Target="/ppt/slides/slide6.xml" Id="R8d029c6c850b4b7b" /><Relationship Type="http://schemas.openxmlformats.org/officeDocument/2006/relationships/slide" Target="/ppt/slides/slide7.xml" Id="Re95e19b8c76443cb" /><Relationship Type="http://schemas.openxmlformats.org/officeDocument/2006/relationships/slide" Target="/ppt/slides/slide8.xml" Id="R393ffe6dfe414861" /><Relationship Type="http://schemas.openxmlformats.org/officeDocument/2006/relationships/slide" Target="/ppt/slides/slide9.xml" Id="R0e8749d28886406b" /><Relationship Type="http://schemas.openxmlformats.org/officeDocument/2006/relationships/slide" Target="/ppt/slides/slide10.xml" Id="R5b66ce10ef824440" /><Relationship Type="http://schemas.openxmlformats.org/officeDocument/2006/relationships/slide" Target="/ppt/slides/slide11.xml" Id="R0a86786092c3479b" /><Relationship Type="http://schemas.openxmlformats.org/officeDocument/2006/relationships/slide" Target="/ppt/slides/slide12.xml" Id="Rdef9553c6cb249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4cceb79fc443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205477de064a00" /><Relationship Type="http://schemas.openxmlformats.org/officeDocument/2006/relationships/notesMaster" Target="/ppt/notesMasters/notesMaster1.xml" Id="R5b589f4957204b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e9ce13c0a44af7" /><Relationship Type="http://schemas.openxmlformats.org/officeDocument/2006/relationships/notesMaster" Target="/ppt/notesMasters/notesMaster1.xml" Id="R7df072d9882c48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4d1a6e936c40b8" /><Relationship Type="http://schemas.openxmlformats.org/officeDocument/2006/relationships/notesMaster" Target="/ppt/notesMasters/notesMaster1.xml" Id="Ra94d5a3e352c44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00b20efcc94cce" /><Relationship Type="http://schemas.openxmlformats.org/officeDocument/2006/relationships/notesMaster" Target="/ppt/notesMasters/notesMaster1.xml" Id="Re2c30898cbaf47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08ffc733014cb1" /><Relationship Type="http://schemas.openxmlformats.org/officeDocument/2006/relationships/notesMaster" Target="/ppt/notesMasters/notesMaster1.xml" Id="R45bacc0d40774b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d0f22e739046ab" /><Relationship Type="http://schemas.openxmlformats.org/officeDocument/2006/relationships/notesMaster" Target="/ppt/notesMasters/notesMaster1.xml" Id="R1b4173c700b74a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fefdf3f0ec4821" /><Relationship Type="http://schemas.openxmlformats.org/officeDocument/2006/relationships/notesMaster" Target="/ppt/notesMasters/notesMaster1.xml" Id="R2e11e244eaa147b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2f9ed02a77465f" /><Relationship Type="http://schemas.openxmlformats.org/officeDocument/2006/relationships/notesMaster" Target="/ppt/notesMasters/notesMaster1.xml" Id="R89ffaf59f3ca459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c6f5102d1d4423" /><Relationship Type="http://schemas.openxmlformats.org/officeDocument/2006/relationships/notesMaster" Target="/ppt/notesMasters/notesMaster1.xml" Id="Ra0734a9f577840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2ccf98a9e54313" /><Relationship Type="http://schemas.openxmlformats.org/officeDocument/2006/relationships/notesMaster" Target="/ppt/notesMasters/notesMaster1.xml" Id="R3c643482e40b46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c41636f52149ed" /><Relationship Type="http://schemas.openxmlformats.org/officeDocument/2006/relationships/notesMaster" Target="/ppt/notesMasters/notesMaster1.xml" Id="Rf8e7c2eafc4947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e7a239ed4141d7" /><Relationship Type="http://schemas.openxmlformats.org/officeDocument/2006/relationships/notesMaster" Target="/ppt/notesMasters/notesMaster1.xml" Id="R09354e1b0bf043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20 seconds</a:t>
            </a:r>
          </a:p>
          <a:p xmlns:a="http://schemas.openxmlformats.org/drawingml/2006/main">
            <a:r>
              <a:t/>
            </a:r>
          </a:p>
          <a:p xmlns:a="http://schemas.openxmlformats.org/drawingml/2006/main">
            <a:r>
              <a:t>SAY</a:t>
            </a:r>
          </a:p>
          <a:p xmlns:a="http://schemas.openxmlformats.org/drawingml/2006/main">
            <a:r>
              <a:t>EnvSync manages environment variables and secrets on infrastructure you control. It gives people, applications, and AI agents a common place to request the configuration they need, while keeping access explicit. The product is already implemented across the web console, application SDKs, and a preview agent workflow.</a:t>
            </a:r>
          </a:p>
          <a:p xmlns:a="http://schemas.openxmlformats.org/drawingml/2006/main">
            <a:r>
              <a:t/>
            </a:r>
          </a:p>
          <a:p xmlns:a="http://schemas.openxmlformats.org/drawingml/2006/main">
            <a:r>
              <a:t>KEY TAKEAWAY</a:t>
            </a:r>
          </a:p>
          <a:p xmlns:a="http://schemas.openxmlformats.org/drawingml/2006/main">
            <a:r>
              <a:t>One product: self-hosted, environment-centered access.</a:t>
            </a:r>
          </a:p>
          <a:p xmlns:a="http://schemas.openxmlformats.org/drawingml/2006/main">
            <a:r>
              <a:t/>
            </a:r>
          </a:p>
          <a:p xmlns:a="http://schemas.openxmlformats.org/drawingml/2006/main">
            <a:r>
              <a:t>TRANSITION</a:t>
            </a:r>
          </a:p>
          <a:p xmlns:a="http://schemas.openxmlformats.org/drawingml/2006/main">
            <a:r>
              <a:t>Start with the everyday problem of sharing .env files.</a:t>
            </a:r>
          </a:p>
          <a:p xmlns:a="http://schemas.openxmlformats.org/drawingml/2006/main">
            <a:r>
              <a:t/>
            </a:r>
          </a:p>
          <a:p xmlns:a="http://schemas.openxmlformats.org/drawingml/2006/main">
            <a:r>
              <a:t>CAUTION</a:t>
            </a:r>
          </a:p>
          <a:p xmlns:a="http://schemas.openxmlformats.org/drawingml/2006/main">
            <a:r>
              <a:t>MCP functionality is Preview, not a production-readiness or universal-client compatibility claim.</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https://github.com/VarunHarinath/EnvSync/blob/main/README.md</a:t>
            </a:r>
          </a:p>
          <a:p xmlns:a="http://schemas.openxmlformats.org/drawingml/2006/main">
            <a:r>
              <a:t>https://github.com/VarunHarinath/EnvSync/blob/main/sdk/node/README.md</a:t>
            </a:r>
          </a:p>
          <a:p xmlns:a="http://schemas.openxmlformats.org/drawingml/2006/main">
            <a:r>
              <a:t>https://github.com/VarunHarinath/EnvSync/blob/main/WebService/mcp/server.js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30 seconds</a:t>
            </a:r>
          </a:p>
          <a:p xmlns:a="http://schemas.openxmlformats.org/drawingml/2006/main">
            <a:r>
              <a:t/>
            </a:r>
          </a:p>
          <a:p xmlns:a="http://schemas.openxmlformats.org/drawingml/2006/main">
            <a:r>
              <a:t>SAY</a:t>
            </a:r>
          </a:p>
          <a:p xmlns:a="http://schemas.openxmlformats.org/drawingml/2006/main">
            <a:r>
              <a:t>A local .env file is a convenient start. The problem is what happens when the same configuration is copied into a laptop, a server, a pipeline, and now an agent’s context. Copies drift, access becomes implicit, and revoking access no longer means changing one policy. EnvSync replaces this copy-and-distribute habit with an explicit request-and-authorize model.</a:t>
            </a:r>
          </a:p>
          <a:p xmlns:a="http://schemas.openxmlformats.org/drawingml/2006/main">
            <a:r>
              <a:t/>
            </a:r>
          </a:p>
          <a:p xmlns:a="http://schemas.openxmlformats.org/drawingml/2006/main">
            <a:r>
              <a:t>KEY TAKEAWAY</a:t>
            </a:r>
          </a:p>
          <a:p xmlns:a="http://schemas.openxmlformats.org/drawingml/2006/main">
            <a:r>
              <a:t>The pain is uncontrolled distribution, not the file format.</a:t>
            </a:r>
          </a:p>
          <a:p xmlns:a="http://schemas.openxmlformats.org/drawingml/2006/main">
            <a:r>
              <a:t/>
            </a:r>
          </a:p>
          <a:p xmlns:a="http://schemas.openxmlformats.org/drawingml/2006/main">
            <a:r>
              <a:t>TRANSITION</a:t>
            </a:r>
          </a:p>
          <a:p xmlns:a="http://schemas.openxmlformats.org/drawingml/2006/main">
            <a:r>
              <a:t>Show the central project and its environments.</a:t>
            </a:r>
          </a:p>
          <a:p xmlns:a="http://schemas.openxmlformats.org/drawingml/2006/main">
            <a:r>
              <a:t/>
            </a:r>
          </a:p>
          <a:p xmlns:a="http://schemas.openxmlformats.org/drawingml/2006/main">
            <a:r>
              <a:t>CAUTION</a:t>
            </a:r>
          </a:p>
          <a:p xmlns:a="http://schemas.openxmlformats.org/drawingml/2006/main">
            <a:r>
              <a:t>Illustrative workflow, not user research or an incident statistic. Only variable names are shown.</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https://github.com/VarunHarinath/EnvSync/blob/main/README.md</a:t>
            </a:r>
          </a:p>
          <a:p xmlns:a="http://schemas.openxmlformats.org/drawingml/2006/main">
            <a:r>
              <a:t>https://github.com/VarunHarinath/EnvSync/blob/main/Client/src/components/landing/Editorial.jsx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35 seconds</a:t>
            </a:r>
          </a:p>
          <a:p xmlns:a="http://schemas.openxmlformats.org/drawingml/2006/main">
            <a:r>
              <a:t/>
            </a:r>
          </a:p>
          <a:p xmlns:a="http://schemas.openxmlformats.org/drawingml/2006/main">
            <a:r>
              <a:t>SAY</a:t>
            </a:r>
          </a:p>
          <a:p xmlns:a="http://schemas.openxmlformats.org/drawingml/2006/main">
            <a:r>
              <a:t>A project groups related configuration. Environments define the deployment contexts: development, testing, staging, and production. Secret records are attached to the appropriate environments. People manage them in the console; applications retrieve them through scoped keys; approved agents use explicit environment assignments. These are three consumers of the same platform, not separate products.</a:t>
            </a:r>
          </a:p>
          <a:p xmlns:a="http://schemas.openxmlformats.org/drawingml/2006/main">
            <a:r>
              <a:t/>
            </a:r>
          </a:p>
          <a:p xmlns:a="http://schemas.openxmlformats.org/drawingml/2006/main">
            <a:r>
              <a:t>KEY TAKEAWAY</a:t>
            </a:r>
          </a:p>
          <a:p xmlns:a="http://schemas.openxmlformats.org/drawingml/2006/main">
            <a:r>
              <a:t>Organize configuration around projects and environments.</a:t>
            </a:r>
          </a:p>
          <a:p xmlns:a="http://schemas.openxmlformats.org/drawingml/2006/main">
            <a:r>
              <a:t/>
            </a:r>
          </a:p>
          <a:p xmlns:a="http://schemas.openxmlformats.org/drawingml/2006/main">
            <a:r>
              <a:t>TRANSITION</a:t>
            </a:r>
          </a:p>
          <a:p xmlns:a="http://schemas.openxmlformats.org/drawingml/2006/main">
            <a:r>
              <a:t>Now make the access relationships explicit.</a:t>
            </a:r>
          </a:p>
          <a:p xmlns:a="http://schemas.openxmlformats.org/drawingml/2006/main">
            <a:r>
              <a:t/>
            </a:r>
          </a:p>
          <a:p xmlns:a="http://schemas.openxmlformats.org/drawingml/2006/main">
            <a:r>
              <a:t>CAUTION</a:t>
            </a:r>
          </a:p>
          <a:p xmlns:a="http://schemas.openxmlformats.org/drawingml/2006/main">
            <a:r>
              <a:t>PAYMENTS and variable names are illustrative. Secret records can be attached to multiple environments; cloning copies attachments, not independent values.</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https://github.com/VarunHarinath/EnvSync/blob/main/WebService/routes/resources.js</a:t>
            </a:r>
          </a:p>
          <a:p xmlns:a="http://schemas.openxmlformats.org/drawingml/2006/main">
            <a:r>
              <a:t>https://github.com/VarunHarinath/EnvSync/blob/main/WebService/db/migrations/001_initial.sql</a:t>
            </a:r>
          </a:p>
          <a:p xmlns:a="http://schemas.openxmlformats.org/drawingml/2006/main">
            <a:r>
              <a:t>https://github.com/VarunHarinath/EnvSync/blob/main/WebService/db/migrations/003_mcp_agents.sql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35 seconds</a:t>
            </a:r>
          </a:p>
          <a:p xmlns:a="http://schemas.openxmlformats.org/drawingml/2006/main">
            <a:r>
              <a:t/>
            </a:r>
          </a:p>
          <a:p xmlns:a="http://schemas.openxmlformats.org/drawingml/2006/main">
            <a:r>
              <a:t>SAY</a:t>
            </a:r>
          </a:p>
          <a:p xmlns:a="http://schemas.openxmlformats.org/drawingml/2006/main">
            <a:r>
              <a:t>The shared principle is simple: each identity should receive only the access it needs. In this illustration, the developer can work in development and testing; the production application can read production; the coding agent cannot. Implementation differs by actor: users combine global permissions and resource sharing, applications use project- or environment-scoped keys, and agents have environment grants with read or read-plus-write levels.</a:t>
            </a:r>
          </a:p>
          <a:p xmlns:a="http://schemas.openxmlformats.org/drawingml/2006/main">
            <a:r>
              <a:t/>
            </a:r>
          </a:p>
          <a:p xmlns:a="http://schemas.openxmlformats.org/drawingml/2006/main">
            <a:r>
              <a:t>KEY TAKEAWAY</a:t>
            </a:r>
          </a:p>
          <a:p xmlns:a="http://schemas.openxmlformats.org/drawingml/2006/main">
            <a:r>
              <a:t>One access principle, actor-specific enforcement.</a:t>
            </a:r>
          </a:p>
          <a:p xmlns:a="http://schemas.openxmlformats.org/drawingml/2006/main">
            <a:r>
              <a:t/>
            </a:r>
          </a:p>
          <a:p xmlns:a="http://schemas.openxmlformats.org/drawingml/2006/main">
            <a:r>
              <a:t>TRANSITION</a:t>
            </a:r>
          </a:p>
          <a:p xmlns:a="http://schemas.openxmlformats.org/drawingml/2006/main">
            <a:r>
              <a:t>Show that this exists as a real product interface.</a:t>
            </a:r>
          </a:p>
          <a:p xmlns:a="http://schemas.openxmlformats.org/drawingml/2006/main">
            <a:r>
              <a:t/>
            </a:r>
          </a:p>
          <a:p xmlns:a="http://schemas.openxmlformats.org/drawingml/2006/main">
            <a:r>
              <a:t>CAUTION</a:t>
            </a:r>
          </a:p>
          <a:p xmlns:a="http://schemas.openxmlformats.org/drawingml/2006/main">
            <a:r>
              <a:t>Matrix is conceptual, not a screenshot of exact stored grants. Human permissions are not a fully uniform per-environment RBAC model; app keys can be project-scoped. Agent functionality remains Preview.</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https://github.com/VarunHarinath/EnvSync/blob/main/WebService/middleware/auth.js</a:t>
            </a:r>
          </a:p>
          <a:p xmlns:a="http://schemas.openxmlformats.org/drawingml/2006/main">
            <a:r>
              <a:t>https://github.com/VarunHarinath/EnvSync/blob/main/WebService/routes/resources.js</a:t>
            </a:r>
          </a:p>
          <a:p xmlns:a="http://schemas.openxmlformats.org/drawingml/2006/main">
            <a:r>
              <a:t>https://github.com/VarunHarinath/EnvSync/blob/main/WebService/routes/resources.js</a:t>
            </a:r>
          </a:p>
          <a:p xmlns:a="http://schemas.openxmlformats.org/drawingml/2006/main">
            <a:r>
              <a:t>https://github.com/VarunHarinath/EnvSync/blob/main/WebService/Services/agentPolicy.js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30 seconds</a:t>
            </a:r>
          </a:p>
          <a:p xmlns:a="http://schemas.openxmlformats.org/drawingml/2006/main">
            <a:r>
              <a:t/>
            </a:r>
          </a:p>
          <a:p xmlns:a="http://schemas.openxmlformats.org/drawingml/2006/main">
            <a:r>
              <a:t>SAY</a:t>
            </a:r>
          </a:p>
          <a:p xmlns:a="http://schemas.openxmlformats.org/drawingml/2006/main">
            <a:r>
              <a:t>This is the running local application, not a rendered product concept. The environment drawer shows attached secret names, a sharing control, and assigned agent access. Values are not exposed in this view. Beyond this screen, the repository includes AES-256-GCM storage encryption, environment cloning, scoped application keys, and audit history.</a:t>
            </a:r>
          </a:p>
          <a:p xmlns:a="http://schemas.openxmlformats.org/drawingml/2006/main">
            <a:r>
              <a:t/>
            </a:r>
          </a:p>
          <a:p xmlns:a="http://schemas.openxmlformats.org/drawingml/2006/main">
            <a:r>
              <a:t>KEY TAKEAWAY</a:t>
            </a:r>
          </a:p>
          <a:p xmlns:a="http://schemas.openxmlformats.org/drawingml/2006/main">
            <a:r>
              <a:t>Substantial working product already exists.</a:t>
            </a:r>
          </a:p>
          <a:p xmlns:a="http://schemas.openxmlformats.org/drawingml/2006/main">
            <a:r>
              <a:t/>
            </a:r>
          </a:p>
          <a:p xmlns:a="http://schemas.openxmlformats.org/drawingml/2006/main">
            <a:r>
              <a:t>TRANSITION</a:t>
            </a:r>
          </a:p>
          <a:p xmlns:a="http://schemas.openxmlformats.org/drawingml/2006/main">
            <a:r>
              <a:t>Follow an application request through the SDK.</a:t>
            </a:r>
          </a:p>
          <a:p xmlns:a="http://schemas.openxmlformats.org/drawingml/2006/main">
            <a:r>
              <a:t/>
            </a:r>
          </a:p>
          <a:p xmlns:a="http://schemas.openxmlformats.org/drawingml/2006/main">
            <a:r>
              <a:t>CAUTION</a:t>
            </a:r>
          </a:p>
          <a:p xmlns:a="http://schemas.openxmlformats.org/drawingml/2006/main">
            <a:r>
              <a:t>Screenshot captured 22 September 2026 from an existing local test project. Cropped for readability; no records or credentials were created. Environment cloning copies references. Screenshot itself is raster; labels and all other diagrams remain editable.</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https://github.com/VarunHarinath/EnvSync/blob/main/Client/src/pages/Environments.jsx</a:t>
            </a:r>
          </a:p>
          <a:p xmlns:a="http://schemas.openxmlformats.org/drawingml/2006/main">
            <a:r>
              <a:t>https://github.com/VarunHarinath/EnvSync/blob/main/WebService/routes/resources.js</a:t>
            </a:r>
          </a:p>
          <a:p xmlns:a="http://schemas.openxmlformats.org/drawingml/2006/main">
            <a:r>
              <a:t>https://github.com/VarunHarinath/EnvSync/blob/main/WebService/lib/security.js</a:t>
            </a:r>
          </a:p>
          <a:p xmlns:a="http://schemas.openxmlformats.org/drawingml/2006/main">
            <a:r>
              <a:t>https://github.com/VarunHarinath/EnvSync/blob/main/WebService/Services/audit.js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35 seconds</a:t>
            </a:r>
          </a:p>
          <a:p xmlns:a="http://schemas.openxmlformats.org/drawingml/2006/main">
            <a:r>
              <a:t/>
            </a:r>
          </a:p>
          <a:p xmlns:a="http://schemas.openxmlformats.org/drawingml/2006/main">
            <a:r>
              <a:t>SAY</a:t>
            </a:r>
          </a:p>
          <a:p xmlns:a="http://schemas.openxmlformats.org/drawingml/2006/main">
            <a:r>
              <a:t>The Node SDK is already implemented in the repository as @envsync/node. The application supplies its key and the base URL of its own EnvSync deployment, then asks for DATABASE_URL. The server checks the key and its pull permission and resolves the allowed scope. Python offers the corresponding client. This example intentionally references environment variables rather than embedding credentials.</a:t>
            </a:r>
          </a:p>
          <a:p xmlns:a="http://schemas.openxmlformats.org/drawingml/2006/main">
            <a:r>
              <a:t/>
            </a:r>
          </a:p>
          <a:p xmlns:a="http://schemas.openxmlformats.org/drawingml/2006/main">
            <a:r>
              <a:t>KEY TAKEAWAY</a:t>
            </a:r>
          </a:p>
          <a:p xmlns:a="http://schemas.openxmlformats.org/drawingml/2006/main">
            <a:r>
              <a:t>Applications request named secrets through scoped credentials.</a:t>
            </a:r>
          </a:p>
          <a:p xmlns:a="http://schemas.openxmlformats.org/drawingml/2006/main">
            <a:r>
              <a:t/>
            </a:r>
          </a:p>
          <a:p xmlns:a="http://schemas.openxmlformats.org/drawingml/2006/main">
            <a:r>
              <a:t>TRANSITION</a:t>
            </a:r>
          </a:p>
          <a:p xmlns:a="http://schemas.openxmlformats.org/drawingml/2006/main">
            <a:r>
              <a:t>Agents need the same precision, plus human approval and time limits.</a:t>
            </a:r>
          </a:p>
          <a:p xmlns:a="http://schemas.openxmlformats.org/drawingml/2006/main">
            <a:r>
              <a:t/>
            </a:r>
          </a:p>
          <a:p xmlns:a="http://schemas.openxmlformats.org/drawingml/2006/main">
            <a:r>
              <a:t>CAUTION</a:t>
            </a:r>
          </a:p>
          <a:p xmlns:a="http://schemas.openxmlformats.org/drawingml/2006/main">
            <a:r>
              <a:t>Package source exists; public registry publication is not asserted. Application keys can be scoped to a project or one environment. Authorized plaintext reaches the application and may be cached; revocation cannot erase values already retrieved.</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https://github.com/VarunHarinath/EnvSync/blob/main/sdk/node/src/index.js</a:t>
            </a:r>
          </a:p>
          <a:p xmlns:a="http://schemas.openxmlformats.org/drawingml/2006/main">
            <a:r>
              <a:t>https://github.com/VarunHarinath/EnvSync/blob/main/sdk/node/README.md</a:t>
            </a:r>
          </a:p>
          <a:p xmlns:a="http://schemas.openxmlformats.org/drawingml/2006/main">
            <a:r>
              <a:t>https://github.com/VarunHarinath/EnvSync/blob/main/sdk/python/src/envsync/client.py</a:t>
            </a:r>
          </a:p>
          <a:p xmlns:a="http://schemas.openxmlformats.org/drawingml/2006/main">
            <a:r>
              <a:t>https://github.com/VarunHarinath/EnvSync/blob/main/WebService/routes/resources.js</a:t>
            </a:r>
          </a:p>
          <a:p xmlns:a="http://schemas.openxmlformats.org/drawingml/2006/main">
            <a:r>
              <a:t>https://github.com/VarunHarinath/EnvSync/blob/main/WebService/middleware/auth.js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45 seconds</a:t>
            </a:r>
          </a:p>
          <a:p xmlns:a="http://schemas.openxmlformats.org/drawingml/2006/main">
            <a:r>
              <a:t/>
            </a:r>
          </a:p>
          <a:p xmlns:a="http://schemas.openxmlformats.org/drawingml/2006/main">
            <a:r>
              <a:t>SAY</a:t>
            </a:r>
          </a:p>
          <a:p xmlns:a="http://schemas.openxmlformats.org/drawingml/2006/main">
            <a:r>
              <a:t>The agent workflow is implemented but labeled Preview while client interoperability and production hardening continue. An agent can enroll into a pending state; an administrator decides whether to approve it. An administrator can also explicitly connect a named agent with approved assignments. Each selected environment can have its own permission and expiration. Here, a coding agent can modify development, read testing, and cannot access production. These are example grants, not live timers. MCP is the local stdio bridge into the same backend policy.</a:t>
            </a:r>
          </a:p>
          <a:p xmlns:a="http://schemas.openxmlformats.org/drawingml/2006/main">
            <a:r>
              <a:t/>
            </a:r>
          </a:p>
          <a:p xmlns:a="http://schemas.openxmlformats.org/drawingml/2006/main">
            <a:r>
              <a:t>KEY TAKEAWAY</a:t>
            </a:r>
          </a:p>
          <a:p xmlns:a="http://schemas.openxmlformats.org/drawingml/2006/main">
            <a:r>
              <a:t>Agents receive bounded assignments, never a blanket vault.</a:t>
            </a:r>
          </a:p>
          <a:p xmlns:a="http://schemas.openxmlformats.org/drawingml/2006/main">
            <a:r>
              <a:t/>
            </a:r>
          </a:p>
          <a:p xmlns:a="http://schemas.openxmlformats.org/drawingml/2006/main">
            <a:r>
              <a:t>TRANSITION</a:t>
            </a:r>
          </a:p>
          <a:p xmlns:a="http://schemas.openxmlformats.org/drawingml/2006/main">
            <a:r>
              <a:t>Distinguish a successful connection from an authorized operation.</a:t>
            </a:r>
          </a:p>
          <a:p xmlns:a="http://schemas.openxmlformats.org/drawingml/2006/main">
            <a:r>
              <a:t/>
            </a:r>
          </a:p>
          <a:p xmlns:a="http://schemas.openxmlformats.org/drawingml/2006/main">
            <a:r>
              <a:t>CAUTION</a:t>
            </a:r>
          </a:p>
          <a:p xmlns:a="http://schemas.openxmlformats.org/drawingml/2006/main">
            <a:r>
              <a:t>Illustrative grants and TTLs. Current adapter is stdio; no hosted remote MCP or verified compatibility with every AI client is claimed. Delete tools are unavailable.</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https://github.com/VarunHarinath/EnvSync/blob/main/WebService/routes/agents.js</a:t>
            </a:r>
          </a:p>
          <a:p xmlns:a="http://schemas.openxmlformats.org/drawingml/2006/main">
            <a:r>
              <a:t>https://github.com/VarunHarinath/EnvSync/blob/main/WebService/Services/agentPolicy.js</a:t>
            </a:r>
          </a:p>
          <a:p xmlns:a="http://schemas.openxmlformats.org/drawingml/2006/main">
            <a:r>
              <a:t>https://github.com/VarunHarinath/EnvSync/blob/main/WebService/mcp/server.js</a:t>
            </a:r>
          </a:p>
          <a:p xmlns:a="http://schemas.openxmlformats.org/drawingml/2006/main">
            <a:r>
              <a:t>https://github.com/VarunHarinath/EnvSync/blob/main/Client/src/pages/McpAgents.jsx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35 seconds</a:t>
            </a:r>
          </a:p>
          <a:p xmlns:a="http://schemas.openxmlformats.org/drawingml/2006/main">
            <a:r>
              <a:t/>
            </a:r>
          </a:p>
          <a:p xmlns:a="http://schemas.openxmlformats.org/drawingml/2006/main">
            <a:r>
              <a:t>SAY</a:t>
            </a:r>
          </a:p>
          <a:p xmlns:a="http://schemas.openxmlformats.org/drawingml/2006/main">
            <a:r>
              <a:t>A connection identifies the caller; it does not grant permission. Before an agent can read or modify a secret, the server checks the credential, approval state, environment assignment, required access level, and expiration boundaries. Revoked credentials and revoked grants stop subsequent authorization. A pending agent or an agent without the requested environment has no secret access. The decision stays in the backend, not in a prompt telling the model to behave.</a:t>
            </a:r>
          </a:p>
          <a:p xmlns:a="http://schemas.openxmlformats.org/drawingml/2006/main">
            <a:r>
              <a:t/>
            </a:r>
          </a:p>
          <a:p xmlns:a="http://schemas.openxmlformats.org/drawingml/2006/main">
            <a:r>
              <a:t>KEY TAKEAWAY</a:t>
            </a:r>
          </a:p>
          <a:p xmlns:a="http://schemas.openxmlformats.org/drawingml/2006/main">
            <a:r>
              <a:t>Policy is enforced by the server, not by agent instructions.</a:t>
            </a:r>
          </a:p>
          <a:p xmlns:a="http://schemas.openxmlformats.org/drawingml/2006/main">
            <a:r>
              <a:t/>
            </a:r>
          </a:p>
          <a:p xmlns:a="http://schemas.openxmlformats.org/drawingml/2006/main">
            <a:r>
              <a:t>TRANSITION</a:t>
            </a:r>
          </a:p>
          <a:p xmlns:a="http://schemas.openxmlformats.org/drawingml/2006/main">
            <a:r>
              <a:t>Show where that server runs.</a:t>
            </a:r>
          </a:p>
          <a:p xmlns:a="http://schemas.openxmlformats.org/drawingml/2006/main">
            <a:r>
              <a:t/>
            </a:r>
          </a:p>
          <a:p xmlns:a="http://schemas.openxmlformats.org/drawingml/2006/main">
            <a:r>
              <a:t>CAUTION</a:t>
            </a:r>
          </a:p>
          <a:p xmlns:a="http://schemas.openxmlformats.org/drawingml/2006/main">
            <a:r>
              <a:t>Checks are verified in implementation and unit tests, not a comprehensive penetration test. Previously disclosed values cannot be retracted. Shared secret attachments require security review before asserting strict value isolation.</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https://github.com/VarunHarinath/EnvSync/blob/main/WebService/middleware/auth.js</a:t>
            </a:r>
          </a:p>
          <a:p xmlns:a="http://schemas.openxmlformats.org/drawingml/2006/main">
            <a:r>
              <a:t>https://github.com/VarunHarinath/EnvSync/blob/main/WebService/Services/agentPolicy.js</a:t>
            </a:r>
          </a:p>
          <a:p xmlns:a="http://schemas.openxmlformats.org/drawingml/2006/main">
            <a:r>
              <a:t>https://github.com/VarunHarinath/EnvSync/blob/main/WebService/Services/secretAccess.js</a:t>
            </a:r>
          </a:p>
          <a:p xmlns:a="http://schemas.openxmlformats.org/drawingml/2006/main">
            <a:r>
              <a:t>https://github.com/VarunHarinath/EnvSync/blob/main/WebService/test/agent-policy.test.js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30 seconds</a:t>
            </a:r>
          </a:p>
          <a:p xmlns:a="http://schemas.openxmlformats.org/drawingml/2006/main">
            <a:r>
              <a:t/>
            </a:r>
          </a:p>
          <a:p xmlns:a="http://schemas.openxmlformats.org/drawingml/2006/main">
            <a:r>
              <a:t>SAY</a:t>
            </a:r>
          </a:p>
          <a:p xmlns:a="http://schemas.openxmlformats.org/drawingml/2006/main">
            <a:r>
              <a:t>EnvSync runs close to your code. The guided root setup brings up a Docker Compose stack with a frontend, Node API, and PostgreSQL. The database stays on an internal backend network and is not published directly to the host. You control where this stack runs and how it is exposed. There is no mandatory external secrets SaaS. The setup launcher itself requires Node.js 20 or newer and Docker.</a:t>
            </a:r>
          </a:p>
          <a:p xmlns:a="http://schemas.openxmlformats.org/drawingml/2006/main">
            <a:r>
              <a:t/>
            </a:r>
          </a:p>
          <a:p xmlns:a="http://schemas.openxmlformats.org/drawingml/2006/main">
            <a:r>
              <a:t>KEY TAKEAWAY</a:t>
            </a:r>
          </a:p>
          <a:p xmlns:a="http://schemas.openxmlformats.org/drawingml/2006/main">
            <a:r>
              <a:t>Local-first deployment is a concrete architecture choice.</a:t>
            </a:r>
          </a:p>
          <a:p xmlns:a="http://schemas.openxmlformats.org/drawingml/2006/main">
            <a:r>
              <a:t/>
            </a:r>
          </a:p>
          <a:p xmlns:a="http://schemas.openxmlformats.org/drawingml/2006/main">
            <a:r>
              <a:t>TRANSITION</a:t>
            </a:r>
          </a:p>
          <a:p xmlns:a="http://schemas.openxmlformats.org/drawingml/2006/main">
            <a:r>
              <a:t>Inventory what has already been implemented.</a:t>
            </a:r>
          </a:p>
          <a:p xmlns:a="http://schemas.openxmlformats.org/drawingml/2006/main">
            <a:r>
              <a:t/>
            </a:r>
          </a:p>
          <a:p xmlns:a="http://schemas.openxmlformats.org/drawingml/2006/main">
            <a:r>
              <a:t>CAUTION</a:t>
            </a:r>
          </a:p>
          <a:p xmlns:a="http://schemas.openxmlformats.org/drawingml/2006/main">
            <a:r>
              <a:t>Self-hosting is not automatic operational security: operators still need TLS, backups, key handling, and network configuration. The host Node prerequisite must not be hidden.</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https://github.com/VarunHarinath/EnvSync/blob/main/docker-compose.yml</a:t>
            </a:r>
          </a:p>
          <a:p xmlns:a="http://schemas.openxmlformats.org/drawingml/2006/main">
            <a:r>
              <a:t>https://github.com/VarunHarinath/EnvSync/blob/main/scripts/setup.js</a:t>
            </a:r>
          </a:p>
          <a:p xmlns:a="http://schemas.openxmlformats.org/drawingml/2006/main">
            <a:r>
              <a:t>https://github.com/VarunHarinath/EnvSync/blob/main/WebService/Dockerfile</a:t>
            </a:r>
          </a:p>
          <a:p xmlns:a="http://schemas.openxmlformats.org/drawingml/2006/main">
            <a:r>
              <a:t>https://github.com/VarunHarinath/EnvSync/blob/main/Client/Dockerfile</a:t>
            </a:r>
          </a:p>
          <a:p xmlns:a="http://schemas.openxmlformats.org/drawingml/2006/main">
            <a:r>
              <a:t>https://github.com/VarunHarinath/EnvSync/blob/main/README.md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35 seconds</a:t>
            </a:r>
          </a:p>
          <a:p xmlns:a="http://schemas.openxmlformats.org/drawingml/2006/main">
            <a:r>
              <a:t/>
            </a:r>
          </a:p>
          <a:p xmlns:a="http://schemas.openxmlformats.org/drawingml/2006/main">
            <a:r>
              <a:t>SAY</a:t>
            </a:r>
          </a:p>
          <a:p xmlns:a="http://schemas.openxmlformats.org/drawingml/2006/main">
            <a:r>
              <a:t>The repository already contains the core platform end to end. There are local accounts and session handling; project, environment, and encrypted secret management; sharing and application-key permissions; Node and Python clients; a preview MCP adapter and agent authorization workflow; and the Docker setup plus audit history. These are code-backed modules rather than boxes on a roadmap. The next step is to turn implementation into dependable operational readiness.</a:t>
            </a:r>
          </a:p>
          <a:p xmlns:a="http://schemas.openxmlformats.org/drawingml/2006/main">
            <a:r>
              <a:t/>
            </a:r>
          </a:p>
          <a:p xmlns:a="http://schemas.openxmlformats.org/drawingml/2006/main">
            <a:r>
              <a:t>KEY TAKEAWAY</a:t>
            </a:r>
          </a:p>
          <a:p xmlns:a="http://schemas.openxmlformats.org/drawingml/2006/main">
            <a:r>
              <a:t>Implementation breadth is real; maturity is the next milestone.</a:t>
            </a:r>
          </a:p>
          <a:p xmlns:a="http://schemas.openxmlformats.org/drawingml/2006/main">
            <a:r>
              <a:t/>
            </a:r>
          </a:p>
          <a:p xmlns:a="http://schemas.openxmlformats.org/drawingml/2006/main">
            <a:r>
              <a:t>TRANSITION</a:t>
            </a:r>
          </a:p>
          <a:p xmlns:a="http://schemas.openxmlformats.org/drawingml/2006/main">
            <a:r>
              <a:t>Separate built scope from hardening priorities.</a:t>
            </a:r>
          </a:p>
          <a:p xmlns:a="http://schemas.openxmlformats.org/drawingml/2006/main">
            <a:r>
              <a:t/>
            </a:r>
          </a:p>
          <a:p xmlns:a="http://schemas.openxmlformats.org/drawingml/2006/main">
            <a:r>
              <a:t>CAUTION</a:t>
            </a:r>
          </a:p>
          <a:p xmlns:a="http://schemas.openxmlformats.org/drawingml/2006/main">
            <a:r>
              <a:t>Implemented does not mean exhaustively validated or independently audited. Module labels describe reviewed code, not certifications, adoption, or production reliability.</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https://github.com/VarunHarinath/EnvSync/blob/main/README.md</a:t>
            </a:r>
          </a:p>
          <a:p xmlns:a="http://schemas.openxmlformats.org/drawingml/2006/main">
            <a:r>
              <a:t>https://github.com/VarunHarinath/EnvSync/blob/main/WebService/routes/auth.js</a:t>
            </a:r>
          </a:p>
          <a:p xmlns:a="http://schemas.openxmlformats.org/drawingml/2006/main">
            <a:r>
              <a:t>https://github.com/VarunHarinath/EnvSync/blob/main/WebService/routes/resources.js</a:t>
            </a:r>
          </a:p>
          <a:p xmlns:a="http://schemas.openxmlformats.org/drawingml/2006/main">
            <a:r>
              <a:t>https://github.com/VarunHarinath/EnvSync/blob/main/WebService/routes/agents.js</a:t>
            </a:r>
          </a:p>
          <a:p xmlns:a="http://schemas.openxmlformats.org/drawingml/2006/main">
            <a:r>
              <a:t>https://github.com/VarunHarinath/EnvSync/blob/main/sdk/node/README.md</a:t>
            </a:r>
          </a:p>
          <a:p xmlns:a="http://schemas.openxmlformats.org/drawingml/2006/main">
            <a:r>
              <a:t>https://github.com/VarunHarinath/EnvSync/blob/main/sdk/python/README.md</a:t>
            </a:r>
          </a:p>
          <a:p xmlns:a="http://schemas.openxmlformats.org/drawingml/2006/main">
            <a:r>
              <a:t>https://github.com/VarunHarinath/EnvSync/blob/main/docker-compose.yml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30 seconds</a:t>
            </a:r>
          </a:p>
          <a:p xmlns:a="http://schemas.openxmlformats.org/drawingml/2006/main">
            <a:r>
              <a:t/>
            </a:r>
          </a:p>
          <a:p xmlns:a="http://schemas.openxmlformats.org/drawingml/2006/main">
            <a:r>
              <a:t>SAY</a:t>
            </a:r>
          </a:p>
          <a:p xmlns:a="http://schemas.openxmlformats.org/drawingml/2006/main">
            <a:r>
              <a:t>The work now is hardening what is already built: exercise real MCP clients, validate security boundaries, verify deployments, and make releases repeatable. The next priorities include email invitation delivery, smoother developer experience, broader client compatibility, and production readiness. This is a proposed near-term direction grounded in the current repository gaps, not a promise of completion dates.</a:t>
            </a:r>
          </a:p>
          <a:p xmlns:a="http://schemas.openxmlformats.org/drawingml/2006/main">
            <a:r>
              <a:t/>
            </a:r>
          </a:p>
          <a:p xmlns:a="http://schemas.openxmlformats.org/drawingml/2006/main">
            <a:r>
              <a:t>KEY TAKEAWAY</a:t>
            </a:r>
          </a:p>
          <a:p xmlns:a="http://schemas.openxmlformats.org/drawingml/2006/main">
            <a:r>
              <a:t>The next milestone is confidence, not a new product category.</a:t>
            </a:r>
          </a:p>
          <a:p xmlns:a="http://schemas.openxmlformats.org/drawingml/2006/main">
            <a:r>
              <a:t/>
            </a:r>
          </a:p>
          <a:p xmlns:a="http://schemas.openxmlformats.org/drawingml/2006/main">
            <a:r>
              <a:t>TRANSITION</a:t>
            </a:r>
          </a:p>
          <a:p xmlns:a="http://schemas.openxmlformats.org/drawingml/2006/main">
            <a:r>
              <a:t>Close with the platform vision.</a:t>
            </a:r>
          </a:p>
          <a:p xmlns:a="http://schemas.openxmlformats.org/drawingml/2006/main">
            <a:r>
              <a:t/>
            </a:r>
          </a:p>
          <a:p xmlns:a="http://schemas.openxmlformats.org/drawingml/2006/main">
            <a:r>
              <a:t>CAUTION</a:t>
            </a:r>
          </a:p>
          <a:p xmlns:a="http://schemas.openxmlformats.org/drawingml/2006/main">
            <a:r>
              <a:t>Roadmap is proposed, not committed. SMTP delivery is not implemented. No penetration-test certification, uptime, adoption, or customer metric is claimed.</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https://github.com/VarunHarinath/EnvSync/blob/main/README.md</a:t>
            </a:r>
          </a:p>
          <a:p xmlns:a="http://schemas.openxmlformats.org/drawingml/2006/main">
            <a:r>
              <a:t>https://github.com/VarunHarinath/EnvSync/blob/main/WebService/test/mcp.test.js</a:t>
            </a:r>
          </a:p>
          <a:p xmlns:a="http://schemas.openxmlformats.org/drawingml/2006/main">
            <a:r>
              <a:t>https://github.com/VarunHarinath/EnvSync/blob/main/WebService/test/agent-policy.test.js</a:t>
            </a:r>
          </a:p>
          <a:p xmlns:a="http://schemas.openxmlformats.org/drawingml/2006/main">
            <a:r>
              <a:t>https://github.com/VarunHarinath/EnvSync/blob/main/WebService/mcp/server.js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30 seconds</a:t>
            </a:r>
          </a:p>
          <a:p xmlns:a="http://schemas.openxmlformats.org/drawingml/2006/main">
            <a:r>
              <a:t/>
            </a:r>
          </a:p>
          <a:p xmlns:a="http://schemas.openxmlformats.org/drawingml/2006/main">
            <a:r>
              <a:t>SAY</a:t>
            </a:r>
          </a:p>
          <a:p xmlns:a="http://schemas.openxmlformats.org/drawingml/2006/main">
            <a:r>
              <a:t>The vision is an access layer for the identities that build and run software. People, applications, and agents should get the configuration they need in the environment where they need it—not inherit the entire vault. EnvSync starts with a self-hosted foundation and extends the same principle to temporary agent access. Explore the repository, try the local setup, and help pressure-test the boundaries.</a:t>
            </a:r>
          </a:p>
          <a:p xmlns:a="http://schemas.openxmlformats.org/drawingml/2006/main">
            <a:r>
              <a:t/>
            </a:r>
          </a:p>
          <a:p xmlns:a="http://schemas.openxmlformats.org/drawingml/2006/main">
            <a:r>
              <a:t>KEY TAKEAWAY</a:t>
            </a:r>
          </a:p>
          <a:p xmlns:a="http://schemas.openxmlformats.org/drawingml/2006/main">
            <a:r>
              <a:t>One platform. Explicit access. Secrets in their place.</a:t>
            </a:r>
          </a:p>
          <a:p xmlns:a="http://schemas.openxmlformats.org/drawingml/2006/main">
            <a:r>
              <a:t/>
            </a:r>
          </a:p>
          <a:p xmlns:a="http://schemas.openxmlformats.org/drawingml/2006/main">
            <a:r>
              <a:t>TRANSITION</a:t>
            </a:r>
          </a:p>
          <a:p xmlns:a="http://schemas.openxmlformats.org/drawingml/2006/main">
            <a:r>
              <a:t>Invite questions or a short product demonstration.</a:t>
            </a:r>
          </a:p>
          <a:p xmlns:a="http://schemas.openxmlformats.org/drawingml/2006/main">
            <a:r>
              <a:t/>
            </a:r>
          </a:p>
          <a:p xmlns:a="http://schemas.openxmlformats.org/drawingml/2006/main">
            <a:r>
              <a:t>CAUTION</a:t>
            </a:r>
          </a:p>
          <a:p xmlns:a="http://schemas.openxmlformats.org/drawingml/2006/main">
            <a:r>
              <a:t>Vision describes direction, not guaranteed outcomes. Agent features remain Preview. No funding ask was requested.</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https://github.com/VarunHarinath/EnvSync/blob/main/README.md</a:t>
            </a:r>
          </a:p>
          <a:p xmlns:a="http://schemas.openxmlformats.org/drawingml/2006/main">
            <a:r>
              <a:t>https://github.com/VarunHarinath/EnvSync/blob/main/WebService/Services/agentPolicy.js</a:t>
            </a:r>
          </a:p>
          <a:p xmlns:a="http://schemas.openxmlformats.org/drawingml/2006/main">
            <a:r>
              <a:t>https://github.com/VarunHarinath/EnvSync/blob/main/sdk/node/README.md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7df448538a4c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936faf6e1d4f42" /><Relationship Type="http://schemas.openxmlformats.org/officeDocument/2006/relationships/slideLayout" Target="/ppt/slideLayouts/slideLayout1.xml" Id="R6c13a40f6d704c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13a40f6d704c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fbfb72535754aa5" /><Relationship Type="http://schemas.openxmlformats.org/officeDocument/2006/relationships/image" Target="/ppt/media/image.png" Id="R64605909322c4c7f" /><Relationship Type="http://schemas.openxmlformats.org/officeDocument/2006/relationships/image" Target="/ppt/media/image.svg" Id="Rdea745a3451f4712" /><Relationship Type="http://schemas.openxmlformats.org/officeDocument/2006/relationships/image" Target="/ppt/media/image2.png" Id="R7b691533feee4d0d" /><Relationship Type="http://schemas.openxmlformats.org/officeDocument/2006/relationships/image" Target="/ppt/media/image2.svg" Id="R8bef33a0eadf4424" /><Relationship Type="http://schemas.openxmlformats.org/officeDocument/2006/relationships/notesSlide" Target="/ppt/notesSlides/notesSlide1.xml" Id="R7a64c47966d54b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8db9dbae264b26" /><Relationship Type="http://schemas.openxmlformats.org/officeDocument/2006/relationships/image" Target="/ppt/media/image3.png" Id="R36f7e505869a4dce" /><Relationship Type="http://schemas.openxmlformats.org/officeDocument/2006/relationships/image" Target="/ppt/media/image3.svg" Id="R5d925feb96704bf9" /><Relationship Type="http://schemas.openxmlformats.org/officeDocument/2006/relationships/notesSlide" Target="/ppt/notesSlides/notesSlide2.xml" Id="Rd99d32d39c1a4a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56e794bfdb4311" /><Relationship Type="http://schemas.openxmlformats.org/officeDocument/2006/relationships/image" Target="/ppt/media/image4.png" Id="R2253fc4646f4419d" /><Relationship Type="http://schemas.openxmlformats.org/officeDocument/2006/relationships/image" Target="/ppt/media/image4.svg" Id="R4862948acef247d5" /><Relationship Type="http://schemas.openxmlformats.org/officeDocument/2006/relationships/notesSlide" Target="/ppt/notesSlides/notesSlide3.xml" Id="Rd5353847dd1c41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56d5900bd0f4e27" /><Relationship Type="http://schemas.openxmlformats.org/officeDocument/2006/relationships/image" Target="/ppt/media/image5.png" Id="Rffef84d4fe024c8f" /><Relationship Type="http://schemas.openxmlformats.org/officeDocument/2006/relationships/image" Target="/ppt/media/image5.svg" Id="R014d09e082774103" /><Relationship Type="http://schemas.openxmlformats.org/officeDocument/2006/relationships/notesSlide" Target="/ppt/notesSlides/notesSlide4.xml" Id="R987dc4f5f1ac42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97a922bc634fcb" /><Relationship Type="http://schemas.openxmlformats.org/officeDocument/2006/relationships/image" Target="/ppt/media/image6.png" Id="R16ec2876d7b04e57" /><Relationship Type="http://schemas.openxmlformats.org/officeDocument/2006/relationships/image" Target="/ppt/media/image6.svg" Id="R89ddb793fc2f4160" /><Relationship Type="http://schemas.openxmlformats.org/officeDocument/2006/relationships/image" Target="/ppt/media/image7.png" Id="Rcb91f2b1c14947ef" /><Relationship Type="http://schemas.openxmlformats.org/officeDocument/2006/relationships/notesSlide" Target="/ppt/notesSlides/notesSlide5.xml" Id="R5f8e5304f79542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662679ae15b4c1e" /><Relationship Type="http://schemas.openxmlformats.org/officeDocument/2006/relationships/image" Target="/ppt/media/image8.png" Id="R1e223defc8224de6" /><Relationship Type="http://schemas.openxmlformats.org/officeDocument/2006/relationships/image" Target="/ppt/media/image7.svg" Id="R2a6c81988b244773" /><Relationship Type="http://schemas.openxmlformats.org/officeDocument/2006/relationships/notesSlide" Target="/ppt/notesSlides/notesSlide6.xml" Id="R892bd4cf73a54d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ec53ffc5f484804" /><Relationship Type="http://schemas.openxmlformats.org/officeDocument/2006/relationships/image" Target="/ppt/media/image9.png" Id="R3f820fa240164a69" /><Relationship Type="http://schemas.openxmlformats.org/officeDocument/2006/relationships/image" Target="/ppt/media/image8.svg" Id="R22aac134302544c4" /><Relationship Type="http://schemas.openxmlformats.org/officeDocument/2006/relationships/notesSlide" Target="/ppt/notesSlides/notesSlide7.xml" Id="R454f977111594e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9e9c63cfa664466" /><Relationship Type="http://schemas.openxmlformats.org/officeDocument/2006/relationships/image" Target="/ppt/media/image10.png" Id="R9932276cf3a04e25" /><Relationship Type="http://schemas.openxmlformats.org/officeDocument/2006/relationships/image" Target="/ppt/media/image9.svg" Id="R5265ea01d6f84597" /><Relationship Type="http://schemas.openxmlformats.org/officeDocument/2006/relationships/notesSlide" Target="/ppt/notesSlides/notesSlide8.xml" Id="R0fd1763461e745e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0a7d438a56545cf" /><Relationship Type="http://schemas.openxmlformats.org/officeDocument/2006/relationships/image" Target="/ppt/media/image11.png" Id="R63ed4a0682ee4c4c" /><Relationship Type="http://schemas.openxmlformats.org/officeDocument/2006/relationships/image" Target="/ppt/media/image10.svg" Id="Re88f8e5de8f44789" /><Relationship Type="http://schemas.openxmlformats.org/officeDocument/2006/relationships/notesSlide" Target="/ppt/notesSlides/notesSlide9.xml" Id="R59d2100e6deb4a0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05a7c6be40a405d" /><Relationship Type="http://schemas.openxmlformats.org/officeDocument/2006/relationships/image" Target="/ppt/media/image12.png" Id="R543c3c9eeb234158" /><Relationship Type="http://schemas.openxmlformats.org/officeDocument/2006/relationships/image" Target="/ppt/media/image11.svg" Id="R9b37fe7c4c01461f" /><Relationship Type="http://schemas.openxmlformats.org/officeDocument/2006/relationships/notesSlide" Target="/ppt/notesSlides/notesSlide10.xml" Id="Rd4cfb98d3d3f449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9ec740222604e8b" /><Relationship Type="http://schemas.openxmlformats.org/officeDocument/2006/relationships/image" Target="/ppt/media/image13.png" Id="R0f0e106b602b45fb" /><Relationship Type="http://schemas.openxmlformats.org/officeDocument/2006/relationships/image" Target="/ppt/media/image12.svg" Id="Radcdb75e664e4121" /><Relationship Type="http://schemas.openxmlformats.org/officeDocument/2006/relationships/notesSlide" Target="/ppt/notesSlides/notesSlide11.xml" Id="Ra0d21b91f49644d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1980e30e1ca4718" /><Relationship Type="http://schemas.openxmlformats.org/officeDocument/2006/relationships/image" Target="/ppt/media/image14.png" Id="Rd92aeac8b7434f45" /><Relationship Type="http://schemas.openxmlformats.org/officeDocument/2006/relationships/image" Target="/ppt/media/image13.svg" Id="Ra0497a1542a54be7" /><Relationship Type="http://schemas.openxmlformats.org/officeDocument/2006/relationships/image" Target="/ppt/media/image15.png" Id="R00148c0570b24284" /><Relationship Type="http://schemas.openxmlformats.org/officeDocument/2006/relationships/image" Target="/ppt/media/image14.svg" Id="R05458cdf658e44dd" /><Relationship Type="http://schemas.openxmlformats.org/officeDocument/2006/relationships/notesSlide" Target="/ppt/notesSlides/notesSlide12.xml" Id="Rc1dcc86480ec48a4" /></Relationships>
</file>

<file path=ppt/slides/slide1.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26" name="text-1">
            <a:extLst xmlns:a="http://schemas.openxmlformats.org/drawingml/2006/main">
              <a:ext uri="{FF2B5EF4-FFF2-40B4-BE49-F238E27FC236}">
                <a16:creationId xmlns:a16="http://schemas.microsoft.com/office/drawing/2014/main" id="{2808280B-C63B-4C1C-8627-F02264BB5FF7}"/>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01 / ENVSYNC</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4605909322c4c7f">
            <a:extLst>
              <a:ext uri="{96DAC541-7B7A-43D3-8B79-37D633B846F1}">
                <asvg:svgBlip xmlns:asvg="http://schemas.microsoft.com/office/drawing/2016/SVG/main" r:embed="Rdea745a3451f4712"/>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3" name="shape-2">
            <a:extLst xmlns:a="http://schemas.openxmlformats.org/drawingml/2006/main">
              <a:ext uri="{FF2B5EF4-FFF2-40B4-BE49-F238E27FC236}">
                <a16:creationId xmlns:a16="http://schemas.microsoft.com/office/drawing/2014/main" id="{67E7D74B-668C-44B9-B4EB-B04E1837C3B0}"/>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07FBC0FD-35D0-40D1-8BDC-6BD349E73708}"/>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ENVSYNC / SELF-HOSTED SECRETS</a:t>
            </a:r>
          </a:p>
        </p:txBody>
      </p:sp>
      <p:sp>
        <p:nvSpPr>
          <p:cNvPr id="5" name="text-4">
            <a:extLst xmlns:a="http://schemas.openxmlformats.org/drawingml/2006/main">
              <a:ext uri="{FF2B5EF4-FFF2-40B4-BE49-F238E27FC236}">
                <a16:creationId xmlns:a16="http://schemas.microsoft.com/office/drawing/2014/main" id="{984FEDD4-B260-49E2-9705-C6D699DC98D5}"/>
              </a:ext>
            </a:extLst>
          </p:cNvPr>
          <p:cNvSpPr>
            <a:spLocks xmlns:a="http://schemas.openxmlformats.org/drawingml/2006/main" noGrp="1"/>
          </p:cNvSpPr>
          <p:nvPr/>
        </p:nvSpPr>
        <p:spPr>
          <a:xfrm xmlns:a="http://schemas.openxmlformats.org/drawingml/2006/main">
            <a:off x="11144250" y="644842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676961"/>
                </a:solidFill>
                <a:latin typeface="Menlo"/>
                <a:ea typeface="Menlo"/>
                <a:cs typeface="Menlo"/>
              </a:defRPr>
            </a:pPr>
            <a:r>
              <a:rPr sz="1350" b="0">
                <a:solidFill>
                  <a:srgbClr val="676961"/>
                </a:solidFill>
                <a:latin typeface="Menlo"/>
                <a:ea typeface="Menlo"/>
                <a:cs typeface="Menlo"/>
              </a:rPr>
              <a:t>01</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7b691533feee4d0d">
            <a:extLst>
              <a:ext uri="{96DAC541-7B7A-43D3-8B79-37D633B846F1}">
                <asvg:svgBlip xmlns:asvg="http://schemas.microsoft.com/office/drawing/2016/SVG/main" r:embed="R8bef33a0eadf4424"/>
              </a:ext>
            </a:extLst>
          </a:blip>
          <a:stretch xmlns:a="http://schemas.openxmlformats.org/drawingml/2006/main"/>
        </p:blipFill>
        <p:spPr>
          <a:xfrm xmlns:a="http://schemas.openxmlformats.org/drawingml/2006/main">
            <a:off x="533400" y="990600"/>
            <a:ext cx="552450" cy="552450"/>
          </a:xfrm>
          <a:prstGeom xmlns:a="http://schemas.openxmlformats.org/drawingml/2006/main" prst="rect">
            <a:avLst/>
          </a:prstGeom>
        </p:spPr>
      </p:pic>
      <p:sp>
        <p:nvSpPr>
          <p:cNvPr id="7" name="text-5">
            <a:extLst xmlns:a="http://schemas.openxmlformats.org/drawingml/2006/main">
              <a:ext uri="{FF2B5EF4-FFF2-40B4-BE49-F238E27FC236}">
                <a16:creationId xmlns:a16="http://schemas.microsoft.com/office/drawing/2014/main" id="{B3265020-8AF5-43AD-AA85-71B515BB99B9}"/>
              </a:ext>
            </a:extLst>
          </p:cNvPr>
          <p:cNvSpPr>
            <a:spLocks xmlns:a="http://schemas.openxmlformats.org/drawingml/2006/main" noGrp="1"/>
          </p:cNvSpPr>
          <p:nvPr/>
        </p:nvSpPr>
        <p:spPr>
          <a:xfrm xmlns:a="http://schemas.openxmlformats.org/drawingml/2006/main">
            <a:off x="1247775" y="1019175"/>
            <a:ext cx="3810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675" b="1">
                <a:solidFill>
                  <a:srgbClr val="20211F"/>
                </a:solidFill>
                <a:latin typeface="Arial"/>
                <a:ea typeface="Arial"/>
                <a:cs typeface="Arial"/>
              </a:defRPr>
            </a:pPr>
            <a:r>
              <a:rPr sz="3675" b="1">
                <a:solidFill>
                  <a:srgbClr val="20211F"/>
                </a:solidFill>
                <a:latin typeface="Arial"/>
                <a:ea typeface="Arial"/>
                <a:cs typeface="Arial"/>
              </a:rPr>
              <a:t>EnvSync</a:t>
            </a:r>
          </a:p>
        </p:txBody>
      </p:sp>
      <p:sp>
        <p:nvSpPr>
          <p:cNvPr id="8" name="text-6">
            <a:extLst xmlns:a="http://schemas.openxmlformats.org/drawingml/2006/main">
              <a:ext uri="{FF2B5EF4-FFF2-40B4-BE49-F238E27FC236}">
                <a16:creationId xmlns:a16="http://schemas.microsoft.com/office/drawing/2014/main" id="{8498918A-0883-47A1-BF2E-8EA1AB57BB82}"/>
              </a:ext>
            </a:extLst>
          </p:cNvPr>
          <p:cNvSpPr>
            <a:spLocks xmlns:a="http://schemas.openxmlformats.org/drawingml/2006/main" noGrp="1"/>
          </p:cNvSpPr>
          <p:nvPr/>
        </p:nvSpPr>
        <p:spPr>
          <a:xfrm xmlns:a="http://schemas.openxmlformats.org/drawingml/2006/main">
            <a:off x="533400" y="2124075"/>
            <a:ext cx="809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175" b="1">
                <a:solidFill>
                  <a:srgbClr val="20211F"/>
                </a:solidFill>
                <a:latin typeface="Arial"/>
                <a:ea typeface="Arial"/>
                <a:cs typeface="Arial"/>
              </a:defRPr>
            </a:pPr>
            <a:r>
              <a:rPr sz="5175" b="1">
                <a:solidFill>
                  <a:srgbClr val="20211F"/>
                </a:solidFill>
                <a:latin typeface="Arial"/>
                <a:ea typeface="Arial"/>
                <a:cs typeface="Arial"/>
              </a:rPr>
              <a:t>Environment</a:t>
            </a:r>
          </a:p>
        </p:txBody>
      </p:sp>
      <p:sp>
        <p:nvSpPr>
          <p:cNvPr id="9" name="text-7">
            <a:extLst xmlns:a="http://schemas.openxmlformats.org/drawingml/2006/main">
              <a:ext uri="{FF2B5EF4-FFF2-40B4-BE49-F238E27FC236}">
                <a16:creationId xmlns:a16="http://schemas.microsoft.com/office/drawing/2014/main" id="{643C9CAC-DF74-4041-A0F1-F3543C540566}"/>
              </a:ext>
            </a:extLst>
          </p:cNvPr>
          <p:cNvSpPr>
            <a:spLocks xmlns:a="http://schemas.openxmlformats.org/drawingml/2006/main" noGrp="1"/>
          </p:cNvSpPr>
          <p:nvPr/>
        </p:nvSpPr>
        <p:spPr>
          <a:xfrm xmlns:a="http://schemas.openxmlformats.org/drawingml/2006/main">
            <a:off x="533400" y="2857500"/>
            <a:ext cx="809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175" b="1">
                <a:solidFill>
                  <a:srgbClr val="20211F"/>
                </a:solidFill>
                <a:latin typeface="Arial"/>
                <a:ea typeface="Arial"/>
                <a:cs typeface="Arial"/>
              </a:defRPr>
            </a:pPr>
            <a:r>
              <a:rPr sz="5175" b="1">
                <a:solidFill>
                  <a:srgbClr val="20211F"/>
                </a:solidFill>
                <a:latin typeface="Arial"/>
                <a:ea typeface="Arial"/>
                <a:cs typeface="Arial"/>
              </a:rPr>
              <a:t>variables, without</a:t>
            </a:r>
          </a:p>
        </p:txBody>
      </p:sp>
      <p:sp>
        <p:nvSpPr>
          <p:cNvPr id="10" name="text-8">
            <a:extLst xmlns:a="http://schemas.openxmlformats.org/drawingml/2006/main">
              <a:ext uri="{FF2B5EF4-FFF2-40B4-BE49-F238E27FC236}">
                <a16:creationId xmlns:a16="http://schemas.microsoft.com/office/drawing/2014/main" id="{C0567575-606F-4561-A8D0-0E19E0D3A536}"/>
              </a:ext>
            </a:extLst>
          </p:cNvPr>
          <p:cNvSpPr>
            <a:spLocks xmlns:a="http://schemas.openxmlformats.org/drawingml/2006/main" noGrp="1"/>
          </p:cNvSpPr>
          <p:nvPr/>
        </p:nvSpPr>
        <p:spPr>
          <a:xfrm xmlns:a="http://schemas.openxmlformats.org/drawingml/2006/main">
            <a:off x="533400" y="3590925"/>
            <a:ext cx="809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175" b="1">
                <a:solidFill>
                  <a:srgbClr val="20211F"/>
                </a:solidFill>
                <a:latin typeface="Arial"/>
                <a:ea typeface="Arial"/>
                <a:cs typeface="Arial"/>
              </a:defRPr>
            </a:pPr>
            <a:r>
              <a:rPr sz="5175" b="1">
                <a:solidFill>
                  <a:srgbClr val="20211F"/>
                </a:solidFill>
                <a:latin typeface="Arial"/>
                <a:ea typeface="Arial"/>
                <a:cs typeface="Arial"/>
              </a:rPr>
              <a:t>the .env chaos.</a:t>
            </a:r>
          </a:p>
        </p:txBody>
      </p:sp>
      <p:sp>
        <p:nvSpPr>
          <p:cNvPr id="11" name="text-9">
            <a:extLst xmlns:a="http://schemas.openxmlformats.org/drawingml/2006/main">
              <a:ext uri="{FF2B5EF4-FFF2-40B4-BE49-F238E27FC236}">
                <a16:creationId xmlns:a16="http://schemas.microsoft.com/office/drawing/2014/main" id="{6D8F34D4-2B8A-4216-B9B2-BD11E1D6B528}"/>
              </a:ext>
            </a:extLst>
          </p:cNvPr>
          <p:cNvSpPr>
            <a:spLocks xmlns:a="http://schemas.openxmlformats.org/drawingml/2006/main" noGrp="1"/>
          </p:cNvSpPr>
          <p:nvPr/>
        </p:nvSpPr>
        <p:spPr>
          <a:xfrm xmlns:a="http://schemas.openxmlformats.org/drawingml/2006/main">
            <a:off x="571500" y="47910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676961"/>
                </a:solidFill>
                <a:latin typeface="Arial"/>
                <a:ea typeface="Arial"/>
                <a:cs typeface="Arial"/>
              </a:defRPr>
            </a:pPr>
            <a:r>
              <a:rPr sz="2100" b="0">
                <a:solidFill>
                  <a:srgbClr val="676961"/>
                </a:solidFill>
                <a:latin typeface="Arial"/>
                <a:ea typeface="Arial"/>
                <a:cs typeface="Arial"/>
              </a:rPr>
              <a:t>Self-hosted secrets for people, applications, and AI agents.</a:t>
            </a:r>
          </a:p>
        </p:txBody>
      </p:sp>
      <p:sp>
        <p:nvSpPr>
          <p:cNvPr id="12" name="text-10">
            <a:extLst xmlns:a="http://schemas.openxmlformats.org/drawingml/2006/main">
              <a:ext uri="{FF2B5EF4-FFF2-40B4-BE49-F238E27FC236}">
                <a16:creationId xmlns:a16="http://schemas.microsoft.com/office/drawing/2014/main" id="{F8AC9E51-00FF-495A-B635-4D9AFAD2BF7B}"/>
              </a:ext>
            </a:extLst>
          </p:cNvPr>
          <p:cNvSpPr>
            <a:spLocks xmlns:a="http://schemas.openxmlformats.org/drawingml/2006/main" noGrp="1"/>
          </p:cNvSpPr>
          <p:nvPr/>
        </p:nvSpPr>
        <p:spPr>
          <a:xfrm xmlns:a="http://schemas.openxmlformats.org/drawingml/2006/main">
            <a:off x="571500" y="5638800"/>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SELF-HOSTED   /   ENVIRONMENT-SCOPED   /   SDK + MCP</a:t>
            </a:r>
          </a:p>
        </p:txBody>
      </p:sp>
      <p:sp>
        <p:nvSpPr>
          <p:cNvPr id="13" name="text-11">
            <a:extLst xmlns:a="http://schemas.openxmlformats.org/drawingml/2006/main">
              <a:ext uri="{FF2B5EF4-FFF2-40B4-BE49-F238E27FC236}">
                <a16:creationId xmlns:a16="http://schemas.microsoft.com/office/drawing/2014/main" id="{2A4BB32A-971A-4D4A-8DF3-C85BCF5A9F5B}"/>
              </a:ext>
            </a:extLst>
          </p:cNvPr>
          <p:cNvSpPr>
            <a:spLocks xmlns:a="http://schemas.openxmlformats.org/drawingml/2006/main" noGrp="1"/>
          </p:cNvSpPr>
          <p:nvPr/>
        </p:nvSpPr>
        <p:spPr>
          <a:xfrm xmlns:a="http://schemas.openxmlformats.org/drawingml/2006/main">
            <a:off x="9324975" y="57150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1">
                <a:solidFill>
                  <a:srgbClr val="6D5EF4"/>
                </a:solidFill>
                <a:latin typeface="Arial"/>
                <a:ea typeface="Arial"/>
                <a:cs typeface="Arial"/>
              </a:defRPr>
            </a:pPr>
            <a:r>
              <a:rPr sz="1950" b="1">
                <a:solidFill>
                  <a:srgbClr val="6D5EF4"/>
                </a:solidFill>
                <a:latin typeface="Arial"/>
                <a:ea typeface="Arial"/>
                <a:cs typeface="Arial"/>
              </a:rPr>
              <a:t>envsync.me</a:t>
            </a:r>
          </a:p>
        </p:txBody>
      </p:sp>
      <p:sp>
        <p:nvSpPr>
          <p:cNvPr id="14" name="shape-12">
            <a:extLst xmlns:a="http://schemas.openxmlformats.org/drawingml/2006/main">
              <a:ext uri="{FF2B5EF4-FFF2-40B4-BE49-F238E27FC236}">
                <a16:creationId xmlns:a16="http://schemas.microsoft.com/office/drawing/2014/main" id="{629E957B-FA4C-4518-96C0-7A491C9320AD}"/>
              </a:ext>
            </a:extLst>
          </p:cNvPr>
          <p:cNvSpPr>
            <a:spLocks xmlns:a="http://schemas.openxmlformats.org/drawingml/2006/main" noGrp="1"/>
          </p:cNvSpPr>
          <p:nvPr/>
        </p:nvSpPr>
        <p:spPr>
          <a:xfrm xmlns:a="http://schemas.openxmlformats.org/drawingml/2006/main">
            <a:off x="9201150" y="1962150"/>
            <a:ext cx="2419350" cy="447675"/>
          </a:xfrm>
          <a:prstGeom xmlns:a="http://schemas.openxmlformats.org/drawingml/2006/main" prst="rect">
            <a:avLst/>
          </a:prstGeom>
          <a:noFill xmlns:a="http://schemas.openxmlformats.org/drawingml/2006/main"/>
          <a:ln xmlns:a="http://schemas.openxmlformats.org/drawingml/2006/main" w="9525">
            <a:solidFill>
              <a:srgbClr val="CDCEC5"/>
            </a:solidFill>
          </a:ln>
        </p:spPr>
      </p:sp>
      <p:sp>
        <p:nvSpPr>
          <p:cNvPr id="15" name="text-13">
            <a:extLst xmlns:a="http://schemas.openxmlformats.org/drawingml/2006/main">
              <a:ext uri="{FF2B5EF4-FFF2-40B4-BE49-F238E27FC236}">
                <a16:creationId xmlns:a16="http://schemas.microsoft.com/office/drawing/2014/main" id="{3C1C2499-5B39-4B69-8EF9-4EDFA27D9C8B}"/>
              </a:ext>
            </a:extLst>
          </p:cNvPr>
          <p:cNvSpPr>
            <a:spLocks xmlns:a="http://schemas.openxmlformats.org/drawingml/2006/main" noGrp="1"/>
          </p:cNvSpPr>
          <p:nvPr/>
        </p:nvSpPr>
        <p:spPr>
          <a:xfrm xmlns:a="http://schemas.openxmlformats.org/drawingml/2006/main">
            <a:off x="9372600" y="2057400"/>
            <a:ext cx="1657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20211F"/>
                </a:solidFill>
                <a:latin typeface="Menlo"/>
                <a:ea typeface="Menlo"/>
                <a:cs typeface="Menlo"/>
              </a:defRPr>
            </a:pPr>
            <a:r>
              <a:rPr sz="1650" b="0">
                <a:solidFill>
                  <a:srgbClr val="20211F"/>
                </a:solidFill>
                <a:latin typeface="Menlo"/>
                <a:ea typeface="Menlo"/>
                <a:cs typeface="Menlo"/>
              </a:rPr>
              <a:t>DEV</a:t>
            </a:r>
          </a:p>
        </p:txBody>
      </p:sp>
      <p:sp>
        <p:nvSpPr>
          <p:cNvPr id="16" name="text-14">
            <a:extLst xmlns:a="http://schemas.openxmlformats.org/drawingml/2006/main">
              <a:ext uri="{FF2B5EF4-FFF2-40B4-BE49-F238E27FC236}">
                <a16:creationId xmlns:a16="http://schemas.microsoft.com/office/drawing/2014/main" id="{D3430BA5-8DDB-404F-AD0E-5E9DC306B127}"/>
              </a:ext>
            </a:extLst>
          </p:cNvPr>
          <p:cNvSpPr>
            <a:spLocks xmlns:a="http://schemas.openxmlformats.org/drawingml/2006/main" noGrp="1"/>
          </p:cNvSpPr>
          <p:nvPr/>
        </p:nvSpPr>
        <p:spPr>
          <a:xfrm xmlns:a="http://schemas.openxmlformats.org/drawingml/2006/main">
            <a:off x="11058525" y="20859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676961"/>
                </a:solidFill>
                <a:latin typeface="Menlo"/>
                <a:ea typeface="Menlo"/>
                <a:cs typeface="Menlo"/>
              </a:defRPr>
            </a:pPr>
            <a:r>
              <a:rPr sz="1350" b="0">
                <a:solidFill>
                  <a:srgbClr val="676961"/>
                </a:solidFill>
                <a:latin typeface="Menlo"/>
                <a:ea typeface="Menlo"/>
                <a:cs typeface="Menlo"/>
              </a:rPr>
              <a:t>01</a:t>
            </a:r>
          </a:p>
        </p:txBody>
      </p:sp>
      <p:sp>
        <p:nvSpPr>
          <p:cNvPr id="17" name="shape-15">
            <a:extLst xmlns:a="http://schemas.openxmlformats.org/drawingml/2006/main">
              <a:ext uri="{FF2B5EF4-FFF2-40B4-BE49-F238E27FC236}">
                <a16:creationId xmlns:a16="http://schemas.microsoft.com/office/drawing/2014/main" id="{DEFBF0F3-F39B-40A8-A084-B89C20627481}"/>
              </a:ext>
            </a:extLst>
          </p:cNvPr>
          <p:cNvSpPr>
            <a:spLocks xmlns:a="http://schemas.openxmlformats.org/drawingml/2006/main" noGrp="1"/>
          </p:cNvSpPr>
          <p:nvPr/>
        </p:nvSpPr>
        <p:spPr>
          <a:xfrm xmlns:a="http://schemas.openxmlformats.org/drawingml/2006/main">
            <a:off x="9201150" y="2543175"/>
            <a:ext cx="2419350" cy="447675"/>
          </a:xfrm>
          <a:prstGeom xmlns:a="http://schemas.openxmlformats.org/drawingml/2006/main" prst="rect">
            <a:avLst/>
          </a:prstGeom>
          <a:noFill xmlns:a="http://schemas.openxmlformats.org/drawingml/2006/main"/>
          <a:ln xmlns:a="http://schemas.openxmlformats.org/drawingml/2006/main" w="9525">
            <a:solidFill>
              <a:srgbClr val="CDCEC5"/>
            </a:solidFill>
          </a:ln>
        </p:spPr>
      </p:sp>
      <p:sp>
        <p:nvSpPr>
          <p:cNvPr id="18" name="text-16">
            <a:extLst xmlns:a="http://schemas.openxmlformats.org/drawingml/2006/main">
              <a:ext uri="{FF2B5EF4-FFF2-40B4-BE49-F238E27FC236}">
                <a16:creationId xmlns:a16="http://schemas.microsoft.com/office/drawing/2014/main" id="{0B0E78DF-1D4A-4206-9A3A-B55988E0DA37}"/>
              </a:ext>
            </a:extLst>
          </p:cNvPr>
          <p:cNvSpPr>
            <a:spLocks xmlns:a="http://schemas.openxmlformats.org/drawingml/2006/main" noGrp="1"/>
          </p:cNvSpPr>
          <p:nvPr/>
        </p:nvSpPr>
        <p:spPr>
          <a:xfrm xmlns:a="http://schemas.openxmlformats.org/drawingml/2006/main">
            <a:off x="9372600" y="2638425"/>
            <a:ext cx="1657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20211F"/>
                </a:solidFill>
                <a:latin typeface="Menlo"/>
                <a:ea typeface="Menlo"/>
                <a:cs typeface="Menlo"/>
              </a:defRPr>
            </a:pPr>
            <a:r>
              <a:rPr sz="1650" b="0">
                <a:solidFill>
                  <a:srgbClr val="20211F"/>
                </a:solidFill>
                <a:latin typeface="Menlo"/>
                <a:ea typeface="Menlo"/>
                <a:cs typeface="Menlo"/>
              </a:rPr>
              <a:t>TEST</a:t>
            </a:r>
          </a:p>
        </p:txBody>
      </p:sp>
      <p:sp>
        <p:nvSpPr>
          <p:cNvPr id="19" name="text-17">
            <a:extLst xmlns:a="http://schemas.openxmlformats.org/drawingml/2006/main">
              <a:ext uri="{FF2B5EF4-FFF2-40B4-BE49-F238E27FC236}">
                <a16:creationId xmlns:a16="http://schemas.microsoft.com/office/drawing/2014/main" id="{66FAA624-F933-4B76-B238-B44279C7A9F1}"/>
              </a:ext>
            </a:extLst>
          </p:cNvPr>
          <p:cNvSpPr>
            <a:spLocks xmlns:a="http://schemas.openxmlformats.org/drawingml/2006/main" noGrp="1"/>
          </p:cNvSpPr>
          <p:nvPr/>
        </p:nvSpPr>
        <p:spPr>
          <a:xfrm xmlns:a="http://schemas.openxmlformats.org/drawingml/2006/main">
            <a:off x="11058525" y="266700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676961"/>
                </a:solidFill>
                <a:latin typeface="Menlo"/>
                <a:ea typeface="Menlo"/>
                <a:cs typeface="Menlo"/>
              </a:defRPr>
            </a:pPr>
            <a:r>
              <a:rPr sz="1350" b="0">
                <a:solidFill>
                  <a:srgbClr val="676961"/>
                </a:solidFill>
                <a:latin typeface="Menlo"/>
                <a:ea typeface="Menlo"/>
                <a:cs typeface="Menlo"/>
              </a:rPr>
              <a:t>02</a:t>
            </a:r>
          </a:p>
        </p:txBody>
      </p:sp>
      <p:sp>
        <p:nvSpPr>
          <p:cNvPr id="20" name="shape-18">
            <a:extLst xmlns:a="http://schemas.openxmlformats.org/drawingml/2006/main">
              <a:ext uri="{FF2B5EF4-FFF2-40B4-BE49-F238E27FC236}">
                <a16:creationId xmlns:a16="http://schemas.microsoft.com/office/drawing/2014/main" id="{5563EAA5-A55D-400B-8286-AEBA1B43E8F3}"/>
              </a:ext>
            </a:extLst>
          </p:cNvPr>
          <p:cNvSpPr>
            <a:spLocks xmlns:a="http://schemas.openxmlformats.org/drawingml/2006/main" noGrp="1"/>
          </p:cNvSpPr>
          <p:nvPr/>
        </p:nvSpPr>
        <p:spPr>
          <a:xfrm xmlns:a="http://schemas.openxmlformats.org/drawingml/2006/main">
            <a:off x="9201150" y="3124200"/>
            <a:ext cx="2419350" cy="447675"/>
          </a:xfrm>
          <a:prstGeom xmlns:a="http://schemas.openxmlformats.org/drawingml/2006/main" prst="rect">
            <a:avLst/>
          </a:prstGeom>
          <a:noFill xmlns:a="http://schemas.openxmlformats.org/drawingml/2006/main"/>
          <a:ln xmlns:a="http://schemas.openxmlformats.org/drawingml/2006/main" w="9525">
            <a:solidFill>
              <a:srgbClr val="CDCEC5"/>
            </a:solidFill>
          </a:ln>
        </p:spPr>
      </p:sp>
      <p:sp>
        <p:nvSpPr>
          <p:cNvPr id="21" name="text-19">
            <a:extLst xmlns:a="http://schemas.openxmlformats.org/drawingml/2006/main">
              <a:ext uri="{FF2B5EF4-FFF2-40B4-BE49-F238E27FC236}">
                <a16:creationId xmlns:a16="http://schemas.microsoft.com/office/drawing/2014/main" id="{E8FF9CE9-8338-4FF5-88CA-1B177AEA6F89}"/>
              </a:ext>
            </a:extLst>
          </p:cNvPr>
          <p:cNvSpPr>
            <a:spLocks xmlns:a="http://schemas.openxmlformats.org/drawingml/2006/main" noGrp="1"/>
          </p:cNvSpPr>
          <p:nvPr/>
        </p:nvSpPr>
        <p:spPr>
          <a:xfrm xmlns:a="http://schemas.openxmlformats.org/drawingml/2006/main">
            <a:off x="9372600" y="3219450"/>
            <a:ext cx="1657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20211F"/>
                </a:solidFill>
                <a:latin typeface="Menlo"/>
                <a:ea typeface="Menlo"/>
                <a:cs typeface="Menlo"/>
              </a:defRPr>
            </a:pPr>
            <a:r>
              <a:rPr sz="1650" b="0">
                <a:solidFill>
                  <a:srgbClr val="20211F"/>
                </a:solidFill>
                <a:latin typeface="Menlo"/>
                <a:ea typeface="Menlo"/>
                <a:cs typeface="Menlo"/>
              </a:rPr>
              <a:t>STAGE</a:t>
            </a:r>
          </a:p>
        </p:txBody>
      </p:sp>
      <p:sp>
        <p:nvSpPr>
          <p:cNvPr id="22" name="text-20">
            <a:extLst xmlns:a="http://schemas.openxmlformats.org/drawingml/2006/main">
              <a:ext uri="{FF2B5EF4-FFF2-40B4-BE49-F238E27FC236}">
                <a16:creationId xmlns:a16="http://schemas.microsoft.com/office/drawing/2014/main" id="{1B40A561-39B2-4F73-8691-59D202FAFCE7}"/>
              </a:ext>
            </a:extLst>
          </p:cNvPr>
          <p:cNvSpPr>
            <a:spLocks xmlns:a="http://schemas.openxmlformats.org/drawingml/2006/main" noGrp="1"/>
          </p:cNvSpPr>
          <p:nvPr/>
        </p:nvSpPr>
        <p:spPr>
          <a:xfrm xmlns:a="http://schemas.openxmlformats.org/drawingml/2006/main">
            <a:off x="11058525" y="32480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676961"/>
                </a:solidFill>
                <a:latin typeface="Menlo"/>
                <a:ea typeface="Menlo"/>
                <a:cs typeface="Menlo"/>
              </a:defRPr>
            </a:pPr>
            <a:r>
              <a:rPr sz="1350" b="0">
                <a:solidFill>
                  <a:srgbClr val="676961"/>
                </a:solidFill>
                <a:latin typeface="Menlo"/>
                <a:ea typeface="Menlo"/>
                <a:cs typeface="Menlo"/>
              </a:rPr>
              <a:t>03</a:t>
            </a:r>
          </a:p>
        </p:txBody>
      </p:sp>
      <p:sp>
        <p:nvSpPr>
          <p:cNvPr id="23" name="shape-21">
            <a:extLst xmlns:a="http://schemas.openxmlformats.org/drawingml/2006/main">
              <a:ext uri="{FF2B5EF4-FFF2-40B4-BE49-F238E27FC236}">
                <a16:creationId xmlns:a16="http://schemas.microsoft.com/office/drawing/2014/main" id="{A08AF17D-48C4-4E37-BF1A-4BE3FFB89D49}"/>
              </a:ext>
            </a:extLst>
          </p:cNvPr>
          <p:cNvSpPr>
            <a:spLocks xmlns:a="http://schemas.openxmlformats.org/drawingml/2006/main" noGrp="1"/>
          </p:cNvSpPr>
          <p:nvPr/>
        </p:nvSpPr>
        <p:spPr>
          <a:xfrm xmlns:a="http://schemas.openxmlformats.org/drawingml/2006/main">
            <a:off x="9201150" y="3705225"/>
            <a:ext cx="2419350" cy="447675"/>
          </a:xfrm>
          <a:prstGeom xmlns:a="http://schemas.openxmlformats.org/drawingml/2006/main" prst="rect">
            <a:avLst/>
          </a:prstGeom>
          <a:solidFill xmlns:a="http://schemas.openxmlformats.org/drawingml/2006/main">
            <a:srgbClr val="DCD7FF"/>
          </a:solidFill>
          <a:ln xmlns:a="http://schemas.openxmlformats.org/drawingml/2006/main" w="9525">
            <a:solidFill>
              <a:srgbClr val="CDCEC5"/>
            </a:solidFill>
          </a:ln>
        </p:spPr>
      </p:sp>
      <p:sp>
        <p:nvSpPr>
          <p:cNvPr id="24" name="text-22">
            <a:extLst xmlns:a="http://schemas.openxmlformats.org/drawingml/2006/main">
              <a:ext uri="{FF2B5EF4-FFF2-40B4-BE49-F238E27FC236}">
                <a16:creationId xmlns:a16="http://schemas.microsoft.com/office/drawing/2014/main" id="{878E2199-C46E-4B3C-9CEF-7317A1FCC7F9}"/>
              </a:ext>
            </a:extLst>
          </p:cNvPr>
          <p:cNvSpPr>
            <a:spLocks xmlns:a="http://schemas.openxmlformats.org/drawingml/2006/main" noGrp="1"/>
          </p:cNvSpPr>
          <p:nvPr/>
        </p:nvSpPr>
        <p:spPr>
          <a:xfrm xmlns:a="http://schemas.openxmlformats.org/drawingml/2006/main">
            <a:off x="9372600" y="3800475"/>
            <a:ext cx="1657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20211F"/>
                </a:solidFill>
                <a:latin typeface="Menlo"/>
                <a:ea typeface="Menlo"/>
                <a:cs typeface="Menlo"/>
              </a:defRPr>
            </a:pPr>
            <a:r>
              <a:rPr sz="1650" b="0">
                <a:solidFill>
                  <a:srgbClr val="20211F"/>
                </a:solidFill>
                <a:latin typeface="Menlo"/>
                <a:ea typeface="Menlo"/>
                <a:cs typeface="Menlo"/>
              </a:rPr>
              <a:t>PROD</a:t>
            </a:r>
          </a:p>
        </p:txBody>
      </p:sp>
      <p:sp>
        <p:nvSpPr>
          <p:cNvPr id="25" name="text-23">
            <a:extLst xmlns:a="http://schemas.openxmlformats.org/drawingml/2006/main">
              <a:ext uri="{FF2B5EF4-FFF2-40B4-BE49-F238E27FC236}">
                <a16:creationId xmlns:a16="http://schemas.microsoft.com/office/drawing/2014/main" id="{24959D15-5BA4-4709-81F2-0B78F488037F}"/>
              </a:ext>
            </a:extLst>
          </p:cNvPr>
          <p:cNvSpPr>
            <a:spLocks xmlns:a="http://schemas.openxmlformats.org/drawingml/2006/main" noGrp="1"/>
          </p:cNvSpPr>
          <p:nvPr/>
        </p:nvSpPr>
        <p:spPr>
          <a:xfrm xmlns:a="http://schemas.openxmlformats.org/drawingml/2006/main">
            <a:off x="11058525" y="38290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676961"/>
                </a:solidFill>
                <a:latin typeface="Menlo"/>
                <a:ea typeface="Menlo"/>
                <a:cs typeface="Menlo"/>
              </a:defRPr>
            </a:pPr>
            <a:r>
              <a:rPr sz="1350" b="0">
                <a:solidFill>
                  <a:srgbClr val="676961"/>
                </a:solidFill>
                <a:latin typeface="Menlo"/>
                <a:ea typeface="Menlo"/>
                <a:cs typeface="Menlo"/>
              </a:rPr>
              <a:t>04</a:t>
            </a:r>
          </a:p>
        </p:txBody>
      </p:sp>
    </p:spTree>
    <p:extLst>
      <p:ext uri="{BB962C8B-B14F-4D97-AF65-F5344CB8AC3E}">
        <p14:creationId xmlns:p14="http://schemas.microsoft.com/office/powerpoint/2010/main" val="625594092"/>
      </p:ext>
    </p:extLst>
  </p:cSld>
</p:sld>
</file>

<file path=ppt/slides/slide2.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28" name="text-24">
            <a:extLst xmlns:a="http://schemas.openxmlformats.org/drawingml/2006/main">
              <a:ext uri="{FF2B5EF4-FFF2-40B4-BE49-F238E27FC236}">
                <a16:creationId xmlns:a16="http://schemas.microsoft.com/office/drawing/2014/main" id="{3749BD85-4C17-45A6-8C91-98471911AAD8}"/>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02 / THE PROBLEM</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36f7e505869a4dce">
            <a:extLst>
              <a:ext uri="{96DAC541-7B7A-43D3-8B79-37D633B846F1}">
                <asvg:svgBlip xmlns:asvg="http://schemas.microsoft.com/office/drawing/2016/SVG/main" r:embed="R5d925feb96704bf9"/>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3" name="shape-25">
            <a:extLst xmlns:a="http://schemas.openxmlformats.org/drawingml/2006/main">
              <a:ext uri="{FF2B5EF4-FFF2-40B4-BE49-F238E27FC236}">
                <a16:creationId xmlns:a16="http://schemas.microsoft.com/office/drawing/2014/main" id="{DD519884-D6B5-455A-9E91-6D8ACB27CC92}"/>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4" name="text-26">
            <a:extLst xmlns:a="http://schemas.openxmlformats.org/drawingml/2006/main">
              <a:ext uri="{FF2B5EF4-FFF2-40B4-BE49-F238E27FC236}">
                <a16:creationId xmlns:a16="http://schemas.microsoft.com/office/drawing/2014/main" id="{40065575-5C8C-429C-B069-260F5ED11A8F}"/>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ENVSYNC / SELF-HOSTED SECRETS</a:t>
            </a:r>
          </a:p>
        </p:txBody>
      </p:sp>
      <p:sp>
        <p:nvSpPr>
          <p:cNvPr id="5" name="text-27">
            <a:extLst xmlns:a="http://schemas.openxmlformats.org/drawingml/2006/main">
              <a:ext uri="{FF2B5EF4-FFF2-40B4-BE49-F238E27FC236}">
                <a16:creationId xmlns:a16="http://schemas.microsoft.com/office/drawing/2014/main" id="{FE9CF549-969E-4CC5-9FF7-1C69A411F9D9}"/>
              </a:ext>
            </a:extLst>
          </p:cNvPr>
          <p:cNvSpPr>
            <a:spLocks xmlns:a="http://schemas.openxmlformats.org/drawingml/2006/main" noGrp="1"/>
          </p:cNvSpPr>
          <p:nvPr/>
        </p:nvSpPr>
        <p:spPr>
          <a:xfrm xmlns:a="http://schemas.openxmlformats.org/drawingml/2006/main">
            <a:off x="11144250" y="644842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676961"/>
                </a:solidFill>
                <a:latin typeface="Menlo"/>
                <a:ea typeface="Menlo"/>
                <a:cs typeface="Menlo"/>
              </a:defRPr>
            </a:pPr>
            <a:r>
              <a:rPr sz="1350" b="0">
                <a:solidFill>
                  <a:srgbClr val="676961"/>
                </a:solidFill>
                <a:latin typeface="Menlo"/>
                <a:ea typeface="Menlo"/>
                <a:cs typeface="Menlo"/>
              </a:rPr>
              <a:t>02</a:t>
            </a:r>
          </a:p>
        </p:txBody>
      </p:sp>
      <p:sp>
        <p:nvSpPr>
          <p:cNvPr id="6" name="text-28">
            <a:extLst xmlns:a="http://schemas.openxmlformats.org/drawingml/2006/main">
              <a:ext uri="{FF2B5EF4-FFF2-40B4-BE49-F238E27FC236}">
                <a16:creationId xmlns:a16="http://schemas.microsoft.com/office/drawing/2014/main" id="{3BA4DA3A-6AB9-480B-966D-29036F9C75D2}"/>
              </a:ext>
            </a:extLst>
          </p:cNvPr>
          <p:cNvSpPr>
            <a:spLocks xmlns:a="http://schemas.openxmlformats.org/drawingml/2006/main" noGrp="1"/>
          </p:cNvSpPr>
          <p:nvPr/>
        </p:nvSpPr>
        <p:spPr>
          <a:xfrm xmlns:a="http://schemas.openxmlformats.org/drawingml/2006/main">
            <a:off x="533400" y="1000125"/>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650" b="1">
                <a:solidFill>
                  <a:srgbClr val="20211F"/>
                </a:solidFill>
                <a:latin typeface="Arial"/>
                <a:ea typeface="Arial"/>
                <a:cs typeface="Arial"/>
              </a:defRPr>
            </a:pPr>
            <a:r>
              <a:rPr sz="4650" b="1">
                <a:solidFill>
                  <a:srgbClr val="20211F"/>
                </a:solidFill>
                <a:latin typeface="Arial"/>
                <a:ea typeface="Arial"/>
                <a:cs typeface="Arial"/>
              </a:rPr>
              <a:t>.env works.</a:t>
            </a:r>
          </a:p>
        </p:txBody>
      </p:sp>
      <p:sp>
        <p:nvSpPr>
          <p:cNvPr id="7" name="text-29">
            <a:extLst xmlns:a="http://schemas.openxmlformats.org/drawingml/2006/main">
              <a:ext uri="{FF2B5EF4-FFF2-40B4-BE49-F238E27FC236}">
                <a16:creationId xmlns:a16="http://schemas.microsoft.com/office/drawing/2014/main" id="{A736371B-A0A4-4897-ADB1-53499B0BA2E9}"/>
              </a:ext>
            </a:extLst>
          </p:cNvPr>
          <p:cNvSpPr>
            <a:spLocks xmlns:a="http://schemas.openxmlformats.org/drawingml/2006/main" noGrp="1"/>
          </p:cNvSpPr>
          <p:nvPr/>
        </p:nvSpPr>
        <p:spPr>
          <a:xfrm xmlns:a="http://schemas.openxmlformats.org/drawingml/2006/main">
            <a:off x="533400" y="1666875"/>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650" b="1">
                <a:solidFill>
                  <a:srgbClr val="20211F"/>
                </a:solidFill>
                <a:latin typeface="Arial"/>
                <a:ea typeface="Arial"/>
                <a:cs typeface="Arial"/>
              </a:defRPr>
            </a:pPr>
            <a:r>
              <a:rPr sz="4650" b="1">
                <a:solidFill>
                  <a:srgbClr val="20211F"/>
                </a:solidFill>
                <a:latin typeface="Arial"/>
                <a:ea typeface="Arial"/>
                <a:cs typeface="Arial"/>
              </a:rPr>
              <a:t>Until everyone needs it.</a:t>
            </a:r>
          </a:p>
        </p:txBody>
      </p:sp>
      <p:sp>
        <p:nvSpPr>
          <p:cNvPr id="8" name="shape-30">
            <a:extLst xmlns:a="http://schemas.openxmlformats.org/drawingml/2006/main">
              <a:ext uri="{FF2B5EF4-FFF2-40B4-BE49-F238E27FC236}">
                <a16:creationId xmlns:a16="http://schemas.microsoft.com/office/drawing/2014/main" id="{CE1B1D83-B7F1-46DB-811B-1E9D2B439647}"/>
              </a:ext>
            </a:extLst>
          </p:cNvPr>
          <p:cNvSpPr>
            <a:spLocks xmlns:a="http://schemas.openxmlformats.org/drawingml/2006/main" noGrp="1"/>
          </p:cNvSpPr>
          <p:nvPr/>
        </p:nvSpPr>
        <p:spPr>
          <a:xfrm xmlns:a="http://schemas.openxmlformats.org/drawingml/2006/main">
            <a:off x="533400" y="2886075"/>
            <a:ext cx="2124075" cy="1752600"/>
          </a:xfrm>
          <a:prstGeom xmlns:a="http://schemas.openxmlformats.org/drawingml/2006/main" prst="rect">
            <a:avLst/>
          </a:prstGeom>
          <a:solidFill xmlns:a="http://schemas.openxmlformats.org/drawingml/2006/main">
            <a:srgbClr val="20211F"/>
          </a:solidFill>
          <a:ln xmlns:a="http://schemas.openxmlformats.org/drawingml/2006/main" w="0">
            <a:noFill/>
          </a:ln>
        </p:spPr>
      </p:sp>
      <p:sp>
        <p:nvSpPr>
          <p:cNvPr id="9" name="text-31">
            <a:extLst xmlns:a="http://schemas.openxmlformats.org/drawingml/2006/main">
              <a:ext uri="{FF2B5EF4-FFF2-40B4-BE49-F238E27FC236}">
                <a16:creationId xmlns:a16="http://schemas.microsoft.com/office/drawing/2014/main" id="{B13E34AF-AFE6-4F0A-9ED3-568DD009E477}"/>
              </a:ext>
            </a:extLst>
          </p:cNvPr>
          <p:cNvSpPr>
            <a:spLocks xmlns:a="http://schemas.openxmlformats.org/drawingml/2006/main" noGrp="1"/>
          </p:cNvSpPr>
          <p:nvPr/>
        </p:nvSpPr>
        <p:spPr>
          <a:xfrm xmlns:a="http://schemas.openxmlformats.org/drawingml/2006/main">
            <a:off x="742950" y="3048000"/>
            <a:ext cx="152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FAFAF6"/>
                </a:solidFill>
                <a:latin typeface="Menlo"/>
                <a:ea typeface="Menlo"/>
                <a:cs typeface="Menlo"/>
              </a:defRPr>
            </a:pPr>
            <a:r>
              <a:rPr sz="3150" b="1">
                <a:solidFill>
                  <a:srgbClr val="FAFAF6"/>
                </a:solidFill>
                <a:latin typeface="Menlo"/>
                <a:ea typeface="Menlo"/>
                <a:cs typeface="Menlo"/>
              </a:rPr>
              <a:t>.env</a:t>
            </a:r>
          </a:p>
        </p:txBody>
      </p:sp>
      <p:sp>
        <p:nvSpPr>
          <p:cNvPr id="10" name="text-32">
            <a:extLst xmlns:a="http://schemas.openxmlformats.org/drawingml/2006/main">
              <a:ext uri="{FF2B5EF4-FFF2-40B4-BE49-F238E27FC236}">
                <a16:creationId xmlns:a16="http://schemas.microsoft.com/office/drawing/2014/main" id="{7454DE23-BC2E-43E3-88BB-F316663AE2EB}"/>
              </a:ext>
            </a:extLst>
          </p:cNvPr>
          <p:cNvSpPr>
            <a:spLocks xmlns:a="http://schemas.openxmlformats.org/drawingml/2006/main" noGrp="1"/>
          </p:cNvSpPr>
          <p:nvPr/>
        </p:nvSpPr>
        <p:spPr>
          <a:xfrm xmlns:a="http://schemas.openxmlformats.org/drawingml/2006/main">
            <a:off x="742950" y="37147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425" b="0">
                <a:solidFill>
                  <a:srgbClr val="B1B5AC"/>
                </a:solidFill>
                <a:latin typeface="Menlo"/>
                <a:ea typeface="Menlo"/>
                <a:cs typeface="Menlo"/>
              </a:defRPr>
            </a:pPr>
            <a:r>
              <a:rPr sz="1425" b="0">
                <a:solidFill>
                  <a:srgbClr val="B1B5AC"/>
                </a:solidFill>
                <a:latin typeface="Menlo"/>
                <a:ea typeface="Menlo"/>
                <a:cs typeface="Menlo"/>
              </a:rPr>
              <a:t>DATABASE_URL</a:t>
            </a:r>
          </a:p>
        </p:txBody>
      </p:sp>
      <p:sp>
        <p:nvSpPr>
          <p:cNvPr id="11" name="text-33">
            <a:extLst xmlns:a="http://schemas.openxmlformats.org/drawingml/2006/main">
              <a:ext uri="{FF2B5EF4-FFF2-40B4-BE49-F238E27FC236}">
                <a16:creationId xmlns:a16="http://schemas.microsoft.com/office/drawing/2014/main" id="{49DA2CD6-9050-4681-9A7E-2DD2DAE3A415}"/>
              </a:ext>
            </a:extLst>
          </p:cNvPr>
          <p:cNvSpPr>
            <a:spLocks xmlns:a="http://schemas.openxmlformats.org/drawingml/2006/main" noGrp="1"/>
          </p:cNvSpPr>
          <p:nvPr/>
        </p:nvSpPr>
        <p:spPr>
          <a:xfrm xmlns:a="http://schemas.openxmlformats.org/drawingml/2006/main">
            <a:off x="742950" y="39814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425" b="0">
                <a:solidFill>
                  <a:srgbClr val="B1B5AC"/>
                </a:solidFill>
                <a:latin typeface="Menlo"/>
                <a:ea typeface="Menlo"/>
                <a:cs typeface="Menlo"/>
              </a:defRPr>
            </a:pPr>
            <a:r>
              <a:rPr sz="1425" b="0">
                <a:solidFill>
                  <a:srgbClr val="B1B5AC"/>
                </a:solidFill>
                <a:latin typeface="Menlo"/>
                <a:ea typeface="Menlo"/>
                <a:cs typeface="Menlo"/>
              </a:rPr>
              <a:t>REDIS_URL</a:t>
            </a:r>
          </a:p>
        </p:txBody>
      </p:sp>
      <p:sp>
        <p:nvSpPr>
          <p:cNvPr id="12" name="text-34">
            <a:extLst xmlns:a="http://schemas.openxmlformats.org/drawingml/2006/main">
              <a:ext uri="{FF2B5EF4-FFF2-40B4-BE49-F238E27FC236}">
                <a16:creationId xmlns:a16="http://schemas.microsoft.com/office/drawing/2014/main" id="{F1062EB1-7E71-4870-91F5-60D26CE98D42}"/>
              </a:ext>
            </a:extLst>
          </p:cNvPr>
          <p:cNvSpPr>
            <a:spLocks xmlns:a="http://schemas.openxmlformats.org/drawingml/2006/main" noGrp="1"/>
          </p:cNvSpPr>
          <p:nvPr/>
        </p:nvSpPr>
        <p:spPr>
          <a:xfrm xmlns:a="http://schemas.openxmlformats.org/drawingml/2006/main">
            <a:off x="742950" y="42481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425" b="0">
                <a:solidFill>
                  <a:srgbClr val="B1B5AC"/>
                </a:solidFill>
                <a:latin typeface="Menlo"/>
                <a:ea typeface="Menlo"/>
                <a:cs typeface="Menlo"/>
              </a:defRPr>
            </a:pPr>
            <a:r>
              <a:rPr sz="1425" b="0">
                <a:solidFill>
                  <a:srgbClr val="B1B5AC"/>
                </a:solidFill>
                <a:latin typeface="Menlo"/>
                <a:ea typeface="Menlo"/>
                <a:cs typeface="Menlo"/>
              </a:rPr>
              <a:t>JWT_SECRET</a:t>
            </a:r>
          </a:p>
        </p:txBody>
      </p:sp>
      <p:sp>
        <p:nvSpPr>
          <p:cNvPr id="13" name="shape-35">
            <a:extLst xmlns:a="http://schemas.openxmlformats.org/drawingml/2006/main">
              <a:ext uri="{FF2B5EF4-FFF2-40B4-BE49-F238E27FC236}">
                <a16:creationId xmlns:a16="http://schemas.microsoft.com/office/drawing/2014/main" id="{A9C063B0-DF89-4D8A-ACAB-AB65D654132A}"/>
              </a:ext>
            </a:extLst>
          </p:cNvPr>
          <p:cNvSpPr>
            <a:spLocks xmlns:a="http://schemas.openxmlformats.org/drawingml/2006/main" noGrp="1"/>
          </p:cNvSpPr>
          <p:nvPr/>
        </p:nvSpPr>
        <p:spPr>
          <a:xfrm xmlns:a="http://schemas.openxmlformats.org/drawingml/2006/main">
            <a:off x="2952750" y="3695700"/>
            <a:ext cx="647700" cy="19050"/>
          </a:xfrm>
          <a:prstGeom xmlns:a="http://schemas.openxmlformats.org/drawingml/2006/main" prst="rect">
            <a:avLst/>
          </a:prstGeom>
          <a:solidFill xmlns:a="http://schemas.openxmlformats.org/drawingml/2006/main">
            <a:srgbClr val="676961"/>
          </a:solidFill>
          <a:ln xmlns:a="http://schemas.openxmlformats.org/drawingml/2006/main" w="0">
            <a:noFill/>
          </a:ln>
        </p:spPr>
      </p:sp>
      <p:sp>
        <p:nvSpPr>
          <p:cNvPr id="14" name="shape-36">
            <a:extLst xmlns:a="http://schemas.openxmlformats.org/drawingml/2006/main">
              <a:ext uri="{FF2B5EF4-FFF2-40B4-BE49-F238E27FC236}">
                <a16:creationId xmlns:a16="http://schemas.microsoft.com/office/drawing/2014/main" id="{FC4D8FD7-F008-4BC6-98B7-557B04F45246}"/>
              </a:ext>
            </a:extLst>
          </p:cNvPr>
          <p:cNvSpPr>
            <a:spLocks xmlns:a="http://schemas.openxmlformats.org/drawingml/2006/main" noGrp="1"/>
          </p:cNvSpPr>
          <p:nvPr/>
        </p:nvSpPr>
        <p:spPr>
          <a:xfrm xmlns:a="http://schemas.openxmlformats.org/drawingml/2006/main">
            <a:off x="3590925" y="2990850"/>
            <a:ext cx="19050" cy="1943100"/>
          </a:xfrm>
          <a:prstGeom xmlns:a="http://schemas.openxmlformats.org/drawingml/2006/main" prst="rect">
            <a:avLst/>
          </a:prstGeom>
          <a:solidFill xmlns:a="http://schemas.openxmlformats.org/drawingml/2006/main">
            <a:srgbClr val="676961"/>
          </a:solidFill>
          <a:ln xmlns:a="http://schemas.openxmlformats.org/drawingml/2006/main" w="0">
            <a:noFill/>
          </a:ln>
        </p:spPr>
      </p:sp>
      <p:sp>
        <p:nvSpPr>
          <p:cNvPr id="15" name="shape-37">
            <a:extLst xmlns:a="http://schemas.openxmlformats.org/drawingml/2006/main">
              <a:ext uri="{FF2B5EF4-FFF2-40B4-BE49-F238E27FC236}">
                <a16:creationId xmlns:a16="http://schemas.microsoft.com/office/drawing/2014/main" id="{40E218CB-E491-48FC-8544-A15657195E19}"/>
              </a:ext>
            </a:extLst>
          </p:cNvPr>
          <p:cNvSpPr>
            <a:spLocks xmlns:a="http://schemas.openxmlformats.org/drawingml/2006/main" noGrp="1"/>
          </p:cNvSpPr>
          <p:nvPr/>
        </p:nvSpPr>
        <p:spPr>
          <a:xfrm xmlns:a="http://schemas.openxmlformats.org/drawingml/2006/main">
            <a:off x="4019550" y="2828925"/>
            <a:ext cx="3400425" cy="1028700"/>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16" name="text-38">
            <a:extLst xmlns:a="http://schemas.openxmlformats.org/drawingml/2006/main">
              <a:ext uri="{FF2B5EF4-FFF2-40B4-BE49-F238E27FC236}">
                <a16:creationId xmlns:a16="http://schemas.microsoft.com/office/drawing/2014/main" id="{94C2E5A7-6B12-4855-A80A-9A18B7423D17}"/>
              </a:ext>
            </a:extLst>
          </p:cNvPr>
          <p:cNvSpPr>
            <a:spLocks xmlns:a="http://schemas.openxmlformats.org/drawingml/2006/main" noGrp="1"/>
          </p:cNvSpPr>
          <p:nvPr/>
        </p:nvSpPr>
        <p:spPr>
          <a:xfrm xmlns:a="http://schemas.openxmlformats.org/drawingml/2006/main">
            <a:off x="4191000" y="2990850"/>
            <a:ext cx="30575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DEVELOPER</a:t>
            </a:r>
          </a:p>
        </p:txBody>
      </p:sp>
      <p:sp>
        <p:nvSpPr>
          <p:cNvPr id="17" name="text-39">
            <a:extLst xmlns:a="http://schemas.openxmlformats.org/drawingml/2006/main">
              <a:ext uri="{FF2B5EF4-FFF2-40B4-BE49-F238E27FC236}">
                <a16:creationId xmlns:a16="http://schemas.microsoft.com/office/drawing/2014/main" id="{D6841673-FFD6-4269-82B5-0892D07F25FD}"/>
              </a:ext>
            </a:extLst>
          </p:cNvPr>
          <p:cNvSpPr>
            <a:spLocks xmlns:a="http://schemas.openxmlformats.org/drawingml/2006/main" noGrp="1"/>
          </p:cNvSpPr>
          <p:nvPr/>
        </p:nvSpPr>
        <p:spPr>
          <a:xfrm xmlns:a="http://schemas.openxmlformats.org/drawingml/2006/main">
            <a:off x="4191000" y="3371850"/>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.env.local</a:t>
            </a:r>
          </a:p>
        </p:txBody>
      </p:sp>
      <p:sp>
        <p:nvSpPr>
          <p:cNvPr id="18" name="shape-40">
            <a:extLst xmlns:a="http://schemas.openxmlformats.org/drawingml/2006/main">
              <a:ext uri="{FF2B5EF4-FFF2-40B4-BE49-F238E27FC236}">
                <a16:creationId xmlns:a16="http://schemas.microsoft.com/office/drawing/2014/main" id="{0432C613-3D40-4C75-8F03-C1F68B19921D}"/>
              </a:ext>
            </a:extLst>
          </p:cNvPr>
          <p:cNvSpPr>
            <a:spLocks xmlns:a="http://schemas.openxmlformats.org/drawingml/2006/main" noGrp="1"/>
          </p:cNvSpPr>
          <p:nvPr/>
        </p:nvSpPr>
        <p:spPr>
          <a:xfrm xmlns:a="http://schemas.openxmlformats.org/drawingml/2006/main">
            <a:off x="7829550" y="2828925"/>
            <a:ext cx="3400425" cy="1028700"/>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19" name="text-41">
            <a:extLst xmlns:a="http://schemas.openxmlformats.org/drawingml/2006/main">
              <a:ext uri="{FF2B5EF4-FFF2-40B4-BE49-F238E27FC236}">
                <a16:creationId xmlns:a16="http://schemas.microsoft.com/office/drawing/2014/main" id="{8CDB9755-9592-4B7E-A81E-5C9E2A82C240}"/>
              </a:ext>
            </a:extLst>
          </p:cNvPr>
          <p:cNvSpPr>
            <a:spLocks xmlns:a="http://schemas.openxmlformats.org/drawingml/2006/main" noGrp="1"/>
          </p:cNvSpPr>
          <p:nvPr/>
        </p:nvSpPr>
        <p:spPr>
          <a:xfrm xmlns:a="http://schemas.openxmlformats.org/drawingml/2006/main">
            <a:off x="8001000" y="2990850"/>
            <a:ext cx="30575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SERVER</a:t>
            </a:r>
          </a:p>
        </p:txBody>
      </p:sp>
      <p:sp>
        <p:nvSpPr>
          <p:cNvPr id="20" name="text-42">
            <a:extLst xmlns:a="http://schemas.openxmlformats.org/drawingml/2006/main">
              <a:ext uri="{FF2B5EF4-FFF2-40B4-BE49-F238E27FC236}">
                <a16:creationId xmlns:a16="http://schemas.microsoft.com/office/drawing/2014/main" id="{A443ED4D-834E-4218-A60F-02CF4BA2113A}"/>
              </a:ext>
            </a:extLst>
          </p:cNvPr>
          <p:cNvSpPr>
            <a:spLocks xmlns:a="http://schemas.openxmlformats.org/drawingml/2006/main" noGrp="1"/>
          </p:cNvSpPr>
          <p:nvPr/>
        </p:nvSpPr>
        <p:spPr>
          <a:xfrm xmlns:a="http://schemas.openxmlformats.org/drawingml/2006/main">
            <a:off x="8001000" y="3371850"/>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.env.production</a:t>
            </a:r>
          </a:p>
        </p:txBody>
      </p:sp>
      <p:sp>
        <p:nvSpPr>
          <p:cNvPr id="21" name="shape-43">
            <a:extLst xmlns:a="http://schemas.openxmlformats.org/drawingml/2006/main">
              <a:ext uri="{FF2B5EF4-FFF2-40B4-BE49-F238E27FC236}">
                <a16:creationId xmlns:a16="http://schemas.microsoft.com/office/drawing/2014/main" id="{D5BB6846-CA56-4836-918D-F36E95236481}"/>
              </a:ext>
            </a:extLst>
          </p:cNvPr>
          <p:cNvSpPr>
            <a:spLocks xmlns:a="http://schemas.openxmlformats.org/drawingml/2006/main" noGrp="1"/>
          </p:cNvSpPr>
          <p:nvPr/>
        </p:nvSpPr>
        <p:spPr>
          <a:xfrm xmlns:a="http://schemas.openxmlformats.org/drawingml/2006/main">
            <a:off x="4019550" y="4238625"/>
            <a:ext cx="3400425" cy="1028700"/>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22" name="text-44">
            <a:extLst xmlns:a="http://schemas.openxmlformats.org/drawingml/2006/main">
              <a:ext uri="{FF2B5EF4-FFF2-40B4-BE49-F238E27FC236}">
                <a16:creationId xmlns:a16="http://schemas.microsoft.com/office/drawing/2014/main" id="{EEE5B8BE-BE75-4BEE-B97C-CEE8F968AE02}"/>
              </a:ext>
            </a:extLst>
          </p:cNvPr>
          <p:cNvSpPr>
            <a:spLocks xmlns:a="http://schemas.openxmlformats.org/drawingml/2006/main" noGrp="1"/>
          </p:cNvSpPr>
          <p:nvPr/>
        </p:nvSpPr>
        <p:spPr>
          <a:xfrm xmlns:a="http://schemas.openxmlformats.org/drawingml/2006/main">
            <a:off x="4191000" y="4400550"/>
            <a:ext cx="30575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CI / APP</a:t>
            </a:r>
          </a:p>
        </p:txBody>
      </p:sp>
      <p:sp>
        <p:nvSpPr>
          <p:cNvPr id="23" name="text-45">
            <a:extLst xmlns:a="http://schemas.openxmlformats.org/drawingml/2006/main">
              <a:ext uri="{FF2B5EF4-FFF2-40B4-BE49-F238E27FC236}">
                <a16:creationId xmlns:a16="http://schemas.microsoft.com/office/drawing/2014/main" id="{3BF117A2-4A86-4869-B4B4-9C5FC509B019}"/>
              </a:ext>
            </a:extLst>
          </p:cNvPr>
          <p:cNvSpPr>
            <a:spLocks xmlns:a="http://schemas.openxmlformats.org/drawingml/2006/main" noGrp="1"/>
          </p:cNvSpPr>
          <p:nvPr/>
        </p:nvSpPr>
        <p:spPr>
          <a:xfrm xmlns:a="http://schemas.openxmlformats.org/drawingml/2006/main">
            <a:off x="4191000" y="4781550"/>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.env.backup</a:t>
            </a:r>
          </a:p>
        </p:txBody>
      </p:sp>
      <p:sp>
        <p:nvSpPr>
          <p:cNvPr id="24" name="shape-46">
            <a:extLst xmlns:a="http://schemas.openxmlformats.org/drawingml/2006/main">
              <a:ext uri="{FF2B5EF4-FFF2-40B4-BE49-F238E27FC236}">
                <a16:creationId xmlns:a16="http://schemas.microsoft.com/office/drawing/2014/main" id="{BABB83B9-AF91-48ED-ADB5-3C9D9828B272}"/>
              </a:ext>
            </a:extLst>
          </p:cNvPr>
          <p:cNvSpPr>
            <a:spLocks xmlns:a="http://schemas.openxmlformats.org/drawingml/2006/main" noGrp="1"/>
          </p:cNvSpPr>
          <p:nvPr/>
        </p:nvSpPr>
        <p:spPr>
          <a:xfrm xmlns:a="http://schemas.openxmlformats.org/drawingml/2006/main">
            <a:off x="7829550" y="4238625"/>
            <a:ext cx="3400425" cy="1028700"/>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25" name="text-47">
            <a:extLst xmlns:a="http://schemas.openxmlformats.org/drawingml/2006/main">
              <a:ext uri="{FF2B5EF4-FFF2-40B4-BE49-F238E27FC236}">
                <a16:creationId xmlns:a16="http://schemas.microsoft.com/office/drawing/2014/main" id="{DD24F754-4DCC-4B6C-A852-C5B99E6F51C8}"/>
              </a:ext>
            </a:extLst>
          </p:cNvPr>
          <p:cNvSpPr>
            <a:spLocks xmlns:a="http://schemas.openxmlformats.org/drawingml/2006/main" noGrp="1"/>
          </p:cNvSpPr>
          <p:nvPr/>
        </p:nvSpPr>
        <p:spPr>
          <a:xfrm xmlns:a="http://schemas.openxmlformats.org/drawingml/2006/main">
            <a:off x="8001000" y="4400550"/>
            <a:ext cx="30575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AI AGENT</a:t>
            </a:r>
          </a:p>
        </p:txBody>
      </p:sp>
      <p:sp>
        <p:nvSpPr>
          <p:cNvPr id="26" name="text-48">
            <a:extLst xmlns:a="http://schemas.openxmlformats.org/drawingml/2006/main">
              <a:ext uri="{FF2B5EF4-FFF2-40B4-BE49-F238E27FC236}">
                <a16:creationId xmlns:a16="http://schemas.microsoft.com/office/drawing/2014/main" id="{CD67C67F-43A1-4EC6-8FE6-901BE4D3F44E}"/>
              </a:ext>
            </a:extLst>
          </p:cNvPr>
          <p:cNvSpPr>
            <a:spLocks xmlns:a="http://schemas.openxmlformats.org/drawingml/2006/main" noGrp="1"/>
          </p:cNvSpPr>
          <p:nvPr/>
        </p:nvSpPr>
        <p:spPr>
          <a:xfrm xmlns:a="http://schemas.openxmlformats.org/drawingml/2006/main">
            <a:off x="8001000" y="4781550"/>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copied context</a:t>
            </a:r>
          </a:p>
        </p:txBody>
      </p:sp>
      <p:sp>
        <p:nvSpPr>
          <p:cNvPr id="27" name="text-49">
            <a:extLst xmlns:a="http://schemas.openxmlformats.org/drawingml/2006/main">
              <a:ext uri="{FF2B5EF4-FFF2-40B4-BE49-F238E27FC236}">
                <a16:creationId xmlns:a16="http://schemas.microsoft.com/office/drawing/2014/main" id="{60C7E0AF-FF98-49D5-B381-E95B2405537C}"/>
              </a:ext>
            </a:extLst>
          </p:cNvPr>
          <p:cNvSpPr>
            <a:spLocks xmlns:a="http://schemas.openxmlformats.org/drawingml/2006/main" noGrp="1"/>
          </p:cNvSpPr>
          <p:nvPr/>
        </p:nvSpPr>
        <p:spPr>
          <a:xfrm xmlns:a="http://schemas.openxmlformats.org/drawingml/2006/main">
            <a:off x="533400" y="5581650"/>
            <a:ext cx="11144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6D5EF4"/>
                </a:solidFill>
                <a:latin typeface="Arial"/>
                <a:ea typeface="Arial"/>
                <a:cs typeface="Arial"/>
              </a:defRPr>
            </a:pPr>
            <a:r>
              <a:rPr sz="2175" b="1">
                <a:solidFill>
                  <a:srgbClr val="6D5EF4"/>
                </a:solidFill>
                <a:latin typeface="Arial"/>
                <a:ea typeface="Arial"/>
                <a:cs typeface="Arial"/>
              </a:rPr>
              <a:t>Scattered.  Inconsistent.  Overexposed.  Hard to revoke.</a:t>
            </a:r>
          </a:p>
        </p:txBody>
      </p:sp>
    </p:spTree>
    <p:extLst>
      <p:ext uri="{BB962C8B-B14F-4D97-AF65-F5344CB8AC3E}">
        <p14:creationId xmlns:p14="http://schemas.microsoft.com/office/powerpoint/2010/main" val="2096683711"/>
      </p:ext>
    </p:extLst>
  </p:cSld>
</p:sld>
</file>

<file path=ppt/slides/slide3.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35" name="text-50">
            <a:extLst xmlns:a="http://schemas.openxmlformats.org/drawingml/2006/main">
              <a:ext uri="{FF2B5EF4-FFF2-40B4-BE49-F238E27FC236}">
                <a16:creationId xmlns:a16="http://schemas.microsoft.com/office/drawing/2014/main" id="{33BB9094-6CD5-4917-B7B9-C1C392EAB157}"/>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03 / THE SOLUTION</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2253fc4646f4419d">
            <a:extLst>
              <a:ext uri="{96DAC541-7B7A-43D3-8B79-37D633B846F1}">
                <asvg:svgBlip xmlns:asvg="http://schemas.microsoft.com/office/drawing/2016/SVG/main" r:embed="R4862948acef247d5"/>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3" name="shape-51">
            <a:extLst xmlns:a="http://schemas.openxmlformats.org/drawingml/2006/main">
              <a:ext uri="{FF2B5EF4-FFF2-40B4-BE49-F238E27FC236}">
                <a16:creationId xmlns:a16="http://schemas.microsoft.com/office/drawing/2014/main" id="{C9F2091C-EB9D-4A09-8035-EC131349E533}"/>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4" name="text-52">
            <a:extLst xmlns:a="http://schemas.openxmlformats.org/drawingml/2006/main">
              <a:ext uri="{FF2B5EF4-FFF2-40B4-BE49-F238E27FC236}">
                <a16:creationId xmlns:a16="http://schemas.microsoft.com/office/drawing/2014/main" id="{0DDC250D-C90D-468D-886B-64A1A598916A}"/>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ENVSYNC / SELF-HOSTED SECRETS</a:t>
            </a:r>
          </a:p>
        </p:txBody>
      </p:sp>
      <p:sp>
        <p:nvSpPr>
          <p:cNvPr id="5" name="text-53">
            <a:extLst xmlns:a="http://schemas.openxmlformats.org/drawingml/2006/main">
              <a:ext uri="{FF2B5EF4-FFF2-40B4-BE49-F238E27FC236}">
                <a16:creationId xmlns:a16="http://schemas.microsoft.com/office/drawing/2014/main" id="{87D99349-DBCD-4A8E-B0D0-A0B242AEE423}"/>
              </a:ext>
            </a:extLst>
          </p:cNvPr>
          <p:cNvSpPr>
            <a:spLocks xmlns:a="http://schemas.openxmlformats.org/drawingml/2006/main" noGrp="1"/>
          </p:cNvSpPr>
          <p:nvPr/>
        </p:nvSpPr>
        <p:spPr>
          <a:xfrm xmlns:a="http://schemas.openxmlformats.org/drawingml/2006/main">
            <a:off x="11144250" y="644842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676961"/>
                </a:solidFill>
                <a:latin typeface="Menlo"/>
                <a:ea typeface="Menlo"/>
                <a:cs typeface="Menlo"/>
              </a:defRPr>
            </a:pPr>
            <a:r>
              <a:rPr sz="1350" b="0">
                <a:solidFill>
                  <a:srgbClr val="676961"/>
                </a:solidFill>
                <a:latin typeface="Menlo"/>
                <a:ea typeface="Menlo"/>
                <a:cs typeface="Menlo"/>
              </a:rPr>
              <a:t>03</a:t>
            </a:r>
          </a:p>
        </p:txBody>
      </p:sp>
      <p:sp>
        <p:nvSpPr>
          <p:cNvPr id="6" name="text-54">
            <a:extLst xmlns:a="http://schemas.openxmlformats.org/drawingml/2006/main">
              <a:ext uri="{FF2B5EF4-FFF2-40B4-BE49-F238E27FC236}">
                <a16:creationId xmlns:a16="http://schemas.microsoft.com/office/drawing/2014/main" id="{D413BB36-3F47-4C5D-A78E-2373C2DC3FD9}"/>
              </a:ext>
            </a:extLst>
          </p:cNvPr>
          <p:cNvSpPr>
            <a:spLocks xmlns:a="http://schemas.openxmlformats.org/drawingml/2006/main" noGrp="1"/>
          </p:cNvSpPr>
          <p:nvPr/>
        </p:nvSpPr>
        <p:spPr>
          <a:xfrm xmlns:a="http://schemas.openxmlformats.org/drawingml/2006/main">
            <a:off x="533400" y="942975"/>
            <a:ext cx="723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800" b="1">
                <a:solidFill>
                  <a:srgbClr val="20211F"/>
                </a:solidFill>
                <a:latin typeface="Arial"/>
                <a:ea typeface="Arial"/>
                <a:cs typeface="Arial"/>
              </a:defRPr>
            </a:pPr>
            <a:r>
              <a:rPr sz="4800" b="1">
                <a:solidFill>
                  <a:srgbClr val="20211F"/>
                </a:solidFill>
                <a:latin typeface="Arial"/>
                <a:ea typeface="Arial"/>
                <a:cs typeface="Arial"/>
              </a:rPr>
              <a:t>One place.</a:t>
            </a:r>
          </a:p>
        </p:txBody>
      </p:sp>
      <p:sp>
        <p:nvSpPr>
          <p:cNvPr id="7" name="text-55">
            <a:extLst xmlns:a="http://schemas.openxmlformats.org/drawingml/2006/main">
              <a:ext uri="{FF2B5EF4-FFF2-40B4-BE49-F238E27FC236}">
                <a16:creationId xmlns:a16="http://schemas.microsoft.com/office/drawing/2014/main" id="{B694168C-677E-4ED6-A7B0-EAE9F893000D}"/>
              </a:ext>
            </a:extLst>
          </p:cNvPr>
          <p:cNvSpPr>
            <a:spLocks xmlns:a="http://schemas.openxmlformats.org/drawingml/2006/main" noGrp="1"/>
          </p:cNvSpPr>
          <p:nvPr/>
        </p:nvSpPr>
        <p:spPr>
          <a:xfrm xmlns:a="http://schemas.openxmlformats.org/drawingml/2006/main">
            <a:off x="533400" y="1609725"/>
            <a:ext cx="723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800" b="1">
                <a:solidFill>
                  <a:srgbClr val="20211F"/>
                </a:solidFill>
                <a:latin typeface="Arial"/>
                <a:ea typeface="Arial"/>
                <a:cs typeface="Arial"/>
              </a:defRPr>
            </a:pPr>
            <a:r>
              <a:rPr sz="4800" b="1">
                <a:solidFill>
                  <a:srgbClr val="20211F"/>
                </a:solidFill>
                <a:latin typeface="Arial"/>
                <a:ea typeface="Arial"/>
                <a:cs typeface="Arial"/>
              </a:rPr>
              <a:t>Every environment.</a:t>
            </a:r>
          </a:p>
        </p:txBody>
      </p:sp>
      <p:sp>
        <p:nvSpPr>
          <p:cNvPr id="8" name="text-56">
            <a:extLst xmlns:a="http://schemas.openxmlformats.org/drawingml/2006/main">
              <a:ext uri="{FF2B5EF4-FFF2-40B4-BE49-F238E27FC236}">
                <a16:creationId xmlns:a16="http://schemas.microsoft.com/office/drawing/2014/main" id="{898462C2-E2B1-4AD4-9BEE-85249F06014F}"/>
              </a:ext>
            </a:extLst>
          </p:cNvPr>
          <p:cNvSpPr>
            <a:spLocks xmlns:a="http://schemas.openxmlformats.org/drawingml/2006/main" noGrp="1"/>
          </p:cNvSpPr>
          <p:nvPr/>
        </p:nvSpPr>
        <p:spPr>
          <a:xfrm xmlns:a="http://schemas.openxmlformats.org/drawingml/2006/main">
            <a:off x="542925" y="26860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PROJECT / PAYMENTS</a:t>
            </a:r>
          </a:p>
        </p:txBody>
      </p:sp>
      <p:sp>
        <p:nvSpPr>
          <p:cNvPr id="9" name="shape-57">
            <a:extLst xmlns:a="http://schemas.openxmlformats.org/drawingml/2006/main">
              <a:ext uri="{FF2B5EF4-FFF2-40B4-BE49-F238E27FC236}">
                <a16:creationId xmlns:a16="http://schemas.microsoft.com/office/drawing/2014/main" id="{54B03D40-71CC-41F8-8136-2A6F2DA4D02B}"/>
              </a:ext>
            </a:extLst>
          </p:cNvPr>
          <p:cNvSpPr>
            <a:spLocks xmlns:a="http://schemas.openxmlformats.org/drawingml/2006/main" noGrp="1"/>
          </p:cNvSpPr>
          <p:nvPr/>
        </p:nvSpPr>
        <p:spPr>
          <a:xfrm xmlns:a="http://schemas.openxmlformats.org/drawingml/2006/main">
            <a:off x="533400" y="3019425"/>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10" name="text-58">
            <a:extLst xmlns:a="http://schemas.openxmlformats.org/drawingml/2006/main">
              <a:ext uri="{FF2B5EF4-FFF2-40B4-BE49-F238E27FC236}">
                <a16:creationId xmlns:a16="http://schemas.microsoft.com/office/drawing/2014/main" id="{90EAC266-0D46-44C4-AD00-17FF1AB4AB82}"/>
              </a:ext>
            </a:extLst>
          </p:cNvPr>
          <p:cNvSpPr>
            <a:spLocks xmlns:a="http://schemas.openxmlformats.org/drawingml/2006/main" noGrp="1"/>
          </p:cNvSpPr>
          <p:nvPr/>
        </p:nvSpPr>
        <p:spPr>
          <a:xfrm xmlns:a="http://schemas.openxmlformats.org/drawingml/2006/main">
            <a:off x="533400" y="32099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01</a:t>
            </a:r>
          </a:p>
        </p:txBody>
      </p:sp>
      <p:sp>
        <p:nvSpPr>
          <p:cNvPr id="11" name="text-59">
            <a:extLst xmlns:a="http://schemas.openxmlformats.org/drawingml/2006/main">
              <a:ext uri="{FF2B5EF4-FFF2-40B4-BE49-F238E27FC236}">
                <a16:creationId xmlns:a16="http://schemas.microsoft.com/office/drawing/2014/main" id="{380B1E3C-D28C-41FB-81F0-0D067FCAA03B}"/>
              </a:ext>
            </a:extLst>
          </p:cNvPr>
          <p:cNvSpPr>
            <a:spLocks xmlns:a="http://schemas.openxmlformats.org/drawingml/2006/main" noGrp="1"/>
          </p:cNvSpPr>
          <p:nvPr/>
        </p:nvSpPr>
        <p:spPr>
          <a:xfrm xmlns:a="http://schemas.openxmlformats.org/drawingml/2006/main">
            <a:off x="533400" y="3571875"/>
            <a:ext cx="2590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6D5EF4"/>
                </a:solidFill>
                <a:latin typeface="Arial"/>
                <a:ea typeface="Arial"/>
                <a:cs typeface="Arial"/>
              </a:defRPr>
            </a:pPr>
            <a:r>
              <a:rPr sz="2550" b="1">
                <a:solidFill>
                  <a:srgbClr val="6D5EF4"/>
                </a:solidFill>
                <a:latin typeface="Arial"/>
                <a:ea typeface="Arial"/>
                <a:cs typeface="Arial"/>
              </a:rPr>
              <a:t>DEV</a:t>
            </a:r>
          </a:p>
        </p:txBody>
      </p:sp>
      <p:sp>
        <p:nvSpPr>
          <p:cNvPr id="12" name="text-60">
            <a:extLst xmlns:a="http://schemas.openxmlformats.org/drawingml/2006/main">
              <a:ext uri="{FF2B5EF4-FFF2-40B4-BE49-F238E27FC236}">
                <a16:creationId xmlns:a16="http://schemas.microsoft.com/office/drawing/2014/main" id="{CEBB55B1-440E-4842-A1C8-F3C95176FE4D}"/>
              </a:ext>
            </a:extLst>
          </p:cNvPr>
          <p:cNvSpPr>
            <a:spLocks xmlns:a="http://schemas.openxmlformats.org/drawingml/2006/main" noGrp="1"/>
          </p:cNvSpPr>
          <p:nvPr/>
        </p:nvSpPr>
        <p:spPr>
          <a:xfrm xmlns:a="http://schemas.openxmlformats.org/drawingml/2006/main">
            <a:off x="533400" y="416242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DATABASE_URL</a:t>
            </a:r>
          </a:p>
        </p:txBody>
      </p:sp>
      <p:sp>
        <p:nvSpPr>
          <p:cNvPr id="13" name="text-61">
            <a:extLst xmlns:a="http://schemas.openxmlformats.org/drawingml/2006/main">
              <a:ext uri="{FF2B5EF4-FFF2-40B4-BE49-F238E27FC236}">
                <a16:creationId xmlns:a16="http://schemas.microsoft.com/office/drawing/2014/main" id="{D4679B8C-07CB-40AD-8138-BDC5310BE994}"/>
              </a:ext>
            </a:extLst>
          </p:cNvPr>
          <p:cNvSpPr>
            <a:spLocks xmlns:a="http://schemas.openxmlformats.org/drawingml/2006/main" noGrp="1"/>
          </p:cNvSpPr>
          <p:nvPr/>
        </p:nvSpPr>
        <p:spPr>
          <a:xfrm xmlns:a="http://schemas.openxmlformats.org/drawingml/2006/main">
            <a:off x="533400" y="448627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REDIS_URL</a:t>
            </a:r>
          </a:p>
        </p:txBody>
      </p:sp>
      <p:sp>
        <p:nvSpPr>
          <p:cNvPr id="14" name="text-62">
            <a:extLst xmlns:a="http://schemas.openxmlformats.org/drawingml/2006/main">
              <a:ext uri="{FF2B5EF4-FFF2-40B4-BE49-F238E27FC236}">
                <a16:creationId xmlns:a16="http://schemas.microsoft.com/office/drawing/2014/main" id="{E419CC58-3D23-4468-97B5-8B46BF094CE3}"/>
              </a:ext>
            </a:extLst>
          </p:cNvPr>
          <p:cNvSpPr>
            <a:spLocks xmlns:a="http://schemas.openxmlformats.org/drawingml/2006/main" noGrp="1"/>
          </p:cNvSpPr>
          <p:nvPr/>
        </p:nvSpPr>
        <p:spPr>
          <a:xfrm xmlns:a="http://schemas.openxmlformats.org/drawingml/2006/main">
            <a:off x="533400" y="481012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API_URL</a:t>
            </a:r>
          </a:p>
        </p:txBody>
      </p:sp>
      <p:sp>
        <p:nvSpPr>
          <p:cNvPr id="15" name="shape-63">
            <a:extLst xmlns:a="http://schemas.openxmlformats.org/drawingml/2006/main">
              <a:ext uri="{FF2B5EF4-FFF2-40B4-BE49-F238E27FC236}">
                <a16:creationId xmlns:a16="http://schemas.microsoft.com/office/drawing/2014/main" id="{52BB5965-0911-46D6-A1E3-0D5647F8C3E7}"/>
              </a:ext>
            </a:extLst>
          </p:cNvPr>
          <p:cNvSpPr>
            <a:spLocks xmlns:a="http://schemas.openxmlformats.org/drawingml/2006/main" noGrp="1"/>
          </p:cNvSpPr>
          <p:nvPr/>
        </p:nvSpPr>
        <p:spPr>
          <a:xfrm xmlns:a="http://schemas.openxmlformats.org/drawingml/2006/main">
            <a:off x="3162300" y="3219450"/>
            <a:ext cx="9525" cy="2000250"/>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16" name="text-64">
            <a:extLst xmlns:a="http://schemas.openxmlformats.org/drawingml/2006/main">
              <a:ext uri="{FF2B5EF4-FFF2-40B4-BE49-F238E27FC236}">
                <a16:creationId xmlns:a16="http://schemas.microsoft.com/office/drawing/2014/main" id="{DC3155B1-396E-4A44-9B1D-C6890B5176E7}"/>
              </a:ext>
            </a:extLst>
          </p:cNvPr>
          <p:cNvSpPr>
            <a:spLocks xmlns:a="http://schemas.openxmlformats.org/drawingml/2006/main" noGrp="1"/>
          </p:cNvSpPr>
          <p:nvPr/>
        </p:nvSpPr>
        <p:spPr>
          <a:xfrm xmlns:a="http://schemas.openxmlformats.org/drawingml/2006/main">
            <a:off x="3371850" y="32099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02</a:t>
            </a:r>
          </a:p>
        </p:txBody>
      </p:sp>
      <p:sp>
        <p:nvSpPr>
          <p:cNvPr id="17" name="text-65">
            <a:extLst xmlns:a="http://schemas.openxmlformats.org/drawingml/2006/main">
              <a:ext uri="{FF2B5EF4-FFF2-40B4-BE49-F238E27FC236}">
                <a16:creationId xmlns:a16="http://schemas.microsoft.com/office/drawing/2014/main" id="{666CB324-32AD-4385-ABF4-12B0C5259F80}"/>
              </a:ext>
            </a:extLst>
          </p:cNvPr>
          <p:cNvSpPr>
            <a:spLocks xmlns:a="http://schemas.openxmlformats.org/drawingml/2006/main" noGrp="1"/>
          </p:cNvSpPr>
          <p:nvPr/>
        </p:nvSpPr>
        <p:spPr>
          <a:xfrm xmlns:a="http://schemas.openxmlformats.org/drawingml/2006/main">
            <a:off x="3371850" y="3571875"/>
            <a:ext cx="2590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6D5EF4"/>
                </a:solidFill>
                <a:latin typeface="Arial"/>
                <a:ea typeface="Arial"/>
                <a:cs typeface="Arial"/>
              </a:defRPr>
            </a:pPr>
            <a:r>
              <a:rPr sz="2550" b="1">
                <a:solidFill>
                  <a:srgbClr val="6D5EF4"/>
                </a:solidFill>
                <a:latin typeface="Arial"/>
                <a:ea typeface="Arial"/>
                <a:cs typeface="Arial"/>
              </a:rPr>
              <a:t>TEST</a:t>
            </a:r>
          </a:p>
        </p:txBody>
      </p:sp>
      <p:sp>
        <p:nvSpPr>
          <p:cNvPr id="18" name="text-66">
            <a:extLst xmlns:a="http://schemas.openxmlformats.org/drawingml/2006/main">
              <a:ext uri="{FF2B5EF4-FFF2-40B4-BE49-F238E27FC236}">
                <a16:creationId xmlns:a16="http://schemas.microsoft.com/office/drawing/2014/main" id="{644E9F1A-72F9-47ED-BC00-5A820D4F2EC3}"/>
              </a:ext>
            </a:extLst>
          </p:cNvPr>
          <p:cNvSpPr>
            <a:spLocks xmlns:a="http://schemas.openxmlformats.org/drawingml/2006/main" noGrp="1"/>
          </p:cNvSpPr>
          <p:nvPr/>
        </p:nvSpPr>
        <p:spPr>
          <a:xfrm xmlns:a="http://schemas.openxmlformats.org/drawingml/2006/main">
            <a:off x="3371850" y="416242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DATABASE_URL</a:t>
            </a:r>
          </a:p>
        </p:txBody>
      </p:sp>
      <p:sp>
        <p:nvSpPr>
          <p:cNvPr id="19" name="text-67">
            <a:extLst xmlns:a="http://schemas.openxmlformats.org/drawingml/2006/main">
              <a:ext uri="{FF2B5EF4-FFF2-40B4-BE49-F238E27FC236}">
                <a16:creationId xmlns:a16="http://schemas.microsoft.com/office/drawing/2014/main" id="{FB1C13C2-983C-4BA7-8501-7D0BD5AB7ECF}"/>
              </a:ext>
            </a:extLst>
          </p:cNvPr>
          <p:cNvSpPr>
            <a:spLocks xmlns:a="http://schemas.openxmlformats.org/drawingml/2006/main" noGrp="1"/>
          </p:cNvSpPr>
          <p:nvPr/>
        </p:nvSpPr>
        <p:spPr>
          <a:xfrm xmlns:a="http://schemas.openxmlformats.org/drawingml/2006/main">
            <a:off x="3371850" y="448627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REDIS_URL</a:t>
            </a:r>
          </a:p>
        </p:txBody>
      </p:sp>
      <p:sp>
        <p:nvSpPr>
          <p:cNvPr id="20" name="text-68">
            <a:extLst xmlns:a="http://schemas.openxmlformats.org/drawingml/2006/main">
              <a:ext uri="{FF2B5EF4-FFF2-40B4-BE49-F238E27FC236}">
                <a16:creationId xmlns:a16="http://schemas.microsoft.com/office/drawing/2014/main" id="{59921BEC-1427-443F-8B05-280BE6C570B2}"/>
              </a:ext>
            </a:extLst>
          </p:cNvPr>
          <p:cNvSpPr>
            <a:spLocks xmlns:a="http://schemas.openxmlformats.org/drawingml/2006/main" noGrp="1"/>
          </p:cNvSpPr>
          <p:nvPr/>
        </p:nvSpPr>
        <p:spPr>
          <a:xfrm xmlns:a="http://schemas.openxmlformats.org/drawingml/2006/main">
            <a:off x="3371850" y="481012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API_URL</a:t>
            </a:r>
          </a:p>
        </p:txBody>
      </p:sp>
      <p:sp>
        <p:nvSpPr>
          <p:cNvPr id="21" name="shape-69">
            <a:extLst xmlns:a="http://schemas.openxmlformats.org/drawingml/2006/main">
              <a:ext uri="{FF2B5EF4-FFF2-40B4-BE49-F238E27FC236}">
                <a16:creationId xmlns:a16="http://schemas.microsoft.com/office/drawing/2014/main" id="{90D92090-9E83-45BB-9669-0F783E2E1278}"/>
              </a:ext>
            </a:extLst>
          </p:cNvPr>
          <p:cNvSpPr>
            <a:spLocks xmlns:a="http://schemas.openxmlformats.org/drawingml/2006/main" noGrp="1"/>
          </p:cNvSpPr>
          <p:nvPr/>
        </p:nvSpPr>
        <p:spPr>
          <a:xfrm xmlns:a="http://schemas.openxmlformats.org/drawingml/2006/main">
            <a:off x="6000750" y="3219450"/>
            <a:ext cx="9525" cy="2000250"/>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22" name="text-70">
            <a:extLst xmlns:a="http://schemas.openxmlformats.org/drawingml/2006/main">
              <a:ext uri="{FF2B5EF4-FFF2-40B4-BE49-F238E27FC236}">
                <a16:creationId xmlns:a16="http://schemas.microsoft.com/office/drawing/2014/main" id="{A5803289-7A44-4855-B90C-FCC444D6F73B}"/>
              </a:ext>
            </a:extLst>
          </p:cNvPr>
          <p:cNvSpPr>
            <a:spLocks xmlns:a="http://schemas.openxmlformats.org/drawingml/2006/main" noGrp="1"/>
          </p:cNvSpPr>
          <p:nvPr/>
        </p:nvSpPr>
        <p:spPr>
          <a:xfrm xmlns:a="http://schemas.openxmlformats.org/drawingml/2006/main">
            <a:off x="6210300" y="32099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03</a:t>
            </a:r>
          </a:p>
        </p:txBody>
      </p:sp>
      <p:sp>
        <p:nvSpPr>
          <p:cNvPr id="23" name="text-71">
            <a:extLst xmlns:a="http://schemas.openxmlformats.org/drawingml/2006/main">
              <a:ext uri="{FF2B5EF4-FFF2-40B4-BE49-F238E27FC236}">
                <a16:creationId xmlns:a16="http://schemas.microsoft.com/office/drawing/2014/main" id="{C26F4956-B5A4-4F3A-9DAF-FF11C55ED168}"/>
              </a:ext>
            </a:extLst>
          </p:cNvPr>
          <p:cNvSpPr>
            <a:spLocks xmlns:a="http://schemas.openxmlformats.org/drawingml/2006/main" noGrp="1"/>
          </p:cNvSpPr>
          <p:nvPr/>
        </p:nvSpPr>
        <p:spPr>
          <a:xfrm xmlns:a="http://schemas.openxmlformats.org/drawingml/2006/main">
            <a:off x="6210300" y="3571875"/>
            <a:ext cx="2590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6D5EF4"/>
                </a:solidFill>
                <a:latin typeface="Arial"/>
                <a:ea typeface="Arial"/>
                <a:cs typeface="Arial"/>
              </a:defRPr>
            </a:pPr>
            <a:r>
              <a:rPr sz="2550" b="1">
                <a:solidFill>
                  <a:srgbClr val="6D5EF4"/>
                </a:solidFill>
                <a:latin typeface="Arial"/>
                <a:ea typeface="Arial"/>
                <a:cs typeface="Arial"/>
              </a:rPr>
              <a:t>STAGING</a:t>
            </a:r>
          </a:p>
        </p:txBody>
      </p:sp>
      <p:sp>
        <p:nvSpPr>
          <p:cNvPr id="24" name="text-72">
            <a:extLst xmlns:a="http://schemas.openxmlformats.org/drawingml/2006/main">
              <a:ext uri="{FF2B5EF4-FFF2-40B4-BE49-F238E27FC236}">
                <a16:creationId xmlns:a16="http://schemas.microsoft.com/office/drawing/2014/main" id="{8AF7A096-A7D8-46A3-A2EA-52F94C66D1A7}"/>
              </a:ext>
            </a:extLst>
          </p:cNvPr>
          <p:cNvSpPr>
            <a:spLocks xmlns:a="http://schemas.openxmlformats.org/drawingml/2006/main" noGrp="1"/>
          </p:cNvSpPr>
          <p:nvPr/>
        </p:nvSpPr>
        <p:spPr>
          <a:xfrm xmlns:a="http://schemas.openxmlformats.org/drawingml/2006/main">
            <a:off x="6210300" y="416242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DATABASE_URL</a:t>
            </a:r>
          </a:p>
        </p:txBody>
      </p:sp>
      <p:sp>
        <p:nvSpPr>
          <p:cNvPr id="25" name="text-73">
            <a:extLst xmlns:a="http://schemas.openxmlformats.org/drawingml/2006/main">
              <a:ext uri="{FF2B5EF4-FFF2-40B4-BE49-F238E27FC236}">
                <a16:creationId xmlns:a16="http://schemas.microsoft.com/office/drawing/2014/main" id="{A42F1D8F-92A1-47D5-AA15-7EF9FFE35024}"/>
              </a:ext>
            </a:extLst>
          </p:cNvPr>
          <p:cNvSpPr>
            <a:spLocks xmlns:a="http://schemas.openxmlformats.org/drawingml/2006/main" noGrp="1"/>
          </p:cNvSpPr>
          <p:nvPr/>
        </p:nvSpPr>
        <p:spPr>
          <a:xfrm xmlns:a="http://schemas.openxmlformats.org/drawingml/2006/main">
            <a:off x="6210300" y="448627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REDIS_URL</a:t>
            </a:r>
          </a:p>
        </p:txBody>
      </p:sp>
      <p:sp>
        <p:nvSpPr>
          <p:cNvPr id="26" name="text-74">
            <a:extLst xmlns:a="http://schemas.openxmlformats.org/drawingml/2006/main">
              <a:ext uri="{FF2B5EF4-FFF2-40B4-BE49-F238E27FC236}">
                <a16:creationId xmlns:a16="http://schemas.microsoft.com/office/drawing/2014/main" id="{BB37E1B5-D72E-4CFA-8338-8475CF001A5B}"/>
              </a:ext>
            </a:extLst>
          </p:cNvPr>
          <p:cNvSpPr>
            <a:spLocks xmlns:a="http://schemas.openxmlformats.org/drawingml/2006/main" noGrp="1"/>
          </p:cNvSpPr>
          <p:nvPr/>
        </p:nvSpPr>
        <p:spPr>
          <a:xfrm xmlns:a="http://schemas.openxmlformats.org/drawingml/2006/main">
            <a:off x="6210300" y="481012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API_URL</a:t>
            </a:r>
          </a:p>
        </p:txBody>
      </p:sp>
      <p:sp>
        <p:nvSpPr>
          <p:cNvPr id="27" name="shape-75">
            <a:extLst xmlns:a="http://schemas.openxmlformats.org/drawingml/2006/main">
              <a:ext uri="{FF2B5EF4-FFF2-40B4-BE49-F238E27FC236}">
                <a16:creationId xmlns:a16="http://schemas.microsoft.com/office/drawing/2014/main" id="{42A4859E-BAFD-4140-A8A0-5DDA725E2A91}"/>
              </a:ext>
            </a:extLst>
          </p:cNvPr>
          <p:cNvSpPr>
            <a:spLocks xmlns:a="http://schemas.openxmlformats.org/drawingml/2006/main" noGrp="1"/>
          </p:cNvSpPr>
          <p:nvPr/>
        </p:nvSpPr>
        <p:spPr>
          <a:xfrm xmlns:a="http://schemas.openxmlformats.org/drawingml/2006/main">
            <a:off x="8839200" y="3219450"/>
            <a:ext cx="9525" cy="2000250"/>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28" name="text-76">
            <a:extLst xmlns:a="http://schemas.openxmlformats.org/drawingml/2006/main">
              <a:ext uri="{FF2B5EF4-FFF2-40B4-BE49-F238E27FC236}">
                <a16:creationId xmlns:a16="http://schemas.microsoft.com/office/drawing/2014/main" id="{23A4FCC6-080B-4EB9-B0C4-7E82BB42B195}"/>
              </a:ext>
            </a:extLst>
          </p:cNvPr>
          <p:cNvSpPr>
            <a:spLocks xmlns:a="http://schemas.openxmlformats.org/drawingml/2006/main" noGrp="1"/>
          </p:cNvSpPr>
          <p:nvPr/>
        </p:nvSpPr>
        <p:spPr>
          <a:xfrm xmlns:a="http://schemas.openxmlformats.org/drawingml/2006/main">
            <a:off x="9048750" y="32099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04</a:t>
            </a:r>
          </a:p>
        </p:txBody>
      </p:sp>
      <p:sp>
        <p:nvSpPr>
          <p:cNvPr id="29" name="text-77">
            <a:extLst xmlns:a="http://schemas.openxmlformats.org/drawingml/2006/main">
              <a:ext uri="{FF2B5EF4-FFF2-40B4-BE49-F238E27FC236}">
                <a16:creationId xmlns:a16="http://schemas.microsoft.com/office/drawing/2014/main" id="{D58FD88F-860F-486E-B602-0DF616BCD7C2}"/>
              </a:ext>
            </a:extLst>
          </p:cNvPr>
          <p:cNvSpPr>
            <a:spLocks xmlns:a="http://schemas.openxmlformats.org/drawingml/2006/main" noGrp="1"/>
          </p:cNvSpPr>
          <p:nvPr/>
        </p:nvSpPr>
        <p:spPr>
          <a:xfrm xmlns:a="http://schemas.openxmlformats.org/drawingml/2006/main">
            <a:off x="9048750" y="3571875"/>
            <a:ext cx="2590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6D5EF4"/>
                </a:solidFill>
                <a:latin typeface="Arial"/>
                <a:ea typeface="Arial"/>
                <a:cs typeface="Arial"/>
              </a:defRPr>
            </a:pPr>
            <a:r>
              <a:rPr sz="2550" b="1">
                <a:solidFill>
                  <a:srgbClr val="6D5EF4"/>
                </a:solidFill>
                <a:latin typeface="Arial"/>
                <a:ea typeface="Arial"/>
                <a:cs typeface="Arial"/>
              </a:rPr>
              <a:t>PROD</a:t>
            </a:r>
          </a:p>
        </p:txBody>
      </p:sp>
      <p:sp>
        <p:nvSpPr>
          <p:cNvPr id="30" name="text-78">
            <a:extLst xmlns:a="http://schemas.openxmlformats.org/drawingml/2006/main">
              <a:ext uri="{FF2B5EF4-FFF2-40B4-BE49-F238E27FC236}">
                <a16:creationId xmlns:a16="http://schemas.microsoft.com/office/drawing/2014/main" id="{AEDB14CB-05BD-459C-9920-6697C7125F87}"/>
              </a:ext>
            </a:extLst>
          </p:cNvPr>
          <p:cNvSpPr>
            <a:spLocks xmlns:a="http://schemas.openxmlformats.org/drawingml/2006/main" noGrp="1"/>
          </p:cNvSpPr>
          <p:nvPr/>
        </p:nvSpPr>
        <p:spPr>
          <a:xfrm xmlns:a="http://schemas.openxmlformats.org/drawingml/2006/main">
            <a:off x="9048750" y="416242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DATABASE_URL</a:t>
            </a:r>
          </a:p>
        </p:txBody>
      </p:sp>
      <p:sp>
        <p:nvSpPr>
          <p:cNvPr id="31" name="text-79">
            <a:extLst xmlns:a="http://schemas.openxmlformats.org/drawingml/2006/main">
              <a:ext uri="{FF2B5EF4-FFF2-40B4-BE49-F238E27FC236}">
                <a16:creationId xmlns:a16="http://schemas.microsoft.com/office/drawing/2014/main" id="{1EC5C4EC-2E2D-4D0F-AFF3-4573CD584341}"/>
              </a:ext>
            </a:extLst>
          </p:cNvPr>
          <p:cNvSpPr>
            <a:spLocks xmlns:a="http://schemas.openxmlformats.org/drawingml/2006/main" noGrp="1"/>
          </p:cNvSpPr>
          <p:nvPr/>
        </p:nvSpPr>
        <p:spPr>
          <a:xfrm xmlns:a="http://schemas.openxmlformats.org/drawingml/2006/main">
            <a:off x="9048750" y="448627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REDIS_URL</a:t>
            </a:r>
          </a:p>
        </p:txBody>
      </p:sp>
      <p:sp>
        <p:nvSpPr>
          <p:cNvPr id="32" name="text-80">
            <a:extLst xmlns:a="http://schemas.openxmlformats.org/drawingml/2006/main">
              <a:ext uri="{FF2B5EF4-FFF2-40B4-BE49-F238E27FC236}">
                <a16:creationId xmlns:a16="http://schemas.microsoft.com/office/drawing/2014/main" id="{C13CEC13-082F-4C9E-BBB1-3BCD4A77A154}"/>
              </a:ext>
            </a:extLst>
          </p:cNvPr>
          <p:cNvSpPr>
            <a:spLocks xmlns:a="http://schemas.openxmlformats.org/drawingml/2006/main" noGrp="1"/>
          </p:cNvSpPr>
          <p:nvPr/>
        </p:nvSpPr>
        <p:spPr>
          <a:xfrm xmlns:a="http://schemas.openxmlformats.org/drawingml/2006/main">
            <a:off x="9048750" y="481012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API_URL</a:t>
            </a:r>
          </a:p>
        </p:txBody>
      </p:sp>
      <p:sp>
        <p:nvSpPr>
          <p:cNvPr id="33" name="shape-81">
            <a:extLst xmlns:a="http://schemas.openxmlformats.org/drawingml/2006/main">
              <a:ext uri="{FF2B5EF4-FFF2-40B4-BE49-F238E27FC236}">
                <a16:creationId xmlns:a16="http://schemas.microsoft.com/office/drawing/2014/main" id="{8862ECDF-DD9A-4C55-B597-42C46BCC9AD7}"/>
              </a:ext>
            </a:extLst>
          </p:cNvPr>
          <p:cNvSpPr>
            <a:spLocks xmlns:a="http://schemas.openxmlformats.org/drawingml/2006/main" noGrp="1"/>
          </p:cNvSpPr>
          <p:nvPr/>
        </p:nvSpPr>
        <p:spPr>
          <a:xfrm xmlns:a="http://schemas.openxmlformats.org/drawingml/2006/main">
            <a:off x="533400" y="5467350"/>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34" name="text-82">
            <a:extLst xmlns:a="http://schemas.openxmlformats.org/drawingml/2006/main">
              <a:ext uri="{FF2B5EF4-FFF2-40B4-BE49-F238E27FC236}">
                <a16:creationId xmlns:a16="http://schemas.microsoft.com/office/drawing/2014/main" id="{1E0F2F89-18CA-4DCA-8F4E-86D33FBA0761}"/>
              </a:ext>
            </a:extLst>
          </p:cNvPr>
          <p:cNvSpPr>
            <a:spLocks xmlns:a="http://schemas.openxmlformats.org/drawingml/2006/main" noGrp="1"/>
          </p:cNvSpPr>
          <p:nvPr/>
        </p:nvSpPr>
        <p:spPr>
          <a:xfrm xmlns:a="http://schemas.openxmlformats.org/drawingml/2006/main">
            <a:off x="533400" y="568642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20211F"/>
                </a:solidFill>
                <a:latin typeface="Arial"/>
                <a:ea typeface="Arial"/>
                <a:cs typeface="Arial"/>
              </a:defRPr>
            </a:pPr>
            <a:r>
              <a:rPr sz="2175" b="1">
                <a:solidFill>
                  <a:srgbClr val="20211F"/>
                </a:solidFill>
                <a:latin typeface="Arial"/>
                <a:ea typeface="Arial"/>
                <a:cs typeface="Arial"/>
              </a:rPr>
              <a:t>PEOPLE   +   APPLICATIONS   +   AGENTS</a:t>
            </a:r>
          </a:p>
        </p:txBody>
      </p:sp>
    </p:spTree>
    <p:extLst>
      <p:ext uri="{BB962C8B-B14F-4D97-AF65-F5344CB8AC3E}">
        <p14:creationId xmlns:p14="http://schemas.microsoft.com/office/powerpoint/2010/main" val="2093494857"/>
      </p:ext>
    </p:extLst>
  </p:cSld>
</p:sld>
</file>

<file path=ppt/slides/slide4.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10" name="text-83">
            <a:extLst xmlns:a="http://schemas.openxmlformats.org/drawingml/2006/main">
              <a:ext uri="{FF2B5EF4-FFF2-40B4-BE49-F238E27FC236}">
                <a16:creationId xmlns:a16="http://schemas.microsoft.com/office/drawing/2014/main" id="{F3F14AE9-4F25-4ABB-8906-2B2E26F2D054}"/>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04 / ACCESS MODEL</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fef84d4fe024c8f">
            <a:extLst>
              <a:ext uri="{96DAC541-7B7A-43D3-8B79-37D633B846F1}">
                <asvg:svgBlip xmlns:asvg="http://schemas.microsoft.com/office/drawing/2016/SVG/main" r:embed="R014d09e082774103"/>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3" name="shape-84">
            <a:extLst xmlns:a="http://schemas.openxmlformats.org/drawingml/2006/main">
              <a:ext uri="{FF2B5EF4-FFF2-40B4-BE49-F238E27FC236}">
                <a16:creationId xmlns:a16="http://schemas.microsoft.com/office/drawing/2014/main" id="{6DAFC8E5-9362-42F9-A6B8-210D5D27A87C}"/>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4" name="text-85">
            <a:extLst xmlns:a="http://schemas.openxmlformats.org/drawingml/2006/main">
              <a:ext uri="{FF2B5EF4-FFF2-40B4-BE49-F238E27FC236}">
                <a16:creationId xmlns:a16="http://schemas.microsoft.com/office/drawing/2014/main" id="{FCB81296-ACC2-44E3-9958-274A8053A19B}"/>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ENVSYNC / SELF-HOSTED SECRETS</a:t>
            </a:r>
          </a:p>
        </p:txBody>
      </p:sp>
      <p:sp>
        <p:nvSpPr>
          <p:cNvPr id="5" name="text-86">
            <a:extLst xmlns:a="http://schemas.openxmlformats.org/drawingml/2006/main">
              <a:ext uri="{FF2B5EF4-FFF2-40B4-BE49-F238E27FC236}">
                <a16:creationId xmlns:a16="http://schemas.microsoft.com/office/drawing/2014/main" id="{2B7D0766-D6ED-46E0-A596-7881DC645930}"/>
              </a:ext>
            </a:extLst>
          </p:cNvPr>
          <p:cNvSpPr>
            <a:spLocks xmlns:a="http://schemas.openxmlformats.org/drawingml/2006/main" noGrp="1"/>
          </p:cNvSpPr>
          <p:nvPr/>
        </p:nvSpPr>
        <p:spPr>
          <a:xfrm xmlns:a="http://schemas.openxmlformats.org/drawingml/2006/main">
            <a:off x="11144250" y="644842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676961"/>
                </a:solidFill>
                <a:latin typeface="Menlo"/>
                <a:ea typeface="Menlo"/>
                <a:cs typeface="Menlo"/>
              </a:defRPr>
            </a:pPr>
            <a:r>
              <a:rPr sz="1350" b="0">
                <a:solidFill>
                  <a:srgbClr val="676961"/>
                </a:solidFill>
                <a:latin typeface="Menlo"/>
                <a:ea typeface="Menlo"/>
                <a:cs typeface="Menlo"/>
              </a:rPr>
              <a:t>04</a:t>
            </a:r>
          </a:p>
        </p:txBody>
      </p:sp>
      <p:sp>
        <p:nvSpPr>
          <p:cNvPr id="6" name="text-87">
            <a:extLst xmlns:a="http://schemas.openxmlformats.org/drawingml/2006/main">
              <a:ext uri="{FF2B5EF4-FFF2-40B4-BE49-F238E27FC236}">
                <a16:creationId xmlns:a16="http://schemas.microsoft.com/office/drawing/2014/main" id="{91DFC5A5-A639-46AE-B848-02C8051031B0}"/>
              </a:ext>
            </a:extLst>
          </p:cNvPr>
          <p:cNvSpPr>
            <a:spLocks xmlns:a="http://schemas.openxmlformats.org/drawingml/2006/main" noGrp="1"/>
          </p:cNvSpPr>
          <p:nvPr/>
        </p:nvSpPr>
        <p:spPr>
          <a:xfrm xmlns:a="http://schemas.openxmlformats.org/drawingml/2006/main">
            <a:off x="533400" y="904875"/>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275" b="1">
                <a:solidFill>
                  <a:srgbClr val="20211F"/>
                </a:solidFill>
                <a:latin typeface="Arial"/>
                <a:ea typeface="Arial"/>
                <a:cs typeface="Arial"/>
              </a:defRPr>
            </a:pPr>
            <a:r>
              <a:rPr sz="4275" b="1">
                <a:solidFill>
                  <a:srgbClr val="20211F"/>
                </a:solidFill>
                <a:latin typeface="Arial"/>
                <a:ea typeface="Arial"/>
                <a:cs typeface="Arial"/>
              </a:rPr>
              <a:t>Humans. Apps. Agents.</a:t>
            </a:r>
          </a:p>
        </p:txBody>
      </p:sp>
      <p:sp>
        <p:nvSpPr>
          <p:cNvPr id="7" name="text-88">
            <a:extLst xmlns:a="http://schemas.openxmlformats.org/drawingml/2006/main">
              <a:ext uri="{FF2B5EF4-FFF2-40B4-BE49-F238E27FC236}">
                <a16:creationId xmlns:a16="http://schemas.microsoft.com/office/drawing/2014/main" id="{762142EA-0560-4B68-A26D-2914A89F510A}"/>
              </a:ext>
            </a:extLst>
          </p:cNvPr>
          <p:cNvSpPr>
            <a:spLocks xmlns:a="http://schemas.openxmlformats.org/drawingml/2006/main" noGrp="1"/>
          </p:cNvSpPr>
          <p:nvPr/>
        </p:nvSpPr>
        <p:spPr>
          <a:xfrm xmlns:a="http://schemas.openxmlformats.org/drawingml/2006/main">
            <a:off x="533400" y="1514475"/>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275" b="1">
                <a:solidFill>
                  <a:srgbClr val="20211F"/>
                </a:solidFill>
                <a:latin typeface="Arial"/>
                <a:ea typeface="Arial"/>
                <a:cs typeface="Arial"/>
              </a:defRPr>
            </a:pPr>
            <a:r>
              <a:rPr sz="4275" b="1">
                <a:solidFill>
                  <a:srgbClr val="20211F"/>
                </a:solidFill>
                <a:latin typeface="Arial"/>
                <a:ea typeface="Arial"/>
                <a:cs typeface="Arial"/>
              </a:rPr>
              <a:t>One access model.</a:t>
            </a:r>
          </a:p>
        </p:txBody>
      </p:sp>
      <p:graphicFrame>
        <p:nvGraphicFramePr>
          <p:cNvPr id="17" name=""/>
          <p:cNvGraphicFramePr/>
          <p:nvPr/>
        </p:nvGraphicFramePr>
        <p:xfrm>
          <a:off xmlns:a="http://schemas.openxmlformats.org/drawingml/2006/main" x="533400" y="2524125"/>
          <a:ext xmlns:a="http://schemas.openxmlformats.org/drawingml/2006/main" cx="11125200" cy="3028950"/>
        </p:xfrm>
        <a:graphic xmlns:a="http://schemas.openxmlformats.org/drawingml/2006/main">
          <a:graphicData uri="http://schemas.openxmlformats.org/drawingml/2006/table">
            <a:tbl>
              <a:tblPr/>
              <a:tblGrid>
                <a:gridCol w="3409950"/>
                <a:gridCol w="2571750"/>
                <a:gridCol w="2571750"/>
                <a:gridCol w="2571750"/>
              </a:tblGrid>
              <a:tr h="504825">
                <a:tc>
                  <a:txBody>
                    <a:bodyPr/>
                    <a:lstStyle/>
                    <a:p>
                      <a:r>
                        <a:rPr sz="1350" b="1">
                          <a:solidFill>
                            <a:srgbClr val="FAFAF6"/>
                          </a:solidFill>
                          <a:latin typeface="Arial"/>
                          <a:ea typeface="Arial"/>
                          <a:cs typeface="Arial"/>
                        </a:rPr>
                        <a:t>IDENTITY</a:t>
                      </a:r>
                    </a:p>
                  </a:txBody>
                  <a:tcPr marL="91440" marR="91440" marT="45720" marB="45720">
                    <a:solidFill>
                      <a:srgbClr val="20211F"/>
                    </a:solidFill>
                  </a:tcPr>
                </a:tc>
                <a:tc>
                  <a:txBody>
                    <a:bodyPr/>
                    <a:lstStyle/>
                    <a:p>
                      <a:r>
                        <a:rPr sz="1350" b="1">
                          <a:solidFill>
                            <a:srgbClr val="FAFAF6"/>
                          </a:solidFill>
                          <a:latin typeface="Menlo"/>
                          <a:ea typeface="Menlo"/>
                          <a:cs typeface="Menlo"/>
                        </a:rPr>
                        <a:t>DEV</a:t>
                      </a:r>
                    </a:p>
                  </a:txBody>
                  <a:tcPr marL="91440" marR="91440" marT="45720" marB="45720">
                    <a:solidFill>
                      <a:srgbClr val="20211F"/>
                    </a:solidFill>
                  </a:tcPr>
                </a:tc>
                <a:tc>
                  <a:txBody>
                    <a:bodyPr/>
                    <a:lstStyle/>
                    <a:p>
                      <a:r>
                        <a:rPr sz="1350" b="1">
                          <a:solidFill>
                            <a:srgbClr val="FAFAF6"/>
                          </a:solidFill>
                          <a:latin typeface="Menlo"/>
                          <a:ea typeface="Menlo"/>
                          <a:cs typeface="Menlo"/>
                        </a:rPr>
                        <a:t>TEST</a:t>
                      </a:r>
                    </a:p>
                  </a:txBody>
                  <a:tcPr marL="91440" marR="91440" marT="45720" marB="45720">
                    <a:solidFill>
                      <a:srgbClr val="20211F"/>
                    </a:solidFill>
                  </a:tcPr>
                </a:tc>
                <a:tc>
                  <a:txBody>
                    <a:bodyPr/>
                    <a:lstStyle/>
                    <a:p>
                      <a:r>
                        <a:rPr sz="1350" b="1">
                          <a:solidFill>
                            <a:srgbClr val="FAFAF6"/>
                          </a:solidFill>
                          <a:latin typeface="Menlo"/>
                          <a:ea typeface="Menlo"/>
                          <a:cs typeface="Menlo"/>
                        </a:rPr>
                        <a:t>PROD</a:t>
                      </a:r>
                    </a:p>
                  </a:txBody>
                  <a:tcPr marL="91440" marR="91440" marT="45720" marB="45720">
                    <a:solidFill>
                      <a:srgbClr val="20211F"/>
                    </a:solidFill>
                  </a:tcPr>
                </a:tc>
              </a:tr>
              <a:tr h="504825">
                <a:tc>
                  <a:txBody>
                    <a:bodyPr/>
                    <a:lstStyle/>
                    <a:p>
                      <a:r>
                        <a:rPr sz="1725" b="1">
                          <a:solidFill>
                            <a:srgbClr val="20211F"/>
                          </a:solidFill>
                          <a:latin typeface="Arial"/>
                          <a:ea typeface="Arial"/>
                          <a:cs typeface="Arial"/>
                        </a:rPr>
                        <a:t>Developer</a:t>
                      </a:r>
                    </a:p>
                  </a:txBody>
                  <a:tcPr marL="91440" marR="91440" marT="45720" marB="45720">
                    <a:solidFill>
                      <a:srgbClr val="F3F2ED"/>
                    </a:solidFill>
                  </a:tcPr>
                </a:tc>
                <a:tc>
                  <a:txBody>
                    <a:bodyPr/>
                    <a:lstStyle/>
                    <a:p>
                      <a:r>
                        <a:rPr sz="1725" b="0">
                          <a:solidFill>
                            <a:srgbClr val="20211F"/>
                          </a:solidFill>
                          <a:latin typeface="Menlo"/>
                          <a:ea typeface="Menlo"/>
                          <a:cs typeface="Menlo"/>
                        </a:rPr>
                        <a:t>READ + WRITE</a:t>
                      </a:r>
                    </a:p>
                  </a:txBody>
                  <a:tcPr marL="91440" marR="91440" marT="45720" marB="45720">
                    <a:solidFill>
                      <a:srgbClr val="F3F2ED"/>
                    </a:solidFill>
                  </a:tcPr>
                </a:tc>
                <a:tc>
                  <a:txBody>
                    <a:bodyPr/>
                    <a:lstStyle/>
                    <a:p>
                      <a:r>
                        <a:rPr sz="1725" b="0">
                          <a:solidFill>
                            <a:srgbClr val="20211F"/>
                          </a:solidFill>
                          <a:latin typeface="Menlo"/>
                          <a:ea typeface="Menlo"/>
                          <a:cs typeface="Menlo"/>
                        </a:rPr>
                        <a:t>READ + WRITE</a:t>
                      </a:r>
                    </a:p>
                  </a:txBody>
                  <a:tcPr marL="91440" marR="91440" marT="45720" marB="45720">
                    <a:solidFill>
                      <a:srgbClr val="F3F2ED"/>
                    </a:solidFill>
                  </a:tcPr>
                </a:tc>
                <a:tc>
                  <a:txBody>
                    <a:bodyPr/>
                    <a:lstStyle/>
                    <a:p>
                      <a:r>
                        <a:rPr sz="1725" b="0">
                          <a:solidFill>
                            <a:srgbClr val="AA443A"/>
                          </a:solidFill>
                          <a:latin typeface="Menlo"/>
                          <a:ea typeface="Menlo"/>
                          <a:cs typeface="Menlo"/>
                        </a:rPr>
                        <a:t>DENIED</a:t>
                      </a:r>
                    </a:p>
                  </a:txBody>
                  <a:tcPr marL="91440" marR="91440" marT="45720" marB="45720">
                    <a:solidFill>
                      <a:srgbClr val="F3F2ED"/>
                    </a:solidFill>
                  </a:tcPr>
                </a:tc>
              </a:tr>
              <a:tr h="504825">
                <a:tc>
                  <a:txBody>
                    <a:bodyPr/>
                    <a:lstStyle/>
                    <a:p>
                      <a:r>
                        <a:rPr sz="1725" b="1">
                          <a:solidFill>
                            <a:srgbClr val="20211F"/>
                          </a:solidFill>
                          <a:latin typeface="Arial"/>
                          <a:ea typeface="Arial"/>
                          <a:cs typeface="Arial"/>
                        </a:rPr>
                        <a:t>Backend app</a:t>
                      </a:r>
                    </a:p>
                  </a:txBody>
                  <a:tcPr marL="91440" marR="91440" marT="45720" marB="45720">
                    <a:solidFill>
                      <a:srgbClr val="F3F2ED"/>
                    </a:solidFill>
                  </a:tcPr>
                </a:tc>
                <a:tc>
                  <a:txBody>
                    <a:bodyPr/>
                    <a:lstStyle/>
                    <a:p>
                      <a:r>
                        <a:rPr sz="1725" b="0">
                          <a:solidFill>
                            <a:srgbClr val="20211F"/>
                          </a:solidFill>
                          <a:latin typeface="Menlo"/>
                          <a:ea typeface="Menlo"/>
                          <a:cs typeface="Menlo"/>
                        </a:rPr>
                        <a:t>READ</a:t>
                      </a:r>
                    </a:p>
                  </a:txBody>
                  <a:tcPr marL="91440" marR="91440" marT="45720" marB="45720">
                    <a:solidFill>
                      <a:srgbClr val="F3F2ED"/>
                    </a:solidFill>
                  </a:tcPr>
                </a:tc>
                <a:tc>
                  <a:txBody>
                    <a:bodyPr/>
                    <a:lstStyle/>
                    <a:p>
                      <a:r>
                        <a:rPr sz="1725" b="0">
                          <a:solidFill>
                            <a:srgbClr val="20211F"/>
                          </a:solidFill>
                          <a:latin typeface="Menlo"/>
                          <a:ea typeface="Menlo"/>
                          <a:cs typeface="Menlo"/>
                        </a:rPr>
                        <a:t>READ</a:t>
                      </a:r>
                    </a:p>
                  </a:txBody>
                  <a:tcPr marL="91440" marR="91440" marT="45720" marB="45720">
                    <a:solidFill>
                      <a:srgbClr val="F3F2ED"/>
                    </a:solidFill>
                  </a:tcPr>
                </a:tc>
                <a:tc>
                  <a:txBody>
                    <a:bodyPr/>
                    <a:lstStyle/>
                    <a:p>
                      <a:r>
                        <a:rPr sz="1725" b="0">
                          <a:solidFill>
                            <a:srgbClr val="AA443A"/>
                          </a:solidFill>
                          <a:latin typeface="Menlo"/>
                          <a:ea typeface="Menlo"/>
                          <a:cs typeface="Menlo"/>
                        </a:rPr>
                        <a:t>DENIED</a:t>
                      </a:r>
                    </a:p>
                  </a:txBody>
                  <a:tcPr marL="91440" marR="91440" marT="45720" marB="45720">
                    <a:solidFill>
                      <a:srgbClr val="F3F2ED"/>
                    </a:solidFill>
                  </a:tcPr>
                </a:tc>
              </a:tr>
              <a:tr h="504825">
                <a:tc>
                  <a:txBody>
                    <a:bodyPr/>
                    <a:lstStyle/>
                    <a:p>
                      <a:r>
                        <a:rPr sz="1725" b="1">
                          <a:solidFill>
                            <a:srgbClr val="20211F"/>
                          </a:solidFill>
                          <a:latin typeface="Arial"/>
                          <a:ea typeface="Arial"/>
                          <a:cs typeface="Arial"/>
                        </a:rPr>
                        <a:t>QA</a:t>
                      </a:r>
                    </a:p>
                  </a:txBody>
                  <a:tcPr marL="91440" marR="91440" marT="45720" marB="45720">
                    <a:solidFill>
                      <a:srgbClr val="F3F2ED"/>
                    </a:solidFill>
                  </a:tcPr>
                </a:tc>
                <a:tc>
                  <a:txBody>
                    <a:bodyPr/>
                    <a:lstStyle/>
                    <a:p>
                      <a:r>
                        <a:rPr sz="1725" b="0">
                          <a:solidFill>
                            <a:srgbClr val="20211F"/>
                          </a:solidFill>
                          <a:latin typeface="Menlo"/>
                          <a:ea typeface="Menlo"/>
                          <a:cs typeface="Menlo"/>
                        </a:rPr>
                        <a:t>READ</a:t>
                      </a:r>
                    </a:p>
                  </a:txBody>
                  <a:tcPr marL="91440" marR="91440" marT="45720" marB="45720">
                    <a:solidFill>
                      <a:srgbClr val="F3F2ED"/>
                    </a:solidFill>
                  </a:tcPr>
                </a:tc>
                <a:tc>
                  <a:txBody>
                    <a:bodyPr/>
                    <a:lstStyle/>
                    <a:p>
                      <a:r>
                        <a:rPr sz="1725" b="0">
                          <a:solidFill>
                            <a:srgbClr val="20211F"/>
                          </a:solidFill>
                          <a:latin typeface="Menlo"/>
                          <a:ea typeface="Menlo"/>
                          <a:cs typeface="Menlo"/>
                        </a:rPr>
                        <a:t>READ</a:t>
                      </a:r>
                    </a:p>
                  </a:txBody>
                  <a:tcPr marL="91440" marR="91440" marT="45720" marB="45720">
                    <a:solidFill>
                      <a:srgbClr val="F3F2ED"/>
                    </a:solidFill>
                  </a:tcPr>
                </a:tc>
                <a:tc>
                  <a:txBody>
                    <a:bodyPr/>
                    <a:lstStyle/>
                    <a:p>
                      <a:r>
                        <a:rPr sz="1725" b="0">
                          <a:solidFill>
                            <a:srgbClr val="AA443A"/>
                          </a:solidFill>
                          <a:latin typeface="Menlo"/>
                          <a:ea typeface="Menlo"/>
                          <a:cs typeface="Menlo"/>
                        </a:rPr>
                        <a:t>DENIED</a:t>
                      </a:r>
                    </a:p>
                  </a:txBody>
                  <a:tcPr marL="91440" marR="91440" marT="45720" marB="45720">
                    <a:solidFill>
                      <a:srgbClr val="F3F2ED"/>
                    </a:solidFill>
                  </a:tcPr>
                </a:tc>
              </a:tr>
              <a:tr h="504825">
                <a:tc>
                  <a:txBody>
                    <a:bodyPr/>
                    <a:lstStyle/>
                    <a:p>
                      <a:r>
                        <a:rPr sz="1725" b="1">
                          <a:solidFill>
                            <a:srgbClr val="20211F"/>
                          </a:solidFill>
                          <a:latin typeface="Arial"/>
                          <a:ea typeface="Arial"/>
                          <a:cs typeface="Arial"/>
                        </a:rPr>
                        <a:t>Coding agent¹</a:t>
                      </a:r>
                    </a:p>
                  </a:txBody>
                  <a:tcPr marL="91440" marR="91440" marT="45720" marB="45720">
                    <a:solidFill>
                      <a:srgbClr val="DCD7FF"/>
                    </a:solidFill>
                  </a:tcPr>
                </a:tc>
                <a:tc>
                  <a:txBody>
                    <a:bodyPr/>
                    <a:lstStyle/>
                    <a:p>
                      <a:r>
                        <a:rPr sz="1725" b="0">
                          <a:solidFill>
                            <a:srgbClr val="20211F"/>
                          </a:solidFill>
                          <a:latin typeface="Menlo"/>
                          <a:ea typeface="Menlo"/>
                          <a:cs typeface="Menlo"/>
                        </a:rPr>
                        <a:t>READ + WRITE</a:t>
                      </a:r>
                    </a:p>
                  </a:txBody>
                  <a:tcPr marL="91440" marR="91440" marT="45720" marB="45720">
                    <a:solidFill>
                      <a:srgbClr val="DCD7FF"/>
                    </a:solidFill>
                  </a:tcPr>
                </a:tc>
                <a:tc>
                  <a:txBody>
                    <a:bodyPr/>
                    <a:lstStyle/>
                    <a:p>
                      <a:r>
                        <a:rPr sz="1725" b="0">
                          <a:solidFill>
                            <a:srgbClr val="20211F"/>
                          </a:solidFill>
                          <a:latin typeface="Menlo"/>
                          <a:ea typeface="Menlo"/>
                          <a:cs typeface="Menlo"/>
                        </a:rPr>
                        <a:t>READ</a:t>
                      </a:r>
                    </a:p>
                  </a:txBody>
                  <a:tcPr marL="91440" marR="91440" marT="45720" marB="45720">
                    <a:solidFill>
                      <a:srgbClr val="DCD7FF"/>
                    </a:solidFill>
                  </a:tcPr>
                </a:tc>
                <a:tc>
                  <a:txBody>
                    <a:bodyPr/>
                    <a:lstStyle/>
                    <a:p>
                      <a:r>
                        <a:rPr sz="1725" b="0">
                          <a:solidFill>
                            <a:srgbClr val="AA443A"/>
                          </a:solidFill>
                          <a:latin typeface="Menlo"/>
                          <a:ea typeface="Menlo"/>
                          <a:cs typeface="Menlo"/>
                        </a:rPr>
                        <a:t>DENIED</a:t>
                      </a:r>
                    </a:p>
                  </a:txBody>
                  <a:tcPr marL="91440" marR="91440" marT="45720" marB="45720">
                    <a:solidFill>
                      <a:srgbClr val="DCD7FF"/>
                    </a:solidFill>
                  </a:tcPr>
                </a:tc>
              </a:tr>
              <a:tr h="504825">
                <a:tc>
                  <a:txBody>
                    <a:bodyPr/>
                    <a:lstStyle/>
                    <a:p>
                      <a:r>
                        <a:rPr sz="1725" b="1">
                          <a:solidFill>
                            <a:srgbClr val="20211F"/>
                          </a:solidFill>
                          <a:latin typeface="Arial"/>
                          <a:ea typeface="Arial"/>
                          <a:cs typeface="Arial"/>
                        </a:rPr>
                        <a:t>Production app</a:t>
                      </a:r>
                    </a:p>
                  </a:txBody>
                  <a:tcPr marL="91440" marR="91440" marT="45720" marB="45720">
                    <a:solidFill>
                      <a:srgbClr val="F3F2ED"/>
                    </a:solidFill>
                  </a:tcPr>
                </a:tc>
                <a:tc>
                  <a:txBody>
                    <a:bodyPr/>
                    <a:lstStyle/>
                    <a:p>
                      <a:r>
                        <a:rPr sz="1725" b="0">
                          <a:solidFill>
                            <a:srgbClr val="AA443A"/>
                          </a:solidFill>
                          <a:latin typeface="Menlo"/>
                          <a:ea typeface="Menlo"/>
                          <a:cs typeface="Menlo"/>
                        </a:rPr>
                        <a:t>DENIED</a:t>
                      </a:r>
                    </a:p>
                  </a:txBody>
                  <a:tcPr marL="91440" marR="91440" marT="45720" marB="45720">
                    <a:solidFill>
                      <a:srgbClr val="F3F2ED"/>
                    </a:solidFill>
                  </a:tcPr>
                </a:tc>
                <a:tc>
                  <a:txBody>
                    <a:bodyPr/>
                    <a:lstStyle/>
                    <a:p>
                      <a:r>
                        <a:rPr sz="1725" b="0">
                          <a:solidFill>
                            <a:srgbClr val="AA443A"/>
                          </a:solidFill>
                          <a:latin typeface="Menlo"/>
                          <a:ea typeface="Menlo"/>
                          <a:cs typeface="Menlo"/>
                        </a:rPr>
                        <a:t>DENIED</a:t>
                      </a:r>
                    </a:p>
                  </a:txBody>
                  <a:tcPr marL="91440" marR="91440" marT="45720" marB="45720">
                    <a:solidFill>
                      <a:srgbClr val="F3F2ED"/>
                    </a:solidFill>
                  </a:tcPr>
                </a:tc>
                <a:tc>
                  <a:txBody>
                    <a:bodyPr/>
                    <a:lstStyle/>
                    <a:p>
                      <a:r>
                        <a:rPr sz="1725" b="0">
                          <a:solidFill>
                            <a:srgbClr val="20211F"/>
                          </a:solidFill>
                          <a:latin typeface="Menlo"/>
                          <a:ea typeface="Menlo"/>
                          <a:cs typeface="Menlo"/>
                        </a:rPr>
                        <a:t>READ</a:t>
                      </a:r>
                    </a:p>
                  </a:txBody>
                  <a:tcPr marL="91440" marR="91440" marT="45720" marB="45720">
                    <a:solidFill>
                      <a:srgbClr val="F3F2ED"/>
                    </a:solidFill>
                  </a:tcPr>
                </a:tc>
              </a:tr>
            </a:tbl>
          </a:graphicData>
        </a:graphic>
      </p:graphicFrame>
      <p:sp>
        <p:nvSpPr>
          <p:cNvPr id="9" name="text-89">
            <a:extLst xmlns:a="http://schemas.openxmlformats.org/drawingml/2006/main">
              <a:ext uri="{FF2B5EF4-FFF2-40B4-BE49-F238E27FC236}">
                <a16:creationId xmlns:a16="http://schemas.microsoft.com/office/drawing/2014/main" id="{B910877C-8D7C-43AB-9597-B7A07CB8DB26}"/>
              </a:ext>
            </a:extLst>
          </p:cNvPr>
          <p:cNvSpPr>
            <a:spLocks xmlns:a="http://schemas.openxmlformats.org/drawingml/2006/main" noGrp="1"/>
          </p:cNvSpPr>
          <p:nvPr/>
        </p:nvSpPr>
        <p:spPr>
          <a:xfrm xmlns:a="http://schemas.openxmlformats.org/drawingml/2006/main">
            <a:off x="533400" y="579120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ILLUSTRATIVE ASSIGNMENTS  /  ¹ AGENT ACCESS: PREVIEW</a:t>
            </a:r>
          </a:p>
        </p:txBody>
      </p:sp>
    </p:spTree>
    <p:extLst>
      <p:ext uri="{BB962C8B-B14F-4D97-AF65-F5344CB8AC3E}">
        <p14:creationId xmlns:p14="http://schemas.microsoft.com/office/powerpoint/2010/main" val="1635908290"/>
      </p:ext>
    </p:extLst>
  </p:cSld>
</p:sld>
</file>

<file path=ppt/slides/slide5.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16" name="text-90">
            <a:extLst xmlns:a="http://schemas.openxmlformats.org/drawingml/2006/main">
              <a:ext uri="{FF2B5EF4-FFF2-40B4-BE49-F238E27FC236}">
                <a16:creationId xmlns:a16="http://schemas.microsoft.com/office/drawing/2014/main" id="{09A29A49-1C45-4233-8878-3D907F7FEE71}"/>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05 / PRODUCT / ACTUAL LOCAL APPLICATION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6ec2876d7b04e57">
            <a:extLst>
              <a:ext uri="{96DAC541-7B7A-43D3-8B79-37D633B846F1}">
                <asvg:svgBlip xmlns:asvg="http://schemas.microsoft.com/office/drawing/2016/SVG/main" r:embed="R89ddb793fc2f4160"/>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3" name="shape-91">
            <a:extLst xmlns:a="http://schemas.openxmlformats.org/drawingml/2006/main">
              <a:ext uri="{FF2B5EF4-FFF2-40B4-BE49-F238E27FC236}">
                <a16:creationId xmlns:a16="http://schemas.microsoft.com/office/drawing/2014/main" id="{4E62323E-0350-4C29-8798-2CBC2CC832FC}"/>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4" name="text-92">
            <a:extLst xmlns:a="http://schemas.openxmlformats.org/drawingml/2006/main">
              <a:ext uri="{FF2B5EF4-FFF2-40B4-BE49-F238E27FC236}">
                <a16:creationId xmlns:a16="http://schemas.microsoft.com/office/drawing/2014/main" id="{54BC6BD4-DE3C-4E64-BF7D-08A436935094}"/>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ENVSYNC / SELF-HOSTED SECRETS</a:t>
            </a:r>
          </a:p>
        </p:txBody>
      </p:sp>
      <p:sp>
        <p:nvSpPr>
          <p:cNvPr id="5" name="text-93">
            <a:extLst xmlns:a="http://schemas.openxmlformats.org/drawingml/2006/main">
              <a:ext uri="{FF2B5EF4-FFF2-40B4-BE49-F238E27FC236}">
                <a16:creationId xmlns:a16="http://schemas.microsoft.com/office/drawing/2014/main" id="{EE2879CC-AC0E-4BA7-A46B-D308C3450610}"/>
              </a:ext>
            </a:extLst>
          </p:cNvPr>
          <p:cNvSpPr>
            <a:spLocks xmlns:a="http://schemas.openxmlformats.org/drawingml/2006/main" noGrp="1"/>
          </p:cNvSpPr>
          <p:nvPr/>
        </p:nvSpPr>
        <p:spPr>
          <a:xfrm xmlns:a="http://schemas.openxmlformats.org/drawingml/2006/main">
            <a:off x="11144250" y="644842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676961"/>
                </a:solidFill>
                <a:latin typeface="Menlo"/>
                <a:ea typeface="Menlo"/>
                <a:cs typeface="Menlo"/>
              </a:defRPr>
            </a:pPr>
            <a:r>
              <a:rPr sz="1350" b="0">
                <a:solidFill>
                  <a:srgbClr val="676961"/>
                </a:solidFill>
                <a:latin typeface="Menlo"/>
                <a:ea typeface="Menlo"/>
                <a:cs typeface="Menlo"/>
              </a:rPr>
              <a:t>05</a:t>
            </a:r>
          </a:p>
        </p:txBody>
      </p:sp>
      <p:sp>
        <p:nvSpPr>
          <p:cNvPr id="6" name="text-94">
            <a:extLst xmlns:a="http://schemas.openxmlformats.org/drawingml/2006/main">
              <a:ext uri="{FF2B5EF4-FFF2-40B4-BE49-F238E27FC236}">
                <a16:creationId xmlns:a16="http://schemas.microsoft.com/office/drawing/2014/main" id="{1BE7908F-B4BC-475A-A17B-B6770D6BA499}"/>
              </a:ext>
            </a:extLst>
          </p:cNvPr>
          <p:cNvSpPr>
            <a:spLocks xmlns:a="http://schemas.openxmlformats.org/drawingml/2006/main" noGrp="1"/>
          </p:cNvSpPr>
          <p:nvPr/>
        </p:nvSpPr>
        <p:spPr>
          <a:xfrm xmlns:a="http://schemas.openxmlformats.org/drawingml/2006/main">
            <a:off x="533400" y="981075"/>
            <a:ext cx="676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20211F"/>
                </a:solidFill>
                <a:latin typeface="Arial"/>
                <a:ea typeface="Arial"/>
                <a:cs typeface="Arial"/>
              </a:defRPr>
            </a:pPr>
            <a:r>
              <a:rPr sz="4500" b="1">
                <a:solidFill>
                  <a:srgbClr val="20211F"/>
                </a:solidFill>
                <a:latin typeface="Arial"/>
                <a:ea typeface="Arial"/>
                <a:cs typeface="Arial"/>
              </a:rPr>
              <a:t>Control lives</a:t>
            </a:r>
          </a:p>
        </p:txBody>
      </p:sp>
      <p:sp>
        <p:nvSpPr>
          <p:cNvPr id="7" name="text-95">
            <a:extLst xmlns:a="http://schemas.openxmlformats.org/drawingml/2006/main">
              <a:ext uri="{FF2B5EF4-FFF2-40B4-BE49-F238E27FC236}">
                <a16:creationId xmlns:a16="http://schemas.microsoft.com/office/drawing/2014/main" id="{D45DEC60-267D-45D4-9EBA-774C6BC6ADD6}"/>
              </a:ext>
            </a:extLst>
          </p:cNvPr>
          <p:cNvSpPr>
            <a:spLocks xmlns:a="http://schemas.openxmlformats.org/drawingml/2006/main" noGrp="1"/>
          </p:cNvSpPr>
          <p:nvPr/>
        </p:nvSpPr>
        <p:spPr>
          <a:xfrm xmlns:a="http://schemas.openxmlformats.org/drawingml/2006/main">
            <a:off x="533400" y="1628775"/>
            <a:ext cx="676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20211F"/>
                </a:solidFill>
                <a:latin typeface="Arial"/>
                <a:ea typeface="Arial"/>
                <a:cs typeface="Arial"/>
              </a:defRPr>
            </a:pPr>
            <a:r>
              <a:rPr sz="4500" b="1">
                <a:solidFill>
                  <a:srgbClr val="20211F"/>
                </a:solidFill>
                <a:latin typeface="Arial"/>
                <a:ea typeface="Arial"/>
                <a:cs typeface="Arial"/>
              </a:rPr>
              <a:t>next to the</a:t>
            </a:r>
          </a:p>
        </p:txBody>
      </p:sp>
      <p:sp>
        <p:nvSpPr>
          <p:cNvPr id="8" name="text-96">
            <a:extLst xmlns:a="http://schemas.openxmlformats.org/drawingml/2006/main">
              <a:ext uri="{FF2B5EF4-FFF2-40B4-BE49-F238E27FC236}">
                <a16:creationId xmlns:a16="http://schemas.microsoft.com/office/drawing/2014/main" id="{235BB571-9751-4DAC-8FAC-66A1DA5B271F}"/>
              </a:ext>
            </a:extLst>
          </p:cNvPr>
          <p:cNvSpPr>
            <a:spLocks xmlns:a="http://schemas.openxmlformats.org/drawingml/2006/main" noGrp="1"/>
          </p:cNvSpPr>
          <p:nvPr/>
        </p:nvSpPr>
        <p:spPr>
          <a:xfrm xmlns:a="http://schemas.openxmlformats.org/drawingml/2006/main">
            <a:off x="533400" y="2276475"/>
            <a:ext cx="676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20211F"/>
                </a:solidFill>
                <a:latin typeface="Arial"/>
                <a:ea typeface="Arial"/>
                <a:cs typeface="Arial"/>
              </a:defRPr>
            </a:pPr>
            <a:r>
              <a:rPr sz="4500" b="1">
                <a:solidFill>
                  <a:srgbClr val="20211F"/>
                </a:solidFill>
                <a:latin typeface="Arial"/>
                <a:ea typeface="Arial"/>
                <a:cs typeface="Arial"/>
              </a:rPr>
              <a:t>environment.</a:t>
            </a:r>
          </a:p>
        </p:txBody>
      </p:sp>
      <p:sp>
        <p:nvSpPr>
          <p:cNvPr id="9" name="text-97">
            <a:extLst xmlns:a="http://schemas.openxmlformats.org/drawingml/2006/main">
              <a:ext uri="{FF2B5EF4-FFF2-40B4-BE49-F238E27FC236}">
                <a16:creationId xmlns:a16="http://schemas.microsoft.com/office/drawing/2014/main" id="{793FB16A-4CA0-4AB2-86A3-E880E06405AE}"/>
              </a:ext>
            </a:extLst>
          </p:cNvPr>
          <p:cNvSpPr>
            <a:spLocks xmlns:a="http://schemas.openxmlformats.org/drawingml/2006/main" noGrp="1"/>
          </p:cNvSpPr>
          <p:nvPr/>
        </p:nvSpPr>
        <p:spPr>
          <a:xfrm xmlns:a="http://schemas.openxmlformats.org/drawingml/2006/main">
            <a:off x="561975" y="3505200"/>
            <a:ext cx="5953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01 / SECRETS</a:t>
            </a:r>
          </a:p>
        </p:txBody>
      </p:sp>
      <p:sp>
        <p:nvSpPr>
          <p:cNvPr id="10" name="text-98">
            <a:extLst xmlns:a="http://schemas.openxmlformats.org/drawingml/2006/main">
              <a:ext uri="{FF2B5EF4-FFF2-40B4-BE49-F238E27FC236}">
                <a16:creationId xmlns:a16="http://schemas.microsoft.com/office/drawing/2014/main" id="{D4535C1E-5757-430C-B2AF-6D4B5F3B1EA3}"/>
              </a:ext>
            </a:extLst>
          </p:cNvPr>
          <p:cNvSpPr>
            <a:spLocks xmlns:a="http://schemas.openxmlformats.org/drawingml/2006/main" noGrp="1"/>
          </p:cNvSpPr>
          <p:nvPr/>
        </p:nvSpPr>
        <p:spPr>
          <a:xfrm xmlns:a="http://schemas.openxmlformats.org/drawingml/2006/main">
            <a:off x="561975" y="3762375"/>
            <a:ext cx="5953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20211F"/>
                </a:solidFill>
                <a:latin typeface="Arial"/>
                <a:ea typeface="Arial"/>
                <a:cs typeface="Arial"/>
              </a:defRPr>
            </a:pPr>
            <a:r>
              <a:rPr sz="1875" b="0">
                <a:solidFill>
                  <a:srgbClr val="20211F"/>
                </a:solidFill>
                <a:latin typeface="Arial"/>
                <a:ea typeface="Arial"/>
                <a:cs typeface="Arial"/>
              </a:rPr>
              <a:t>Attach only what belongs here.</a:t>
            </a:r>
          </a:p>
        </p:txBody>
      </p:sp>
      <p:sp>
        <p:nvSpPr>
          <p:cNvPr id="11" name="text-99">
            <a:extLst xmlns:a="http://schemas.openxmlformats.org/drawingml/2006/main">
              <a:ext uri="{FF2B5EF4-FFF2-40B4-BE49-F238E27FC236}">
                <a16:creationId xmlns:a16="http://schemas.microsoft.com/office/drawing/2014/main" id="{5F8B4EC0-D1E0-4885-96E1-A12BA9DEA633}"/>
              </a:ext>
            </a:extLst>
          </p:cNvPr>
          <p:cNvSpPr>
            <a:spLocks xmlns:a="http://schemas.openxmlformats.org/drawingml/2006/main" noGrp="1"/>
          </p:cNvSpPr>
          <p:nvPr/>
        </p:nvSpPr>
        <p:spPr>
          <a:xfrm xmlns:a="http://schemas.openxmlformats.org/drawingml/2006/main">
            <a:off x="561975" y="4267200"/>
            <a:ext cx="5953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02 / TEAM ACCESS</a:t>
            </a:r>
          </a:p>
        </p:txBody>
      </p:sp>
      <p:sp>
        <p:nvSpPr>
          <p:cNvPr id="12" name="text-100">
            <a:extLst xmlns:a="http://schemas.openxmlformats.org/drawingml/2006/main">
              <a:ext uri="{FF2B5EF4-FFF2-40B4-BE49-F238E27FC236}">
                <a16:creationId xmlns:a16="http://schemas.microsoft.com/office/drawing/2014/main" id="{B159490E-108C-4BE3-9499-6858625887BE}"/>
              </a:ext>
            </a:extLst>
          </p:cNvPr>
          <p:cNvSpPr>
            <a:spLocks xmlns:a="http://schemas.openxmlformats.org/drawingml/2006/main" noGrp="1"/>
          </p:cNvSpPr>
          <p:nvPr/>
        </p:nvSpPr>
        <p:spPr>
          <a:xfrm xmlns:a="http://schemas.openxmlformats.org/drawingml/2006/main">
            <a:off x="561975" y="4524375"/>
            <a:ext cx="5953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20211F"/>
                </a:solidFill>
                <a:latin typeface="Arial"/>
                <a:ea typeface="Arial"/>
                <a:cs typeface="Arial"/>
              </a:defRPr>
            </a:pPr>
            <a:r>
              <a:rPr sz="1875" b="0">
                <a:solidFill>
                  <a:srgbClr val="20211F"/>
                </a:solidFill>
                <a:latin typeface="Arial"/>
                <a:ea typeface="Arial"/>
                <a:cs typeface="Arial"/>
              </a:rPr>
              <a:t>Share the environment.</a:t>
            </a:r>
          </a:p>
        </p:txBody>
      </p:sp>
      <p:sp>
        <p:nvSpPr>
          <p:cNvPr id="13" name="text-101">
            <a:extLst xmlns:a="http://schemas.openxmlformats.org/drawingml/2006/main">
              <a:ext uri="{FF2B5EF4-FFF2-40B4-BE49-F238E27FC236}">
                <a16:creationId xmlns:a16="http://schemas.microsoft.com/office/drawing/2014/main" id="{CD192B6B-3B11-4EF5-BAD8-ED344C2EC2CE}"/>
              </a:ext>
            </a:extLst>
          </p:cNvPr>
          <p:cNvSpPr>
            <a:spLocks xmlns:a="http://schemas.openxmlformats.org/drawingml/2006/main" noGrp="1"/>
          </p:cNvSpPr>
          <p:nvPr/>
        </p:nvSpPr>
        <p:spPr>
          <a:xfrm xmlns:a="http://schemas.openxmlformats.org/drawingml/2006/main">
            <a:off x="561975" y="5029200"/>
            <a:ext cx="5953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03 / AGENTS · PREVIEW</a:t>
            </a:r>
          </a:p>
        </p:txBody>
      </p:sp>
      <p:sp>
        <p:nvSpPr>
          <p:cNvPr id="14" name="text-102">
            <a:extLst xmlns:a="http://schemas.openxmlformats.org/drawingml/2006/main">
              <a:ext uri="{FF2B5EF4-FFF2-40B4-BE49-F238E27FC236}">
                <a16:creationId xmlns:a16="http://schemas.microsoft.com/office/drawing/2014/main" id="{8BC967F6-B715-4BD4-901E-761FD380DE44}"/>
              </a:ext>
            </a:extLst>
          </p:cNvPr>
          <p:cNvSpPr>
            <a:spLocks xmlns:a="http://schemas.openxmlformats.org/drawingml/2006/main" noGrp="1"/>
          </p:cNvSpPr>
          <p:nvPr/>
        </p:nvSpPr>
        <p:spPr>
          <a:xfrm xmlns:a="http://schemas.openxmlformats.org/drawingml/2006/main">
            <a:off x="561975" y="5286375"/>
            <a:ext cx="5953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20211F"/>
                </a:solidFill>
                <a:latin typeface="Arial"/>
                <a:ea typeface="Arial"/>
                <a:cs typeface="Arial"/>
              </a:defRPr>
            </a:pPr>
            <a:r>
              <a:rPr sz="1875" b="0">
                <a:solidFill>
                  <a:srgbClr val="20211F"/>
                </a:solidFill>
                <a:latin typeface="Arial"/>
                <a:ea typeface="Arial"/>
                <a:cs typeface="Arial"/>
              </a:rPr>
              <a:t>See who has access.</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cb91f2b1c14947ef"/>
          <a:stretch xmlns:a="http://schemas.openxmlformats.org/drawingml/2006/main"/>
        </p:blipFill>
        <p:spPr>
          <a:xfrm xmlns:a="http://schemas.openxmlformats.org/drawingml/2006/main">
            <a:off x="7458075" y="867396"/>
            <a:ext cx="3733800" cy="5113683"/>
          </a:xfrm>
          <a:prstGeom xmlns:a="http://schemas.openxmlformats.org/drawingml/2006/main" prst="rect">
            <a:avLst/>
          </a:prstGeom>
        </p:spPr>
      </p:pic>
    </p:spTree>
    <p:extLst>
      <p:ext uri="{BB962C8B-B14F-4D97-AF65-F5344CB8AC3E}">
        <p14:creationId xmlns:p14="http://schemas.microsoft.com/office/powerpoint/2010/main" val="2118036677"/>
      </p:ext>
    </p:extLst>
  </p:cSld>
</p:sld>
</file>

<file path=ppt/slides/slide6.xml><?xml version="1.0" encoding="utf-8"?>
<p:sld xmlns:p="http://schemas.openxmlformats.org/presentationml/2006/main">
  <p:cSld>
    <p:bg>
      <p:bgPr>
        <a:solidFill xmlns:a="http://schemas.openxmlformats.org/drawingml/2006/main">
          <a:srgbClr val="191A1A"/>
        </a:solidFill>
      </p:bgPr>
    </p:bg>
    <p:spTree>
      <p:nvGrpSpPr>
        <p:cNvPr id="1" name=""/>
        <p:cNvGrpSpPr/>
        <p:nvPr/>
      </p:nvGrpSpPr>
      <p:grpSpPr>
        <a:xfrm xmlns:a="http://schemas.openxmlformats.org/drawingml/2006/main"/>
      </p:grpSpPr>
      <p:sp>
        <p:nvSpPr>
          <p:cNvPr id="34" name="text-103">
            <a:extLst xmlns:a="http://schemas.openxmlformats.org/drawingml/2006/main">
              <a:ext uri="{FF2B5EF4-FFF2-40B4-BE49-F238E27FC236}">
                <a16:creationId xmlns:a16="http://schemas.microsoft.com/office/drawing/2014/main" id="{DB111752-FD58-416E-BBB0-D9DBF6FF053D}"/>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B1B5AC"/>
                </a:solidFill>
                <a:latin typeface="Menlo"/>
                <a:ea typeface="Menlo"/>
                <a:cs typeface="Menlo"/>
              </a:defRPr>
            </a:pPr>
            <a:r>
              <a:rPr sz="1275" b="0">
                <a:solidFill>
                  <a:srgbClr val="B1B5AC"/>
                </a:solidFill>
                <a:latin typeface="Menlo"/>
                <a:ea typeface="Menlo"/>
                <a:cs typeface="Menlo"/>
              </a:rPr>
              <a:t>06 / APPLICATION ACCESS</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e223defc8224de6">
            <a:extLst>
              <a:ext uri="{96DAC541-7B7A-43D3-8B79-37D633B846F1}">
                <asvg:svgBlip xmlns:asvg="http://schemas.microsoft.com/office/drawing/2016/SVG/main" r:embed="R2a6c81988b244773"/>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3" name="shape-104">
            <a:extLst xmlns:a="http://schemas.openxmlformats.org/drawingml/2006/main">
              <a:ext uri="{FF2B5EF4-FFF2-40B4-BE49-F238E27FC236}">
                <a16:creationId xmlns:a16="http://schemas.microsoft.com/office/drawing/2014/main" id="{A56A22DB-9A51-4482-A71B-57F90484AEF7}"/>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454741"/>
          </a:solidFill>
          <a:ln xmlns:a="http://schemas.openxmlformats.org/drawingml/2006/main" w="0">
            <a:noFill/>
          </a:ln>
        </p:spPr>
      </p:sp>
      <p:sp>
        <p:nvSpPr>
          <p:cNvPr id="4" name="text-105">
            <a:extLst xmlns:a="http://schemas.openxmlformats.org/drawingml/2006/main">
              <a:ext uri="{FF2B5EF4-FFF2-40B4-BE49-F238E27FC236}">
                <a16:creationId xmlns:a16="http://schemas.microsoft.com/office/drawing/2014/main" id="{52BFE681-4AF3-4D58-A49B-49BD7E162659}"/>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B1B5AC"/>
                </a:solidFill>
                <a:latin typeface="Menlo"/>
                <a:ea typeface="Menlo"/>
                <a:cs typeface="Menlo"/>
              </a:defRPr>
            </a:pPr>
            <a:r>
              <a:rPr sz="1275" b="0">
                <a:solidFill>
                  <a:srgbClr val="B1B5AC"/>
                </a:solidFill>
                <a:latin typeface="Menlo"/>
                <a:ea typeface="Menlo"/>
                <a:cs typeface="Menlo"/>
              </a:rPr>
              <a:t>ENVSYNC / SELF-HOSTED SECRETS</a:t>
            </a:r>
          </a:p>
        </p:txBody>
      </p:sp>
      <p:sp>
        <p:nvSpPr>
          <p:cNvPr id="5" name="text-106">
            <a:extLst xmlns:a="http://schemas.openxmlformats.org/drawingml/2006/main">
              <a:ext uri="{FF2B5EF4-FFF2-40B4-BE49-F238E27FC236}">
                <a16:creationId xmlns:a16="http://schemas.microsoft.com/office/drawing/2014/main" id="{72AF34AB-4233-40E3-91EB-83BB593EA3DA}"/>
              </a:ext>
            </a:extLst>
          </p:cNvPr>
          <p:cNvSpPr>
            <a:spLocks xmlns:a="http://schemas.openxmlformats.org/drawingml/2006/main" noGrp="1"/>
          </p:cNvSpPr>
          <p:nvPr/>
        </p:nvSpPr>
        <p:spPr>
          <a:xfrm xmlns:a="http://schemas.openxmlformats.org/drawingml/2006/main">
            <a:off x="11144250" y="644842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1B5AC"/>
                </a:solidFill>
                <a:latin typeface="Menlo"/>
                <a:ea typeface="Menlo"/>
                <a:cs typeface="Menlo"/>
              </a:defRPr>
            </a:pPr>
            <a:r>
              <a:rPr sz="1350" b="0">
                <a:solidFill>
                  <a:srgbClr val="B1B5AC"/>
                </a:solidFill>
                <a:latin typeface="Menlo"/>
                <a:ea typeface="Menlo"/>
                <a:cs typeface="Menlo"/>
              </a:rPr>
              <a:t>06</a:t>
            </a:r>
          </a:p>
        </p:txBody>
      </p:sp>
      <p:sp>
        <p:nvSpPr>
          <p:cNvPr id="6" name="text-107">
            <a:extLst xmlns:a="http://schemas.openxmlformats.org/drawingml/2006/main">
              <a:ext uri="{FF2B5EF4-FFF2-40B4-BE49-F238E27FC236}">
                <a16:creationId xmlns:a16="http://schemas.microsoft.com/office/drawing/2014/main" id="{E1D4F164-94FD-4E3A-9EFB-4A400D8AFB35}"/>
              </a:ext>
            </a:extLst>
          </p:cNvPr>
          <p:cNvSpPr>
            <a:spLocks xmlns:a="http://schemas.openxmlformats.org/drawingml/2006/main" noGrp="1"/>
          </p:cNvSpPr>
          <p:nvPr/>
        </p:nvSpPr>
        <p:spPr>
          <a:xfrm xmlns:a="http://schemas.openxmlformats.org/drawingml/2006/main">
            <a:off x="533400" y="942975"/>
            <a:ext cx="11144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650" b="1">
                <a:solidFill>
                  <a:srgbClr val="FAFAF6"/>
                </a:solidFill>
                <a:latin typeface="Arial"/>
                <a:ea typeface="Arial"/>
                <a:cs typeface="Arial"/>
              </a:defRPr>
            </a:pPr>
            <a:r>
              <a:rPr sz="4650" b="1">
                <a:solidFill>
                  <a:srgbClr val="FAFAF6"/>
                </a:solidFill>
                <a:latin typeface="Arial"/>
                <a:ea typeface="Arial"/>
                <a:cs typeface="Arial"/>
              </a:rPr>
              <a:t>Your app asks for</a:t>
            </a:r>
          </a:p>
        </p:txBody>
      </p:sp>
      <p:sp>
        <p:nvSpPr>
          <p:cNvPr id="7" name="text-108">
            <a:extLst xmlns:a="http://schemas.openxmlformats.org/drawingml/2006/main">
              <a:ext uri="{FF2B5EF4-FFF2-40B4-BE49-F238E27FC236}">
                <a16:creationId xmlns:a16="http://schemas.microsoft.com/office/drawing/2014/main" id="{D77CA7D3-5FED-4EDD-8023-68B6E1013FEC}"/>
              </a:ext>
            </a:extLst>
          </p:cNvPr>
          <p:cNvSpPr>
            <a:spLocks xmlns:a="http://schemas.openxmlformats.org/drawingml/2006/main" noGrp="1"/>
          </p:cNvSpPr>
          <p:nvPr/>
        </p:nvSpPr>
        <p:spPr>
          <a:xfrm xmlns:a="http://schemas.openxmlformats.org/drawingml/2006/main">
            <a:off x="533400" y="1590675"/>
            <a:ext cx="11144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650" b="1">
                <a:solidFill>
                  <a:srgbClr val="FAFAF6"/>
                </a:solidFill>
                <a:latin typeface="Arial"/>
                <a:ea typeface="Arial"/>
                <a:cs typeface="Arial"/>
              </a:defRPr>
            </a:pPr>
            <a:r>
              <a:rPr sz="4650" b="1">
                <a:solidFill>
                  <a:srgbClr val="FAFAF6"/>
                </a:solidFill>
                <a:latin typeface="Arial"/>
                <a:ea typeface="Arial"/>
                <a:cs typeface="Arial"/>
              </a:rPr>
              <a:t>what it needs.</a:t>
            </a:r>
          </a:p>
        </p:txBody>
      </p:sp>
      <p:sp>
        <p:nvSpPr>
          <p:cNvPr id="8" name="text-109">
            <a:extLst xmlns:a="http://schemas.openxmlformats.org/drawingml/2006/main">
              <a:ext uri="{FF2B5EF4-FFF2-40B4-BE49-F238E27FC236}">
                <a16:creationId xmlns:a16="http://schemas.microsoft.com/office/drawing/2014/main" id="{AAEB7683-9B2D-41C9-BBF0-32481DE0A5A7}"/>
              </a:ext>
            </a:extLst>
          </p:cNvPr>
          <p:cNvSpPr>
            <a:spLocks xmlns:a="http://schemas.openxmlformats.org/drawingml/2006/main" noGrp="1"/>
          </p:cNvSpPr>
          <p:nvPr/>
        </p:nvSpPr>
        <p:spPr>
          <a:xfrm xmlns:a="http://schemas.openxmlformats.org/drawingml/2006/main">
            <a:off x="533400" y="2647950"/>
            <a:ext cx="685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B1B5AC"/>
                </a:solidFill>
                <a:latin typeface="Menlo"/>
                <a:ea typeface="Menlo"/>
                <a:cs typeface="Menlo"/>
              </a:defRPr>
            </a:pPr>
            <a:r>
              <a:rPr sz="1275" b="0">
                <a:solidFill>
                  <a:srgbClr val="B1B5AC"/>
                </a:solidFill>
                <a:latin typeface="Menlo"/>
                <a:ea typeface="Menlo"/>
                <a:cs typeface="Menlo"/>
              </a:rPr>
              <a:t>NODE.JS / @envsync/node</a:t>
            </a:r>
          </a:p>
        </p:txBody>
      </p:sp>
      <p:sp>
        <p:nvSpPr>
          <p:cNvPr id="9" name="text-110">
            <a:extLst xmlns:a="http://schemas.openxmlformats.org/drawingml/2006/main">
              <a:ext uri="{FF2B5EF4-FFF2-40B4-BE49-F238E27FC236}">
                <a16:creationId xmlns:a16="http://schemas.microsoft.com/office/drawing/2014/main" id="{15B7D8A5-4624-4E48-83E1-0A7A901447CE}"/>
              </a:ext>
            </a:extLst>
          </p:cNvPr>
          <p:cNvSpPr>
            <a:spLocks xmlns:a="http://schemas.openxmlformats.org/drawingml/2006/main" noGrp="1"/>
          </p:cNvSpPr>
          <p:nvPr/>
        </p:nvSpPr>
        <p:spPr>
          <a:xfrm xmlns:a="http://schemas.openxmlformats.org/drawingml/2006/main">
            <a:off x="8601075" y="26479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B1B5AC"/>
                </a:solidFill>
                <a:latin typeface="Menlo"/>
                <a:ea typeface="Menlo"/>
                <a:cs typeface="Menlo"/>
              </a:defRPr>
            </a:pPr>
            <a:r>
              <a:rPr sz="1275" b="0">
                <a:solidFill>
                  <a:srgbClr val="B1B5AC"/>
                </a:solidFill>
                <a:latin typeface="Menlo"/>
                <a:ea typeface="Menlo"/>
                <a:cs typeface="Menlo"/>
              </a:rPr>
              <a:t>REQUEST PATH</a:t>
            </a:r>
          </a:p>
        </p:txBody>
      </p:sp>
      <p:sp>
        <p:nvSpPr>
          <p:cNvPr id="10" name="text-111">
            <a:extLst xmlns:a="http://schemas.openxmlformats.org/drawingml/2006/main">
              <a:ext uri="{FF2B5EF4-FFF2-40B4-BE49-F238E27FC236}">
                <a16:creationId xmlns:a16="http://schemas.microsoft.com/office/drawing/2014/main" id="{D387D588-1C5A-41CF-A225-52BBC7B2A8B5}"/>
              </a:ext>
            </a:extLst>
          </p:cNvPr>
          <p:cNvSpPr>
            <a:spLocks xmlns:a="http://schemas.openxmlformats.org/drawingml/2006/main" noGrp="1"/>
          </p:cNvSpPr>
          <p:nvPr/>
        </p:nvSpPr>
        <p:spPr>
          <a:xfrm xmlns:a="http://schemas.openxmlformats.org/drawingml/2006/main">
            <a:off x="533400" y="30575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1B5AC"/>
                </a:solidFill>
                <a:latin typeface="Menlo"/>
                <a:ea typeface="Menlo"/>
                <a:cs typeface="Menlo"/>
              </a:defRPr>
            </a:pPr>
            <a:r>
              <a:rPr sz="1350" b="0">
                <a:solidFill>
                  <a:srgbClr val="B1B5AC"/>
                </a:solidFill>
                <a:latin typeface="Menlo"/>
                <a:ea typeface="Menlo"/>
                <a:cs typeface="Menlo"/>
              </a:rPr>
              <a:t>01</a:t>
            </a:r>
          </a:p>
        </p:txBody>
      </p:sp>
      <p:sp>
        <p:nvSpPr>
          <p:cNvPr id="11" name="text-112">
            <a:extLst xmlns:a="http://schemas.openxmlformats.org/drawingml/2006/main">
              <a:ext uri="{FF2B5EF4-FFF2-40B4-BE49-F238E27FC236}">
                <a16:creationId xmlns:a16="http://schemas.microsoft.com/office/drawing/2014/main" id="{CE854523-B24D-4B20-BF2A-A6D98CF10B90}"/>
              </a:ext>
            </a:extLst>
          </p:cNvPr>
          <p:cNvSpPr>
            <a:spLocks xmlns:a="http://schemas.openxmlformats.org/drawingml/2006/main" noGrp="1"/>
          </p:cNvSpPr>
          <p:nvPr/>
        </p:nvSpPr>
        <p:spPr>
          <a:xfrm xmlns:a="http://schemas.openxmlformats.org/drawingml/2006/main">
            <a:off x="1000125" y="3028950"/>
            <a:ext cx="748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DCD7FF"/>
                </a:solidFill>
                <a:latin typeface="Menlo"/>
                <a:ea typeface="Menlo"/>
                <a:cs typeface="Menlo"/>
              </a:defRPr>
            </a:pPr>
            <a:r>
              <a:rPr sz="1800" b="0">
                <a:solidFill>
                  <a:srgbClr val="DCD7FF"/>
                </a:solidFill>
                <a:latin typeface="Menlo"/>
                <a:ea typeface="Menlo"/>
                <a:cs typeface="Menlo"/>
              </a:rPr>
              <a:t>import { EnvSync } from "@envsync/node";</a:t>
            </a:r>
          </a:p>
        </p:txBody>
      </p:sp>
      <p:sp>
        <p:nvSpPr>
          <p:cNvPr id="12" name="text-113">
            <a:extLst xmlns:a="http://schemas.openxmlformats.org/drawingml/2006/main">
              <a:ext uri="{FF2B5EF4-FFF2-40B4-BE49-F238E27FC236}">
                <a16:creationId xmlns:a16="http://schemas.microsoft.com/office/drawing/2014/main" id="{E97FF28D-0942-4B6B-A529-22558A4C84D4}"/>
              </a:ext>
            </a:extLst>
          </p:cNvPr>
          <p:cNvSpPr>
            <a:spLocks xmlns:a="http://schemas.openxmlformats.org/drawingml/2006/main" noGrp="1"/>
          </p:cNvSpPr>
          <p:nvPr/>
        </p:nvSpPr>
        <p:spPr>
          <a:xfrm xmlns:a="http://schemas.openxmlformats.org/drawingml/2006/main">
            <a:off x="533400" y="3362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1B5AC"/>
                </a:solidFill>
                <a:latin typeface="Menlo"/>
                <a:ea typeface="Menlo"/>
                <a:cs typeface="Menlo"/>
              </a:defRPr>
            </a:pPr>
            <a:r>
              <a:rPr sz="1350" b="0">
                <a:solidFill>
                  <a:srgbClr val="B1B5AC"/>
                </a:solidFill>
                <a:latin typeface="Menlo"/>
                <a:ea typeface="Menlo"/>
                <a:cs typeface="Menlo"/>
              </a:rPr>
              <a:t>02</a:t>
            </a:r>
          </a:p>
        </p:txBody>
      </p:sp>
      <p:sp>
        <p:nvSpPr>
          <p:cNvPr id="13" name="text-114">
            <a:extLst xmlns:a="http://schemas.openxmlformats.org/drawingml/2006/main">
              <a:ext uri="{FF2B5EF4-FFF2-40B4-BE49-F238E27FC236}">
                <a16:creationId xmlns:a16="http://schemas.microsoft.com/office/drawing/2014/main" id="{332D1214-AD75-4663-BC06-1ADBD13F46AE}"/>
              </a:ext>
            </a:extLst>
          </p:cNvPr>
          <p:cNvSpPr>
            <a:spLocks xmlns:a="http://schemas.openxmlformats.org/drawingml/2006/main" noGrp="1"/>
          </p:cNvSpPr>
          <p:nvPr/>
        </p:nvSpPr>
        <p:spPr>
          <a:xfrm xmlns:a="http://schemas.openxmlformats.org/drawingml/2006/main">
            <a:off x="1000125" y="3333750"/>
            <a:ext cx="748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r>
              <a:t/>
            </a:r>
          </a:p>
        </p:txBody>
      </p:sp>
      <p:sp>
        <p:nvSpPr>
          <p:cNvPr id="14" name="text-115">
            <a:extLst xmlns:a="http://schemas.openxmlformats.org/drawingml/2006/main">
              <a:ext uri="{FF2B5EF4-FFF2-40B4-BE49-F238E27FC236}">
                <a16:creationId xmlns:a16="http://schemas.microsoft.com/office/drawing/2014/main" id="{16C07742-1D33-4284-976A-4443B60BCE76}"/>
              </a:ext>
            </a:extLst>
          </p:cNvPr>
          <p:cNvSpPr>
            <a:spLocks xmlns:a="http://schemas.openxmlformats.org/drawingml/2006/main" noGrp="1"/>
          </p:cNvSpPr>
          <p:nvPr/>
        </p:nvSpPr>
        <p:spPr>
          <a:xfrm xmlns:a="http://schemas.openxmlformats.org/drawingml/2006/main">
            <a:off x="533400" y="3667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1B5AC"/>
                </a:solidFill>
                <a:latin typeface="Menlo"/>
                <a:ea typeface="Menlo"/>
                <a:cs typeface="Menlo"/>
              </a:defRPr>
            </a:pPr>
            <a:r>
              <a:rPr sz="1350" b="0">
                <a:solidFill>
                  <a:srgbClr val="B1B5AC"/>
                </a:solidFill>
                <a:latin typeface="Menlo"/>
                <a:ea typeface="Menlo"/>
                <a:cs typeface="Menlo"/>
              </a:rPr>
              <a:t>03</a:t>
            </a:r>
          </a:p>
        </p:txBody>
      </p:sp>
      <p:sp>
        <p:nvSpPr>
          <p:cNvPr id="15" name="text-116">
            <a:extLst xmlns:a="http://schemas.openxmlformats.org/drawingml/2006/main">
              <a:ext uri="{FF2B5EF4-FFF2-40B4-BE49-F238E27FC236}">
                <a16:creationId xmlns:a16="http://schemas.microsoft.com/office/drawing/2014/main" id="{FD8BFBDB-7BDF-412B-81A3-6861F50702F8}"/>
              </a:ext>
            </a:extLst>
          </p:cNvPr>
          <p:cNvSpPr>
            <a:spLocks xmlns:a="http://schemas.openxmlformats.org/drawingml/2006/main" noGrp="1"/>
          </p:cNvSpPr>
          <p:nvPr/>
        </p:nvSpPr>
        <p:spPr>
          <a:xfrm xmlns:a="http://schemas.openxmlformats.org/drawingml/2006/main">
            <a:off x="1000125" y="3638550"/>
            <a:ext cx="748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FAFAF6"/>
                </a:solidFill>
                <a:latin typeface="Menlo"/>
                <a:ea typeface="Menlo"/>
                <a:cs typeface="Menlo"/>
              </a:defRPr>
            </a:pPr>
            <a:r>
              <a:rPr sz="1800" b="0">
                <a:solidFill>
                  <a:srgbClr val="FAFAF6"/>
                </a:solidFill>
                <a:latin typeface="Menlo"/>
                <a:ea typeface="Menlo"/>
                <a:cs typeface="Menlo"/>
              </a:rPr>
              <a:t>const envsync = new EnvSync({</a:t>
            </a:r>
          </a:p>
        </p:txBody>
      </p:sp>
      <p:sp>
        <p:nvSpPr>
          <p:cNvPr id="16" name="text-117">
            <a:extLst xmlns:a="http://schemas.openxmlformats.org/drawingml/2006/main">
              <a:ext uri="{FF2B5EF4-FFF2-40B4-BE49-F238E27FC236}">
                <a16:creationId xmlns:a16="http://schemas.microsoft.com/office/drawing/2014/main" id="{28C8A2CA-5A30-4203-BC89-4C35B919E142}"/>
              </a:ext>
            </a:extLst>
          </p:cNvPr>
          <p:cNvSpPr>
            <a:spLocks xmlns:a="http://schemas.openxmlformats.org/drawingml/2006/main" noGrp="1"/>
          </p:cNvSpPr>
          <p:nvPr/>
        </p:nvSpPr>
        <p:spPr>
          <a:xfrm xmlns:a="http://schemas.openxmlformats.org/drawingml/2006/main">
            <a:off x="533400" y="39719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1B5AC"/>
                </a:solidFill>
                <a:latin typeface="Menlo"/>
                <a:ea typeface="Menlo"/>
                <a:cs typeface="Menlo"/>
              </a:defRPr>
            </a:pPr>
            <a:r>
              <a:rPr sz="1350" b="0">
                <a:solidFill>
                  <a:srgbClr val="B1B5AC"/>
                </a:solidFill>
                <a:latin typeface="Menlo"/>
                <a:ea typeface="Menlo"/>
                <a:cs typeface="Menlo"/>
              </a:rPr>
              <a:t>04</a:t>
            </a:r>
          </a:p>
        </p:txBody>
      </p:sp>
      <p:sp>
        <p:nvSpPr>
          <p:cNvPr id="17" name="text-118">
            <a:extLst xmlns:a="http://schemas.openxmlformats.org/drawingml/2006/main">
              <a:ext uri="{FF2B5EF4-FFF2-40B4-BE49-F238E27FC236}">
                <a16:creationId xmlns:a16="http://schemas.microsoft.com/office/drawing/2014/main" id="{4D9A3412-9975-44B3-B98E-C17B66911944}"/>
              </a:ext>
            </a:extLst>
          </p:cNvPr>
          <p:cNvSpPr>
            <a:spLocks xmlns:a="http://schemas.openxmlformats.org/drawingml/2006/main" noGrp="1"/>
          </p:cNvSpPr>
          <p:nvPr/>
        </p:nvSpPr>
        <p:spPr>
          <a:xfrm xmlns:a="http://schemas.openxmlformats.org/drawingml/2006/main">
            <a:off x="1000125" y="3943350"/>
            <a:ext cx="748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FAFAF6"/>
                </a:solidFill>
                <a:latin typeface="Menlo"/>
                <a:ea typeface="Menlo"/>
                <a:cs typeface="Menlo"/>
              </a:defRPr>
            </a:pPr>
            <a:r>
              <a:rPr sz="1800" b="0">
                <a:solidFill>
                  <a:srgbClr val="FAFAF6"/>
                </a:solidFill>
                <a:latin typeface="Menlo"/>
                <a:ea typeface="Menlo"/>
                <a:cs typeface="Menlo"/>
              </a:rPr>
              <a:t>  apiKey: process.env.ENVSYNC_API_KEY,</a:t>
            </a:r>
          </a:p>
        </p:txBody>
      </p:sp>
      <p:sp>
        <p:nvSpPr>
          <p:cNvPr id="18" name="text-119">
            <a:extLst xmlns:a="http://schemas.openxmlformats.org/drawingml/2006/main">
              <a:ext uri="{FF2B5EF4-FFF2-40B4-BE49-F238E27FC236}">
                <a16:creationId xmlns:a16="http://schemas.microsoft.com/office/drawing/2014/main" id="{084E7156-7F5A-4B8C-8E65-1C85051EAE27}"/>
              </a:ext>
            </a:extLst>
          </p:cNvPr>
          <p:cNvSpPr>
            <a:spLocks xmlns:a="http://schemas.openxmlformats.org/drawingml/2006/main" noGrp="1"/>
          </p:cNvSpPr>
          <p:nvPr/>
        </p:nvSpPr>
        <p:spPr>
          <a:xfrm xmlns:a="http://schemas.openxmlformats.org/drawingml/2006/main">
            <a:off x="533400" y="42767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1B5AC"/>
                </a:solidFill>
                <a:latin typeface="Menlo"/>
                <a:ea typeface="Menlo"/>
                <a:cs typeface="Menlo"/>
              </a:defRPr>
            </a:pPr>
            <a:r>
              <a:rPr sz="1350" b="0">
                <a:solidFill>
                  <a:srgbClr val="B1B5AC"/>
                </a:solidFill>
                <a:latin typeface="Menlo"/>
                <a:ea typeface="Menlo"/>
                <a:cs typeface="Menlo"/>
              </a:rPr>
              <a:t>05</a:t>
            </a:r>
          </a:p>
        </p:txBody>
      </p:sp>
      <p:sp>
        <p:nvSpPr>
          <p:cNvPr id="19" name="text-120">
            <a:extLst xmlns:a="http://schemas.openxmlformats.org/drawingml/2006/main">
              <a:ext uri="{FF2B5EF4-FFF2-40B4-BE49-F238E27FC236}">
                <a16:creationId xmlns:a16="http://schemas.microsoft.com/office/drawing/2014/main" id="{004B4F07-75C1-4EA9-A3FD-E4B1EB42EEF0}"/>
              </a:ext>
            </a:extLst>
          </p:cNvPr>
          <p:cNvSpPr>
            <a:spLocks xmlns:a="http://schemas.openxmlformats.org/drawingml/2006/main" noGrp="1"/>
          </p:cNvSpPr>
          <p:nvPr/>
        </p:nvSpPr>
        <p:spPr>
          <a:xfrm xmlns:a="http://schemas.openxmlformats.org/drawingml/2006/main">
            <a:off x="1000125" y="4248150"/>
            <a:ext cx="748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FAFAF6"/>
                </a:solidFill>
                <a:latin typeface="Menlo"/>
                <a:ea typeface="Menlo"/>
                <a:cs typeface="Menlo"/>
              </a:defRPr>
            </a:pPr>
            <a:r>
              <a:rPr sz="1800" b="0">
                <a:solidFill>
                  <a:srgbClr val="FAFAF6"/>
                </a:solidFill>
                <a:latin typeface="Menlo"/>
                <a:ea typeface="Menlo"/>
                <a:cs typeface="Menlo"/>
              </a:rPr>
              <a:t>  baseUrl: process.env.ENVSYNC_URL</a:t>
            </a:r>
          </a:p>
        </p:txBody>
      </p:sp>
      <p:sp>
        <p:nvSpPr>
          <p:cNvPr id="20" name="text-121">
            <a:extLst xmlns:a="http://schemas.openxmlformats.org/drawingml/2006/main">
              <a:ext uri="{FF2B5EF4-FFF2-40B4-BE49-F238E27FC236}">
                <a16:creationId xmlns:a16="http://schemas.microsoft.com/office/drawing/2014/main" id="{D42312BB-7BE6-441E-A347-0598C385D9F1}"/>
              </a:ext>
            </a:extLst>
          </p:cNvPr>
          <p:cNvSpPr>
            <a:spLocks xmlns:a="http://schemas.openxmlformats.org/drawingml/2006/main" noGrp="1"/>
          </p:cNvSpPr>
          <p:nvPr/>
        </p:nvSpPr>
        <p:spPr>
          <a:xfrm xmlns:a="http://schemas.openxmlformats.org/drawingml/2006/main">
            <a:off x="533400" y="45815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1B5AC"/>
                </a:solidFill>
                <a:latin typeface="Menlo"/>
                <a:ea typeface="Menlo"/>
                <a:cs typeface="Menlo"/>
              </a:defRPr>
            </a:pPr>
            <a:r>
              <a:rPr sz="1350" b="0">
                <a:solidFill>
                  <a:srgbClr val="B1B5AC"/>
                </a:solidFill>
                <a:latin typeface="Menlo"/>
                <a:ea typeface="Menlo"/>
                <a:cs typeface="Menlo"/>
              </a:rPr>
              <a:t>06</a:t>
            </a:r>
          </a:p>
        </p:txBody>
      </p:sp>
      <p:sp>
        <p:nvSpPr>
          <p:cNvPr id="21" name="text-122">
            <a:extLst xmlns:a="http://schemas.openxmlformats.org/drawingml/2006/main">
              <a:ext uri="{FF2B5EF4-FFF2-40B4-BE49-F238E27FC236}">
                <a16:creationId xmlns:a16="http://schemas.microsoft.com/office/drawing/2014/main" id="{8475C1D5-59E4-4090-A912-D6626E6F51F4}"/>
              </a:ext>
            </a:extLst>
          </p:cNvPr>
          <p:cNvSpPr>
            <a:spLocks xmlns:a="http://schemas.openxmlformats.org/drawingml/2006/main" noGrp="1"/>
          </p:cNvSpPr>
          <p:nvPr/>
        </p:nvSpPr>
        <p:spPr>
          <a:xfrm xmlns:a="http://schemas.openxmlformats.org/drawingml/2006/main">
            <a:off x="1000125" y="4552950"/>
            <a:ext cx="748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FAFAF6"/>
                </a:solidFill>
                <a:latin typeface="Menlo"/>
                <a:ea typeface="Menlo"/>
                <a:cs typeface="Menlo"/>
              </a:defRPr>
            </a:pPr>
            <a:r>
              <a:rPr sz="1800" b="0">
                <a:solidFill>
                  <a:srgbClr val="FAFAF6"/>
                </a:solidFill>
                <a:latin typeface="Menlo"/>
                <a:ea typeface="Menlo"/>
                <a:cs typeface="Menlo"/>
              </a:rPr>
              <a:t>});</a:t>
            </a:r>
          </a:p>
        </p:txBody>
      </p:sp>
      <p:sp>
        <p:nvSpPr>
          <p:cNvPr id="22" name="text-123">
            <a:extLst xmlns:a="http://schemas.openxmlformats.org/drawingml/2006/main">
              <a:ext uri="{FF2B5EF4-FFF2-40B4-BE49-F238E27FC236}">
                <a16:creationId xmlns:a16="http://schemas.microsoft.com/office/drawing/2014/main" id="{4F91C629-E5D7-4BE1-9561-355A9EA7D4B3}"/>
              </a:ext>
            </a:extLst>
          </p:cNvPr>
          <p:cNvSpPr>
            <a:spLocks xmlns:a="http://schemas.openxmlformats.org/drawingml/2006/main" noGrp="1"/>
          </p:cNvSpPr>
          <p:nvPr/>
        </p:nvSpPr>
        <p:spPr>
          <a:xfrm xmlns:a="http://schemas.openxmlformats.org/drawingml/2006/main">
            <a:off x="533400" y="4886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1B5AC"/>
                </a:solidFill>
                <a:latin typeface="Menlo"/>
                <a:ea typeface="Menlo"/>
                <a:cs typeface="Menlo"/>
              </a:defRPr>
            </a:pPr>
            <a:r>
              <a:rPr sz="1350" b="0">
                <a:solidFill>
                  <a:srgbClr val="B1B5AC"/>
                </a:solidFill>
                <a:latin typeface="Menlo"/>
                <a:ea typeface="Menlo"/>
                <a:cs typeface="Menlo"/>
              </a:rPr>
              <a:t>07</a:t>
            </a:r>
          </a:p>
        </p:txBody>
      </p:sp>
      <p:sp>
        <p:nvSpPr>
          <p:cNvPr id="23" name="text-124">
            <a:extLst xmlns:a="http://schemas.openxmlformats.org/drawingml/2006/main">
              <a:ext uri="{FF2B5EF4-FFF2-40B4-BE49-F238E27FC236}">
                <a16:creationId xmlns:a16="http://schemas.microsoft.com/office/drawing/2014/main" id="{0292BA00-7683-42CA-B9C3-147C77807A5B}"/>
              </a:ext>
            </a:extLst>
          </p:cNvPr>
          <p:cNvSpPr>
            <a:spLocks xmlns:a="http://schemas.openxmlformats.org/drawingml/2006/main" noGrp="1"/>
          </p:cNvSpPr>
          <p:nvPr/>
        </p:nvSpPr>
        <p:spPr>
          <a:xfrm xmlns:a="http://schemas.openxmlformats.org/drawingml/2006/main">
            <a:off x="1000125" y="4857750"/>
            <a:ext cx="748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r>
              <a:t/>
            </a:r>
          </a:p>
        </p:txBody>
      </p:sp>
      <p:sp>
        <p:nvSpPr>
          <p:cNvPr id="24" name="text-125">
            <a:extLst xmlns:a="http://schemas.openxmlformats.org/drawingml/2006/main">
              <a:ext uri="{FF2B5EF4-FFF2-40B4-BE49-F238E27FC236}">
                <a16:creationId xmlns:a16="http://schemas.microsoft.com/office/drawing/2014/main" id="{B9A2FAA0-B299-4C0A-8121-1F3432171E8B}"/>
              </a:ext>
            </a:extLst>
          </p:cNvPr>
          <p:cNvSpPr>
            <a:spLocks xmlns:a="http://schemas.openxmlformats.org/drawingml/2006/main" noGrp="1"/>
          </p:cNvSpPr>
          <p:nvPr/>
        </p:nvSpPr>
        <p:spPr>
          <a:xfrm xmlns:a="http://schemas.openxmlformats.org/drawingml/2006/main">
            <a:off x="533400" y="5191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1B5AC"/>
                </a:solidFill>
                <a:latin typeface="Menlo"/>
                <a:ea typeface="Menlo"/>
                <a:cs typeface="Menlo"/>
              </a:defRPr>
            </a:pPr>
            <a:r>
              <a:rPr sz="1350" b="0">
                <a:solidFill>
                  <a:srgbClr val="B1B5AC"/>
                </a:solidFill>
                <a:latin typeface="Menlo"/>
                <a:ea typeface="Menlo"/>
                <a:cs typeface="Menlo"/>
              </a:rPr>
              <a:t>08</a:t>
            </a:r>
          </a:p>
        </p:txBody>
      </p:sp>
      <p:sp>
        <p:nvSpPr>
          <p:cNvPr id="25" name="text-126">
            <a:extLst xmlns:a="http://schemas.openxmlformats.org/drawingml/2006/main">
              <a:ext uri="{FF2B5EF4-FFF2-40B4-BE49-F238E27FC236}">
                <a16:creationId xmlns:a16="http://schemas.microsoft.com/office/drawing/2014/main" id="{655FD5D6-C9C2-40D8-B0F5-8CE09BD4D387}"/>
              </a:ext>
            </a:extLst>
          </p:cNvPr>
          <p:cNvSpPr>
            <a:spLocks xmlns:a="http://schemas.openxmlformats.org/drawingml/2006/main" noGrp="1"/>
          </p:cNvSpPr>
          <p:nvPr/>
        </p:nvSpPr>
        <p:spPr>
          <a:xfrm xmlns:a="http://schemas.openxmlformats.org/drawingml/2006/main">
            <a:off x="1000125" y="5162550"/>
            <a:ext cx="748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DCD7FF"/>
                </a:solidFill>
                <a:latin typeface="Menlo"/>
                <a:ea typeface="Menlo"/>
                <a:cs typeface="Menlo"/>
              </a:defRPr>
            </a:pPr>
            <a:r>
              <a:rPr sz="1800" b="0">
                <a:solidFill>
                  <a:srgbClr val="DCD7FF"/>
                </a:solidFill>
                <a:latin typeface="Menlo"/>
                <a:ea typeface="Menlo"/>
                <a:cs typeface="Menlo"/>
              </a:rPr>
              <a:t>const db = await envsync.get("DATABASE_URL");</a:t>
            </a:r>
          </a:p>
        </p:txBody>
      </p:sp>
      <p:sp>
        <p:nvSpPr>
          <p:cNvPr id="26" name="text-127">
            <a:extLst xmlns:a="http://schemas.openxmlformats.org/drawingml/2006/main">
              <a:ext uri="{FF2B5EF4-FFF2-40B4-BE49-F238E27FC236}">
                <a16:creationId xmlns:a16="http://schemas.microsoft.com/office/drawing/2014/main" id="{F1FCB9FB-D688-4EAC-8929-6F62D726EDEA}"/>
              </a:ext>
            </a:extLst>
          </p:cNvPr>
          <p:cNvSpPr>
            <a:spLocks xmlns:a="http://schemas.openxmlformats.org/drawingml/2006/main" noGrp="1"/>
          </p:cNvSpPr>
          <p:nvPr/>
        </p:nvSpPr>
        <p:spPr>
          <a:xfrm xmlns:a="http://schemas.openxmlformats.org/drawingml/2006/main">
            <a:off x="8782050" y="30480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1">
                <a:solidFill>
                  <a:srgbClr val="FAFAF6"/>
                </a:solidFill>
                <a:latin typeface="Menlo"/>
                <a:ea typeface="Menlo"/>
                <a:cs typeface="Menlo"/>
              </a:defRPr>
            </a:pPr>
            <a:r>
              <a:rPr sz="1650" b="1">
                <a:solidFill>
                  <a:srgbClr val="FAFAF6"/>
                </a:solidFill>
                <a:latin typeface="Menlo"/>
                <a:ea typeface="Menlo"/>
                <a:cs typeface="Menlo"/>
              </a:rPr>
              <a:t>APPLICATION</a:t>
            </a:r>
          </a:p>
        </p:txBody>
      </p:sp>
      <p:sp>
        <p:nvSpPr>
          <p:cNvPr id="27" name="text-128">
            <a:extLst xmlns:a="http://schemas.openxmlformats.org/drawingml/2006/main">
              <a:ext uri="{FF2B5EF4-FFF2-40B4-BE49-F238E27FC236}">
                <a16:creationId xmlns:a16="http://schemas.microsoft.com/office/drawing/2014/main" id="{2CB88889-6E7C-45F4-A423-765E8040C36E}"/>
              </a:ext>
            </a:extLst>
          </p:cNvPr>
          <p:cNvSpPr>
            <a:spLocks xmlns:a="http://schemas.openxmlformats.org/drawingml/2006/main" noGrp="1"/>
          </p:cNvSpPr>
          <p:nvPr/>
        </p:nvSpPr>
        <p:spPr>
          <a:xfrm xmlns:a="http://schemas.openxmlformats.org/drawingml/2006/main">
            <a:off x="8801100" y="3371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DCD7FF"/>
                </a:solidFill>
                <a:latin typeface="Arial"/>
                <a:ea typeface="Arial"/>
                <a:cs typeface="Arial"/>
              </a:defRPr>
            </a:pPr>
            <a:r>
              <a:rPr sz="1875" b="0">
                <a:solidFill>
                  <a:srgbClr val="DCD7FF"/>
                </a:solidFill>
                <a:latin typeface="Arial"/>
                <a:ea typeface="Arial"/>
                <a:cs typeface="Arial"/>
              </a:rPr>
              <a:t>↓</a:t>
            </a:r>
          </a:p>
        </p:txBody>
      </p:sp>
      <p:sp>
        <p:nvSpPr>
          <p:cNvPr id="28" name="text-129">
            <a:extLst xmlns:a="http://schemas.openxmlformats.org/drawingml/2006/main">
              <a:ext uri="{FF2B5EF4-FFF2-40B4-BE49-F238E27FC236}">
                <a16:creationId xmlns:a16="http://schemas.microsoft.com/office/drawing/2014/main" id="{C5E15BBA-0B3D-4855-8B5A-2ED70BE529AF}"/>
              </a:ext>
            </a:extLst>
          </p:cNvPr>
          <p:cNvSpPr>
            <a:spLocks xmlns:a="http://schemas.openxmlformats.org/drawingml/2006/main" noGrp="1"/>
          </p:cNvSpPr>
          <p:nvPr/>
        </p:nvSpPr>
        <p:spPr>
          <a:xfrm xmlns:a="http://schemas.openxmlformats.org/drawingml/2006/main">
            <a:off x="8782050" y="37338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1">
                <a:solidFill>
                  <a:srgbClr val="FAFAF6"/>
                </a:solidFill>
                <a:latin typeface="Menlo"/>
                <a:ea typeface="Menlo"/>
                <a:cs typeface="Menlo"/>
              </a:defRPr>
            </a:pPr>
            <a:r>
              <a:rPr sz="1650" b="1">
                <a:solidFill>
                  <a:srgbClr val="FAFAF6"/>
                </a:solidFill>
                <a:latin typeface="Menlo"/>
                <a:ea typeface="Menlo"/>
                <a:cs typeface="Menlo"/>
              </a:rPr>
              <a:t>SCOPED API KEY</a:t>
            </a:r>
          </a:p>
        </p:txBody>
      </p:sp>
      <p:sp>
        <p:nvSpPr>
          <p:cNvPr id="29" name="text-130">
            <a:extLst xmlns:a="http://schemas.openxmlformats.org/drawingml/2006/main">
              <a:ext uri="{FF2B5EF4-FFF2-40B4-BE49-F238E27FC236}">
                <a16:creationId xmlns:a16="http://schemas.microsoft.com/office/drawing/2014/main" id="{29D831C4-F503-4846-A057-A0229E7C7631}"/>
              </a:ext>
            </a:extLst>
          </p:cNvPr>
          <p:cNvSpPr>
            <a:spLocks xmlns:a="http://schemas.openxmlformats.org/drawingml/2006/main" noGrp="1"/>
          </p:cNvSpPr>
          <p:nvPr/>
        </p:nvSpPr>
        <p:spPr>
          <a:xfrm xmlns:a="http://schemas.openxmlformats.org/drawingml/2006/main">
            <a:off x="8801100" y="4057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DCD7FF"/>
                </a:solidFill>
                <a:latin typeface="Arial"/>
                <a:ea typeface="Arial"/>
                <a:cs typeface="Arial"/>
              </a:defRPr>
            </a:pPr>
            <a:r>
              <a:rPr sz="1875" b="0">
                <a:solidFill>
                  <a:srgbClr val="DCD7FF"/>
                </a:solidFill>
                <a:latin typeface="Arial"/>
                <a:ea typeface="Arial"/>
                <a:cs typeface="Arial"/>
              </a:rPr>
              <a:t>↓</a:t>
            </a:r>
          </a:p>
        </p:txBody>
      </p:sp>
      <p:sp>
        <p:nvSpPr>
          <p:cNvPr id="30" name="text-131">
            <a:extLst xmlns:a="http://schemas.openxmlformats.org/drawingml/2006/main">
              <a:ext uri="{FF2B5EF4-FFF2-40B4-BE49-F238E27FC236}">
                <a16:creationId xmlns:a16="http://schemas.microsoft.com/office/drawing/2014/main" id="{7C2EB302-DCAE-466F-943B-48A12B7C3F82}"/>
              </a:ext>
            </a:extLst>
          </p:cNvPr>
          <p:cNvSpPr>
            <a:spLocks xmlns:a="http://schemas.openxmlformats.org/drawingml/2006/main" noGrp="1"/>
          </p:cNvSpPr>
          <p:nvPr/>
        </p:nvSpPr>
        <p:spPr>
          <a:xfrm xmlns:a="http://schemas.openxmlformats.org/drawingml/2006/main">
            <a:off x="8782050" y="44196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1">
                <a:solidFill>
                  <a:srgbClr val="FAFAF6"/>
                </a:solidFill>
                <a:latin typeface="Menlo"/>
                <a:ea typeface="Menlo"/>
                <a:cs typeface="Menlo"/>
              </a:defRPr>
            </a:pPr>
            <a:r>
              <a:rPr sz="1650" b="1">
                <a:solidFill>
                  <a:srgbClr val="FAFAF6"/>
                </a:solidFill>
                <a:latin typeface="Menlo"/>
                <a:ea typeface="Menlo"/>
                <a:cs typeface="Menlo"/>
              </a:rPr>
              <a:t>ENVSYNC / DEV</a:t>
            </a:r>
          </a:p>
        </p:txBody>
      </p:sp>
      <p:sp>
        <p:nvSpPr>
          <p:cNvPr id="31" name="text-132">
            <a:extLst xmlns:a="http://schemas.openxmlformats.org/drawingml/2006/main">
              <a:ext uri="{FF2B5EF4-FFF2-40B4-BE49-F238E27FC236}">
                <a16:creationId xmlns:a16="http://schemas.microsoft.com/office/drawing/2014/main" id="{68DEEEAA-AC6A-4D78-A816-D1FD86AFBE88}"/>
              </a:ext>
            </a:extLst>
          </p:cNvPr>
          <p:cNvSpPr>
            <a:spLocks xmlns:a="http://schemas.openxmlformats.org/drawingml/2006/main" noGrp="1"/>
          </p:cNvSpPr>
          <p:nvPr/>
        </p:nvSpPr>
        <p:spPr>
          <a:xfrm xmlns:a="http://schemas.openxmlformats.org/drawingml/2006/main">
            <a:off x="8801100" y="4743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DCD7FF"/>
                </a:solidFill>
                <a:latin typeface="Arial"/>
                <a:ea typeface="Arial"/>
                <a:cs typeface="Arial"/>
              </a:defRPr>
            </a:pPr>
            <a:r>
              <a:rPr sz="1875" b="0">
                <a:solidFill>
                  <a:srgbClr val="DCD7FF"/>
                </a:solidFill>
                <a:latin typeface="Arial"/>
                <a:ea typeface="Arial"/>
                <a:cs typeface="Arial"/>
              </a:rPr>
              <a:t>↓</a:t>
            </a:r>
          </a:p>
        </p:txBody>
      </p:sp>
      <p:sp>
        <p:nvSpPr>
          <p:cNvPr id="32" name="text-133">
            <a:extLst xmlns:a="http://schemas.openxmlformats.org/drawingml/2006/main">
              <a:ext uri="{FF2B5EF4-FFF2-40B4-BE49-F238E27FC236}">
                <a16:creationId xmlns:a16="http://schemas.microsoft.com/office/drawing/2014/main" id="{FB147DB7-D938-4741-B608-2D8679C4BF54}"/>
              </a:ext>
            </a:extLst>
          </p:cNvPr>
          <p:cNvSpPr>
            <a:spLocks xmlns:a="http://schemas.openxmlformats.org/drawingml/2006/main" noGrp="1"/>
          </p:cNvSpPr>
          <p:nvPr/>
        </p:nvSpPr>
        <p:spPr>
          <a:xfrm xmlns:a="http://schemas.openxmlformats.org/drawingml/2006/main">
            <a:off x="8782050" y="51054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1">
                <a:solidFill>
                  <a:srgbClr val="FAFAF6"/>
                </a:solidFill>
                <a:latin typeface="Menlo"/>
                <a:ea typeface="Menlo"/>
                <a:cs typeface="Menlo"/>
              </a:defRPr>
            </a:pPr>
            <a:r>
              <a:rPr sz="1650" b="1">
                <a:solidFill>
                  <a:srgbClr val="FAFAF6"/>
                </a:solidFill>
                <a:latin typeface="Menlo"/>
                <a:ea typeface="Menlo"/>
                <a:cs typeface="Menlo"/>
              </a:rPr>
              <a:t>DATABASE_URL</a:t>
            </a:r>
          </a:p>
        </p:txBody>
      </p:sp>
      <p:sp>
        <p:nvSpPr>
          <p:cNvPr id="33" name="text-134">
            <a:extLst xmlns:a="http://schemas.openxmlformats.org/drawingml/2006/main">
              <a:ext uri="{FF2B5EF4-FFF2-40B4-BE49-F238E27FC236}">
                <a16:creationId xmlns:a16="http://schemas.microsoft.com/office/drawing/2014/main" id="{C0A9B7C8-7363-460C-B837-0E367B30A479}"/>
              </a:ext>
            </a:extLst>
          </p:cNvPr>
          <p:cNvSpPr>
            <a:spLocks xmlns:a="http://schemas.openxmlformats.org/drawingml/2006/main" noGrp="1"/>
          </p:cNvSpPr>
          <p:nvPr/>
        </p:nvSpPr>
        <p:spPr>
          <a:xfrm xmlns:a="http://schemas.openxmlformats.org/drawingml/2006/main">
            <a:off x="533400" y="5838825"/>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B1B5AC"/>
                </a:solidFill>
                <a:latin typeface="Menlo"/>
                <a:ea typeface="Menlo"/>
                <a:cs typeface="Menlo"/>
              </a:defRPr>
            </a:pPr>
            <a:r>
              <a:rPr sz="1275" b="0">
                <a:solidFill>
                  <a:srgbClr val="B1B5AC"/>
                </a:solidFill>
                <a:latin typeface="Menlo"/>
                <a:ea typeface="Menlo"/>
                <a:cs typeface="Menlo"/>
              </a:rPr>
              <a:t>ALSO IMPLEMENTED: PYTHON / envsync</a:t>
            </a:r>
          </a:p>
        </p:txBody>
      </p:sp>
    </p:spTree>
    <p:extLst>
      <p:ext uri="{BB962C8B-B14F-4D97-AF65-F5344CB8AC3E}">
        <p14:creationId xmlns:p14="http://schemas.microsoft.com/office/powerpoint/2010/main" val="1516176779"/>
      </p:ext>
    </p:extLst>
  </p:cSld>
</p:sld>
</file>

<file path=ppt/slides/slide7.xml><?xml version="1.0" encoding="utf-8"?>
<p:sld xmlns:p="http://schemas.openxmlformats.org/presentationml/2006/main">
  <p:cSld>
    <p:bg>
      <p:bgPr>
        <a:solidFill xmlns:a="http://schemas.openxmlformats.org/drawingml/2006/main">
          <a:srgbClr val="191A1A"/>
        </a:solidFill>
      </p:bgPr>
    </p:bg>
    <p:spTree>
      <p:nvGrpSpPr>
        <p:cNvPr id="1" name=""/>
        <p:cNvGrpSpPr/>
        <p:nvPr/>
      </p:nvGrpSpPr>
      <p:grpSpPr>
        <a:xfrm xmlns:a="http://schemas.openxmlformats.org/drawingml/2006/main"/>
      </p:grpSpPr>
      <p:sp>
        <p:nvSpPr>
          <p:cNvPr id="29" name="text-135">
            <a:extLst xmlns:a="http://schemas.openxmlformats.org/drawingml/2006/main">
              <a:ext uri="{FF2B5EF4-FFF2-40B4-BE49-F238E27FC236}">
                <a16:creationId xmlns:a16="http://schemas.microsoft.com/office/drawing/2014/main" id="{9B1254AA-F98B-43BA-910F-1AC3FCEF4CDB}"/>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B1B5AC"/>
                </a:solidFill>
                <a:latin typeface="Menlo"/>
                <a:ea typeface="Menlo"/>
                <a:cs typeface="Menlo"/>
              </a:defRPr>
            </a:pPr>
            <a:r>
              <a:rPr sz="1275" b="0">
                <a:solidFill>
                  <a:srgbClr val="B1B5AC"/>
                </a:solidFill>
                <a:latin typeface="Menlo"/>
                <a:ea typeface="Menlo"/>
                <a:cs typeface="Menlo"/>
              </a:rPr>
              <a:t>07 / AGENT ACCESS / PREVIEW</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f820fa240164a69">
            <a:extLst>
              <a:ext uri="{96DAC541-7B7A-43D3-8B79-37D633B846F1}">
                <asvg:svgBlip xmlns:asvg="http://schemas.microsoft.com/office/drawing/2016/SVG/main" r:embed="R22aac134302544c4"/>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3" name="shape-136">
            <a:extLst xmlns:a="http://schemas.openxmlformats.org/drawingml/2006/main">
              <a:ext uri="{FF2B5EF4-FFF2-40B4-BE49-F238E27FC236}">
                <a16:creationId xmlns:a16="http://schemas.microsoft.com/office/drawing/2014/main" id="{AD006958-8B9F-4902-83A6-8B3D4BC75F86}"/>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454741"/>
          </a:solidFill>
          <a:ln xmlns:a="http://schemas.openxmlformats.org/drawingml/2006/main" w="0">
            <a:noFill/>
          </a:ln>
        </p:spPr>
      </p:sp>
      <p:sp>
        <p:nvSpPr>
          <p:cNvPr id="4" name="text-137">
            <a:extLst xmlns:a="http://schemas.openxmlformats.org/drawingml/2006/main">
              <a:ext uri="{FF2B5EF4-FFF2-40B4-BE49-F238E27FC236}">
                <a16:creationId xmlns:a16="http://schemas.microsoft.com/office/drawing/2014/main" id="{A329732C-0DE8-4BB1-B214-DA2F5363FDB7}"/>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B1B5AC"/>
                </a:solidFill>
                <a:latin typeface="Menlo"/>
                <a:ea typeface="Menlo"/>
                <a:cs typeface="Menlo"/>
              </a:defRPr>
            </a:pPr>
            <a:r>
              <a:rPr sz="1275" b="0">
                <a:solidFill>
                  <a:srgbClr val="B1B5AC"/>
                </a:solidFill>
                <a:latin typeface="Menlo"/>
                <a:ea typeface="Menlo"/>
                <a:cs typeface="Menlo"/>
              </a:rPr>
              <a:t>ENVSYNC / SELF-HOSTED SECRETS</a:t>
            </a:r>
          </a:p>
        </p:txBody>
      </p:sp>
      <p:sp>
        <p:nvSpPr>
          <p:cNvPr id="5" name="text-138">
            <a:extLst xmlns:a="http://schemas.openxmlformats.org/drawingml/2006/main">
              <a:ext uri="{FF2B5EF4-FFF2-40B4-BE49-F238E27FC236}">
                <a16:creationId xmlns:a16="http://schemas.microsoft.com/office/drawing/2014/main" id="{9F2A8149-5613-4E39-B666-10128DE86C07}"/>
              </a:ext>
            </a:extLst>
          </p:cNvPr>
          <p:cNvSpPr>
            <a:spLocks xmlns:a="http://schemas.openxmlformats.org/drawingml/2006/main" noGrp="1"/>
          </p:cNvSpPr>
          <p:nvPr/>
        </p:nvSpPr>
        <p:spPr>
          <a:xfrm xmlns:a="http://schemas.openxmlformats.org/drawingml/2006/main">
            <a:off x="11144250" y="644842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1B5AC"/>
                </a:solidFill>
                <a:latin typeface="Menlo"/>
                <a:ea typeface="Menlo"/>
                <a:cs typeface="Menlo"/>
              </a:defRPr>
            </a:pPr>
            <a:r>
              <a:rPr sz="1350" b="0">
                <a:solidFill>
                  <a:srgbClr val="B1B5AC"/>
                </a:solidFill>
                <a:latin typeface="Menlo"/>
                <a:ea typeface="Menlo"/>
                <a:cs typeface="Menlo"/>
              </a:rPr>
              <a:t>07</a:t>
            </a:r>
          </a:p>
        </p:txBody>
      </p:sp>
      <p:sp>
        <p:nvSpPr>
          <p:cNvPr id="6" name="text-139">
            <a:extLst xmlns:a="http://schemas.openxmlformats.org/drawingml/2006/main">
              <a:ext uri="{FF2B5EF4-FFF2-40B4-BE49-F238E27FC236}">
                <a16:creationId xmlns:a16="http://schemas.microsoft.com/office/drawing/2014/main" id="{84135358-4272-41F0-9C05-F845D88BC71A}"/>
              </a:ext>
            </a:extLst>
          </p:cNvPr>
          <p:cNvSpPr>
            <a:spLocks xmlns:a="http://schemas.openxmlformats.org/drawingml/2006/main" noGrp="1"/>
          </p:cNvSpPr>
          <p:nvPr/>
        </p:nvSpPr>
        <p:spPr>
          <a:xfrm xmlns:a="http://schemas.openxmlformats.org/drawingml/2006/main">
            <a:off x="533400" y="942975"/>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200" b="1">
                <a:solidFill>
                  <a:srgbClr val="FAFAF6"/>
                </a:solidFill>
                <a:latin typeface="Arial"/>
                <a:ea typeface="Arial"/>
                <a:cs typeface="Arial"/>
              </a:defRPr>
            </a:pPr>
            <a:r>
              <a:rPr sz="4200" b="1">
                <a:solidFill>
                  <a:srgbClr val="FAFAF6"/>
                </a:solidFill>
                <a:latin typeface="Arial"/>
                <a:ea typeface="Arial"/>
                <a:cs typeface="Arial"/>
              </a:rPr>
              <a:t>Give your agents a workspace.</a:t>
            </a:r>
          </a:p>
        </p:txBody>
      </p:sp>
      <p:sp>
        <p:nvSpPr>
          <p:cNvPr id="7" name="text-140">
            <a:extLst xmlns:a="http://schemas.openxmlformats.org/drawingml/2006/main">
              <a:ext uri="{FF2B5EF4-FFF2-40B4-BE49-F238E27FC236}">
                <a16:creationId xmlns:a16="http://schemas.microsoft.com/office/drawing/2014/main" id="{F71166DC-F33F-467F-B1FC-0FFFE097F7AF}"/>
              </a:ext>
            </a:extLst>
          </p:cNvPr>
          <p:cNvSpPr>
            <a:spLocks xmlns:a="http://schemas.openxmlformats.org/drawingml/2006/main" noGrp="1"/>
          </p:cNvSpPr>
          <p:nvPr/>
        </p:nvSpPr>
        <p:spPr>
          <a:xfrm xmlns:a="http://schemas.openxmlformats.org/drawingml/2006/main">
            <a:off x="533400" y="156210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200" b="1">
                <a:solidFill>
                  <a:srgbClr val="FAFAF6"/>
                </a:solidFill>
                <a:latin typeface="Arial"/>
                <a:ea typeface="Arial"/>
                <a:cs typeface="Arial"/>
              </a:defRPr>
            </a:pPr>
            <a:r>
              <a:rPr sz="4200" b="1">
                <a:solidFill>
                  <a:srgbClr val="FAFAF6"/>
                </a:solidFill>
                <a:latin typeface="Arial"/>
                <a:ea typeface="Arial"/>
                <a:cs typeface="Arial"/>
              </a:rPr>
              <a:t>Not your entire vault.</a:t>
            </a:r>
          </a:p>
        </p:txBody>
      </p:sp>
      <p:sp>
        <p:nvSpPr>
          <p:cNvPr id="8" name="shape-141">
            <a:extLst xmlns:a="http://schemas.openxmlformats.org/drawingml/2006/main">
              <a:ext uri="{FF2B5EF4-FFF2-40B4-BE49-F238E27FC236}">
                <a16:creationId xmlns:a16="http://schemas.microsoft.com/office/drawing/2014/main" id="{DDA7F8FE-2975-46C5-A25F-9265484E26A0}"/>
              </a:ext>
            </a:extLst>
          </p:cNvPr>
          <p:cNvSpPr>
            <a:spLocks xmlns:a="http://schemas.openxmlformats.org/drawingml/2006/main" noGrp="1"/>
          </p:cNvSpPr>
          <p:nvPr/>
        </p:nvSpPr>
        <p:spPr>
          <a:xfrm xmlns:a="http://schemas.openxmlformats.org/drawingml/2006/main">
            <a:off x="533400" y="2543175"/>
            <a:ext cx="3190875" cy="638175"/>
          </a:xfrm>
          <a:prstGeom xmlns:a="http://schemas.openxmlformats.org/drawingml/2006/main" prst="rect">
            <a:avLst/>
          </a:prstGeom>
          <a:solidFill xmlns:a="http://schemas.openxmlformats.org/drawingml/2006/main">
            <a:srgbClr val="191A1A"/>
          </a:solidFill>
          <a:ln xmlns:a="http://schemas.openxmlformats.org/drawingml/2006/main" w="9525">
            <a:solidFill>
              <a:srgbClr val="454741"/>
            </a:solidFill>
          </a:ln>
        </p:spPr>
      </p:sp>
      <p:sp>
        <p:nvSpPr>
          <p:cNvPr id="9" name="text-142">
            <a:extLst xmlns:a="http://schemas.openxmlformats.org/drawingml/2006/main">
              <a:ext uri="{FF2B5EF4-FFF2-40B4-BE49-F238E27FC236}">
                <a16:creationId xmlns:a16="http://schemas.microsoft.com/office/drawing/2014/main" id="{5FDCE36E-F766-45F7-9DF8-8CCFFC249691}"/>
              </a:ext>
            </a:extLst>
          </p:cNvPr>
          <p:cNvSpPr>
            <a:spLocks xmlns:a="http://schemas.openxmlformats.org/drawingml/2006/main" noGrp="1"/>
          </p:cNvSpPr>
          <p:nvPr/>
        </p:nvSpPr>
        <p:spPr>
          <a:xfrm xmlns:a="http://schemas.openxmlformats.org/drawingml/2006/main">
            <a:off x="704850" y="2705100"/>
            <a:ext cx="2847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FAFAF6"/>
                </a:solidFill>
                <a:latin typeface="Arial"/>
                <a:ea typeface="Arial"/>
                <a:cs typeface="Arial"/>
              </a:defRPr>
            </a:pPr>
            <a:r>
              <a:rPr sz="1800" b="1">
                <a:solidFill>
                  <a:srgbClr val="FAFAF6"/>
                </a:solidFill>
                <a:latin typeface="Arial"/>
                <a:ea typeface="Arial"/>
                <a:cs typeface="Arial"/>
              </a:rPr>
              <a:t>CONNECT</a:t>
            </a:r>
          </a:p>
        </p:txBody>
      </p:sp>
      <p:sp>
        <p:nvSpPr>
          <p:cNvPr id="10" name="text-143">
            <a:extLst xmlns:a="http://schemas.openxmlformats.org/drawingml/2006/main">
              <a:ext uri="{FF2B5EF4-FFF2-40B4-BE49-F238E27FC236}">
                <a16:creationId xmlns:a16="http://schemas.microsoft.com/office/drawing/2014/main" id="{FD493BDA-2B96-4DE7-A18E-6294356FB260}"/>
              </a:ext>
            </a:extLst>
          </p:cNvPr>
          <p:cNvSpPr>
            <a:spLocks xmlns:a="http://schemas.openxmlformats.org/drawingml/2006/main" noGrp="1"/>
          </p:cNvSpPr>
          <p:nvPr/>
        </p:nvSpPr>
        <p:spPr>
          <a:xfrm xmlns:a="http://schemas.openxmlformats.org/drawingml/2006/main">
            <a:off x="3886200" y="2638425"/>
            <a:ext cx="333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DCD7FF"/>
                </a:solidFill>
                <a:latin typeface="Arial"/>
                <a:ea typeface="Arial"/>
                <a:cs typeface="Arial"/>
              </a:defRPr>
            </a:pPr>
            <a:r>
              <a:rPr sz="2550" b="0">
                <a:solidFill>
                  <a:srgbClr val="DCD7FF"/>
                </a:solidFill>
                <a:latin typeface="Arial"/>
                <a:ea typeface="Arial"/>
                <a:cs typeface="Arial"/>
              </a:rPr>
              <a:t>→</a:t>
            </a:r>
          </a:p>
        </p:txBody>
      </p:sp>
      <p:sp>
        <p:nvSpPr>
          <p:cNvPr id="11" name="shape-144">
            <a:extLst xmlns:a="http://schemas.openxmlformats.org/drawingml/2006/main">
              <a:ext uri="{FF2B5EF4-FFF2-40B4-BE49-F238E27FC236}">
                <a16:creationId xmlns:a16="http://schemas.microsoft.com/office/drawing/2014/main" id="{D013AB83-8732-4243-879A-F2EDD3976BFE}"/>
              </a:ext>
            </a:extLst>
          </p:cNvPr>
          <p:cNvSpPr>
            <a:spLocks xmlns:a="http://schemas.openxmlformats.org/drawingml/2006/main" noGrp="1"/>
          </p:cNvSpPr>
          <p:nvPr/>
        </p:nvSpPr>
        <p:spPr>
          <a:xfrm xmlns:a="http://schemas.openxmlformats.org/drawingml/2006/main">
            <a:off x="4210050" y="2543175"/>
            <a:ext cx="3190875" cy="638175"/>
          </a:xfrm>
          <a:prstGeom xmlns:a="http://schemas.openxmlformats.org/drawingml/2006/main" prst="rect">
            <a:avLst/>
          </a:prstGeom>
          <a:solidFill xmlns:a="http://schemas.openxmlformats.org/drawingml/2006/main">
            <a:srgbClr val="191A1A"/>
          </a:solidFill>
          <a:ln xmlns:a="http://schemas.openxmlformats.org/drawingml/2006/main" w="9525">
            <a:solidFill>
              <a:srgbClr val="454741"/>
            </a:solidFill>
          </a:ln>
        </p:spPr>
      </p:sp>
      <p:sp>
        <p:nvSpPr>
          <p:cNvPr id="12" name="text-145">
            <a:extLst xmlns:a="http://schemas.openxmlformats.org/drawingml/2006/main">
              <a:ext uri="{FF2B5EF4-FFF2-40B4-BE49-F238E27FC236}">
                <a16:creationId xmlns:a16="http://schemas.microsoft.com/office/drawing/2014/main" id="{64D13140-B9CC-4FC4-A50A-71C6AD8BAB35}"/>
              </a:ext>
            </a:extLst>
          </p:cNvPr>
          <p:cNvSpPr>
            <a:spLocks xmlns:a="http://schemas.openxmlformats.org/drawingml/2006/main" noGrp="1"/>
          </p:cNvSpPr>
          <p:nvPr/>
        </p:nvSpPr>
        <p:spPr>
          <a:xfrm xmlns:a="http://schemas.openxmlformats.org/drawingml/2006/main">
            <a:off x="4381500" y="2705100"/>
            <a:ext cx="2847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FAFAF6"/>
                </a:solidFill>
                <a:latin typeface="Arial"/>
                <a:ea typeface="Arial"/>
                <a:cs typeface="Arial"/>
              </a:defRPr>
            </a:pPr>
            <a:r>
              <a:rPr sz="1800" b="1">
                <a:solidFill>
                  <a:srgbClr val="FAFAF6"/>
                </a:solidFill>
                <a:latin typeface="Arial"/>
                <a:ea typeface="Arial"/>
                <a:cs typeface="Arial"/>
              </a:rPr>
              <a:t>PENDING</a:t>
            </a:r>
          </a:p>
        </p:txBody>
      </p:sp>
      <p:sp>
        <p:nvSpPr>
          <p:cNvPr id="13" name="text-146">
            <a:extLst xmlns:a="http://schemas.openxmlformats.org/drawingml/2006/main">
              <a:ext uri="{FF2B5EF4-FFF2-40B4-BE49-F238E27FC236}">
                <a16:creationId xmlns:a16="http://schemas.microsoft.com/office/drawing/2014/main" id="{8EE1FBCB-7B26-44B2-934E-95EE22BD85D6}"/>
              </a:ext>
            </a:extLst>
          </p:cNvPr>
          <p:cNvSpPr>
            <a:spLocks xmlns:a="http://schemas.openxmlformats.org/drawingml/2006/main" noGrp="1"/>
          </p:cNvSpPr>
          <p:nvPr/>
        </p:nvSpPr>
        <p:spPr>
          <a:xfrm xmlns:a="http://schemas.openxmlformats.org/drawingml/2006/main">
            <a:off x="7562850" y="2638425"/>
            <a:ext cx="333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DCD7FF"/>
                </a:solidFill>
                <a:latin typeface="Arial"/>
                <a:ea typeface="Arial"/>
                <a:cs typeface="Arial"/>
              </a:defRPr>
            </a:pPr>
            <a:r>
              <a:rPr sz="2550" b="0">
                <a:solidFill>
                  <a:srgbClr val="DCD7FF"/>
                </a:solidFill>
                <a:latin typeface="Arial"/>
                <a:ea typeface="Arial"/>
                <a:cs typeface="Arial"/>
              </a:rPr>
              <a:t>→</a:t>
            </a:r>
          </a:p>
        </p:txBody>
      </p:sp>
      <p:sp>
        <p:nvSpPr>
          <p:cNvPr id="14" name="shape-147">
            <a:extLst xmlns:a="http://schemas.openxmlformats.org/drawingml/2006/main">
              <a:ext uri="{FF2B5EF4-FFF2-40B4-BE49-F238E27FC236}">
                <a16:creationId xmlns:a16="http://schemas.microsoft.com/office/drawing/2014/main" id="{5E395952-01EE-4BCB-8980-0DC106F8F76D}"/>
              </a:ext>
            </a:extLst>
          </p:cNvPr>
          <p:cNvSpPr>
            <a:spLocks xmlns:a="http://schemas.openxmlformats.org/drawingml/2006/main" noGrp="1"/>
          </p:cNvSpPr>
          <p:nvPr/>
        </p:nvSpPr>
        <p:spPr>
          <a:xfrm xmlns:a="http://schemas.openxmlformats.org/drawingml/2006/main">
            <a:off x="7886700" y="2543175"/>
            <a:ext cx="3190875" cy="638175"/>
          </a:xfrm>
          <a:prstGeom xmlns:a="http://schemas.openxmlformats.org/drawingml/2006/main" prst="rect">
            <a:avLst/>
          </a:prstGeom>
          <a:solidFill xmlns:a="http://schemas.openxmlformats.org/drawingml/2006/main">
            <a:srgbClr val="6D5EF4"/>
          </a:solidFill>
          <a:ln xmlns:a="http://schemas.openxmlformats.org/drawingml/2006/main" w="9525">
            <a:solidFill>
              <a:srgbClr val="6D5EF4"/>
            </a:solidFill>
          </a:ln>
        </p:spPr>
      </p:sp>
      <p:sp>
        <p:nvSpPr>
          <p:cNvPr id="15" name="text-148">
            <a:extLst xmlns:a="http://schemas.openxmlformats.org/drawingml/2006/main">
              <a:ext uri="{FF2B5EF4-FFF2-40B4-BE49-F238E27FC236}">
                <a16:creationId xmlns:a16="http://schemas.microsoft.com/office/drawing/2014/main" id="{A0D155DD-358F-4B79-BA85-22C71AE3B67E}"/>
              </a:ext>
            </a:extLst>
          </p:cNvPr>
          <p:cNvSpPr>
            <a:spLocks xmlns:a="http://schemas.openxmlformats.org/drawingml/2006/main" noGrp="1"/>
          </p:cNvSpPr>
          <p:nvPr/>
        </p:nvSpPr>
        <p:spPr>
          <a:xfrm xmlns:a="http://schemas.openxmlformats.org/drawingml/2006/main">
            <a:off x="8058150" y="2705100"/>
            <a:ext cx="2847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FAFAF6"/>
                </a:solidFill>
                <a:latin typeface="Arial"/>
                <a:ea typeface="Arial"/>
                <a:cs typeface="Arial"/>
              </a:defRPr>
            </a:pPr>
            <a:r>
              <a:rPr sz="1800" b="1">
                <a:solidFill>
                  <a:srgbClr val="FAFAF6"/>
                </a:solidFill>
                <a:latin typeface="Arial"/>
                <a:ea typeface="Arial"/>
                <a:cs typeface="Arial"/>
              </a:rPr>
              <a:t>HUMAN APPROVAL</a:t>
            </a:r>
          </a:p>
        </p:txBody>
      </p:sp>
      <p:sp>
        <p:nvSpPr>
          <p:cNvPr id="16" name="text-149">
            <a:extLst xmlns:a="http://schemas.openxmlformats.org/drawingml/2006/main">
              <a:ext uri="{FF2B5EF4-FFF2-40B4-BE49-F238E27FC236}">
                <a16:creationId xmlns:a16="http://schemas.microsoft.com/office/drawing/2014/main" id="{4F5B855A-8F35-43EE-9CB4-D73CB950C00E}"/>
              </a:ext>
            </a:extLst>
          </p:cNvPr>
          <p:cNvSpPr>
            <a:spLocks xmlns:a="http://schemas.openxmlformats.org/drawingml/2006/main" noGrp="1"/>
          </p:cNvSpPr>
          <p:nvPr/>
        </p:nvSpPr>
        <p:spPr>
          <a:xfrm xmlns:a="http://schemas.openxmlformats.org/drawingml/2006/main">
            <a:off x="533400" y="35528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B1B5AC"/>
                </a:solidFill>
                <a:latin typeface="Menlo"/>
                <a:ea typeface="Menlo"/>
                <a:cs typeface="Menlo"/>
              </a:defRPr>
            </a:pPr>
            <a:r>
              <a:rPr sz="1275" b="0">
                <a:solidFill>
                  <a:srgbClr val="B1B5AC"/>
                </a:solidFill>
                <a:latin typeface="Menlo"/>
                <a:ea typeface="Menlo"/>
                <a:cs typeface="Menlo"/>
              </a:rPr>
              <a:t>BACKEND CODING AGENT / MCP</a:t>
            </a:r>
          </a:p>
        </p:txBody>
      </p:sp>
      <p:sp>
        <p:nvSpPr>
          <p:cNvPr id="17" name="shape-150">
            <a:extLst xmlns:a="http://schemas.openxmlformats.org/drawingml/2006/main">
              <a:ext uri="{FF2B5EF4-FFF2-40B4-BE49-F238E27FC236}">
                <a16:creationId xmlns:a16="http://schemas.microsoft.com/office/drawing/2014/main" id="{BE378C79-FE77-4997-8F14-76B91738D78F}"/>
              </a:ext>
            </a:extLst>
          </p:cNvPr>
          <p:cNvSpPr>
            <a:spLocks xmlns:a="http://schemas.openxmlformats.org/drawingml/2006/main" noGrp="1"/>
          </p:cNvSpPr>
          <p:nvPr/>
        </p:nvSpPr>
        <p:spPr>
          <a:xfrm xmlns:a="http://schemas.openxmlformats.org/drawingml/2006/main">
            <a:off x="533400" y="3933825"/>
            <a:ext cx="11125200" cy="9525"/>
          </a:xfrm>
          <a:prstGeom xmlns:a="http://schemas.openxmlformats.org/drawingml/2006/main" prst="rect">
            <a:avLst/>
          </a:prstGeom>
          <a:solidFill xmlns:a="http://schemas.openxmlformats.org/drawingml/2006/main">
            <a:srgbClr val="454741"/>
          </a:solidFill>
          <a:ln xmlns:a="http://schemas.openxmlformats.org/drawingml/2006/main" w="0">
            <a:noFill/>
          </a:ln>
        </p:spPr>
      </p:sp>
      <p:sp>
        <p:nvSpPr>
          <p:cNvPr id="18" name="text-151">
            <a:extLst xmlns:a="http://schemas.openxmlformats.org/drawingml/2006/main">
              <a:ext uri="{FF2B5EF4-FFF2-40B4-BE49-F238E27FC236}">
                <a16:creationId xmlns:a16="http://schemas.microsoft.com/office/drawing/2014/main" id="{B31B6922-20A2-4878-9A05-61DF2B04D58B}"/>
              </a:ext>
            </a:extLst>
          </p:cNvPr>
          <p:cNvSpPr>
            <a:spLocks xmlns:a="http://schemas.openxmlformats.org/drawingml/2006/main" noGrp="1"/>
          </p:cNvSpPr>
          <p:nvPr/>
        </p:nvSpPr>
        <p:spPr>
          <a:xfrm xmlns:a="http://schemas.openxmlformats.org/drawingml/2006/main">
            <a:off x="533400" y="4048125"/>
            <a:ext cx="3905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1">
                <a:solidFill>
                  <a:srgbClr val="FAFAF6"/>
                </a:solidFill>
                <a:latin typeface="Arial"/>
                <a:ea typeface="Arial"/>
                <a:cs typeface="Arial"/>
              </a:defRPr>
            </a:pPr>
            <a:r>
              <a:rPr sz="2025" b="1">
                <a:solidFill>
                  <a:srgbClr val="FAFAF6"/>
                </a:solidFill>
                <a:latin typeface="Arial"/>
                <a:ea typeface="Arial"/>
                <a:cs typeface="Arial"/>
              </a:rPr>
              <a:t>DEVELOPMENT</a:t>
            </a:r>
          </a:p>
        </p:txBody>
      </p:sp>
      <p:sp>
        <p:nvSpPr>
          <p:cNvPr id="19" name="text-152">
            <a:extLst xmlns:a="http://schemas.openxmlformats.org/drawingml/2006/main">
              <a:ext uri="{FF2B5EF4-FFF2-40B4-BE49-F238E27FC236}">
                <a16:creationId xmlns:a16="http://schemas.microsoft.com/office/drawing/2014/main" id="{86F440ED-E59E-46FB-BEB4-B007D7D17657}"/>
              </a:ext>
            </a:extLst>
          </p:cNvPr>
          <p:cNvSpPr>
            <a:spLocks xmlns:a="http://schemas.openxmlformats.org/drawingml/2006/main" noGrp="1"/>
          </p:cNvSpPr>
          <p:nvPr/>
        </p:nvSpPr>
        <p:spPr>
          <a:xfrm xmlns:a="http://schemas.openxmlformats.org/drawingml/2006/main">
            <a:off x="4667250" y="4076700"/>
            <a:ext cx="314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DCD7FF"/>
                </a:solidFill>
                <a:latin typeface="Menlo"/>
                <a:ea typeface="Menlo"/>
                <a:cs typeface="Menlo"/>
              </a:defRPr>
            </a:pPr>
            <a:r>
              <a:rPr sz="1725" b="0">
                <a:solidFill>
                  <a:srgbClr val="DCD7FF"/>
                </a:solidFill>
                <a:latin typeface="Menlo"/>
                <a:ea typeface="Menlo"/>
                <a:cs typeface="Menlo"/>
              </a:rPr>
              <a:t>READ + WRITE</a:t>
            </a:r>
          </a:p>
        </p:txBody>
      </p:sp>
      <p:sp>
        <p:nvSpPr>
          <p:cNvPr id="20" name="text-153">
            <a:extLst xmlns:a="http://schemas.openxmlformats.org/drawingml/2006/main">
              <a:ext uri="{FF2B5EF4-FFF2-40B4-BE49-F238E27FC236}">
                <a16:creationId xmlns:a16="http://schemas.microsoft.com/office/drawing/2014/main" id="{6F9FC7C0-5AA8-4751-9B9B-6A81DBC042D8}"/>
              </a:ext>
            </a:extLst>
          </p:cNvPr>
          <p:cNvSpPr>
            <a:spLocks xmlns:a="http://schemas.openxmlformats.org/drawingml/2006/main" noGrp="1"/>
          </p:cNvSpPr>
          <p:nvPr/>
        </p:nvSpPr>
        <p:spPr>
          <a:xfrm xmlns:a="http://schemas.openxmlformats.org/drawingml/2006/main">
            <a:off x="8905875" y="401955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DCD7FF"/>
                </a:solidFill>
                <a:latin typeface="Menlo"/>
                <a:ea typeface="Menlo"/>
                <a:cs typeface="Menlo"/>
              </a:defRPr>
            </a:pPr>
            <a:r>
              <a:rPr sz="2175" b="0">
                <a:solidFill>
                  <a:srgbClr val="DCD7FF"/>
                </a:solidFill>
                <a:latin typeface="Menlo"/>
                <a:ea typeface="Menlo"/>
                <a:cs typeface="Menlo"/>
              </a:rPr>
              <a:t>03 : 42 : 18</a:t>
            </a:r>
          </a:p>
        </p:txBody>
      </p:sp>
      <p:sp>
        <p:nvSpPr>
          <p:cNvPr id="21" name="shape-154">
            <a:extLst xmlns:a="http://schemas.openxmlformats.org/drawingml/2006/main">
              <a:ext uri="{FF2B5EF4-FFF2-40B4-BE49-F238E27FC236}">
                <a16:creationId xmlns:a16="http://schemas.microsoft.com/office/drawing/2014/main" id="{F8796EFF-950B-4E3D-9C50-B99052CCDD8D}"/>
              </a:ext>
            </a:extLst>
          </p:cNvPr>
          <p:cNvSpPr>
            <a:spLocks xmlns:a="http://schemas.openxmlformats.org/drawingml/2006/main" noGrp="1"/>
          </p:cNvSpPr>
          <p:nvPr/>
        </p:nvSpPr>
        <p:spPr>
          <a:xfrm xmlns:a="http://schemas.openxmlformats.org/drawingml/2006/main">
            <a:off x="533400" y="4543425"/>
            <a:ext cx="11125200" cy="9525"/>
          </a:xfrm>
          <a:prstGeom xmlns:a="http://schemas.openxmlformats.org/drawingml/2006/main" prst="rect">
            <a:avLst/>
          </a:prstGeom>
          <a:solidFill xmlns:a="http://schemas.openxmlformats.org/drawingml/2006/main">
            <a:srgbClr val="454741"/>
          </a:solidFill>
          <a:ln xmlns:a="http://schemas.openxmlformats.org/drawingml/2006/main" w="0">
            <a:noFill/>
          </a:ln>
        </p:spPr>
      </p:sp>
      <p:sp>
        <p:nvSpPr>
          <p:cNvPr id="22" name="text-155">
            <a:extLst xmlns:a="http://schemas.openxmlformats.org/drawingml/2006/main">
              <a:ext uri="{FF2B5EF4-FFF2-40B4-BE49-F238E27FC236}">
                <a16:creationId xmlns:a16="http://schemas.microsoft.com/office/drawing/2014/main" id="{AA833A12-8A26-41B3-911D-80E18B010523}"/>
              </a:ext>
            </a:extLst>
          </p:cNvPr>
          <p:cNvSpPr>
            <a:spLocks xmlns:a="http://schemas.openxmlformats.org/drawingml/2006/main" noGrp="1"/>
          </p:cNvSpPr>
          <p:nvPr/>
        </p:nvSpPr>
        <p:spPr>
          <a:xfrm xmlns:a="http://schemas.openxmlformats.org/drawingml/2006/main">
            <a:off x="533400" y="4657725"/>
            <a:ext cx="3905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1">
                <a:solidFill>
                  <a:srgbClr val="FAFAF6"/>
                </a:solidFill>
                <a:latin typeface="Arial"/>
                <a:ea typeface="Arial"/>
                <a:cs typeface="Arial"/>
              </a:defRPr>
            </a:pPr>
            <a:r>
              <a:rPr sz="2025" b="1">
                <a:solidFill>
                  <a:srgbClr val="FAFAF6"/>
                </a:solidFill>
                <a:latin typeface="Arial"/>
                <a:ea typeface="Arial"/>
                <a:cs typeface="Arial"/>
              </a:rPr>
              <a:t>TESTING</a:t>
            </a:r>
          </a:p>
        </p:txBody>
      </p:sp>
      <p:sp>
        <p:nvSpPr>
          <p:cNvPr id="23" name="text-156">
            <a:extLst xmlns:a="http://schemas.openxmlformats.org/drawingml/2006/main">
              <a:ext uri="{FF2B5EF4-FFF2-40B4-BE49-F238E27FC236}">
                <a16:creationId xmlns:a16="http://schemas.microsoft.com/office/drawing/2014/main" id="{3B28C98D-867E-4A5E-96B5-B9CFD60BE9AD}"/>
              </a:ext>
            </a:extLst>
          </p:cNvPr>
          <p:cNvSpPr>
            <a:spLocks xmlns:a="http://schemas.openxmlformats.org/drawingml/2006/main" noGrp="1"/>
          </p:cNvSpPr>
          <p:nvPr/>
        </p:nvSpPr>
        <p:spPr>
          <a:xfrm xmlns:a="http://schemas.openxmlformats.org/drawingml/2006/main">
            <a:off x="4667250" y="4686300"/>
            <a:ext cx="314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FAFAF6"/>
                </a:solidFill>
                <a:latin typeface="Menlo"/>
                <a:ea typeface="Menlo"/>
                <a:cs typeface="Menlo"/>
              </a:defRPr>
            </a:pPr>
            <a:r>
              <a:rPr sz="1725" b="0">
                <a:solidFill>
                  <a:srgbClr val="FAFAF6"/>
                </a:solidFill>
                <a:latin typeface="Menlo"/>
                <a:ea typeface="Menlo"/>
                <a:cs typeface="Menlo"/>
              </a:rPr>
              <a:t>READ</a:t>
            </a:r>
          </a:p>
        </p:txBody>
      </p:sp>
      <p:sp>
        <p:nvSpPr>
          <p:cNvPr id="24" name="text-157">
            <a:extLst xmlns:a="http://schemas.openxmlformats.org/drawingml/2006/main">
              <a:ext uri="{FF2B5EF4-FFF2-40B4-BE49-F238E27FC236}">
                <a16:creationId xmlns:a16="http://schemas.microsoft.com/office/drawing/2014/main" id="{6398D578-4826-45F8-B08D-DCBCC4A0A283}"/>
              </a:ext>
            </a:extLst>
          </p:cNvPr>
          <p:cNvSpPr>
            <a:spLocks xmlns:a="http://schemas.openxmlformats.org/drawingml/2006/main" noGrp="1"/>
          </p:cNvSpPr>
          <p:nvPr/>
        </p:nvSpPr>
        <p:spPr>
          <a:xfrm xmlns:a="http://schemas.openxmlformats.org/drawingml/2006/main">
            <a:off x="8905875" y="462915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FAFAF6"/>
                </a:solidFill>
                <a:latin typeface="Menlo"/>
                <a:ea typeface="Menlo"/>
                <a:cs typeface="Menlo"/>
              </a:defRPr>
            </a:pPr>
            <a:r>
              <a:rPr sz="2175" b="0">
                <a:solidFill>
                  <a:srgbClr val="FAFAF6"/>
                </a:solidFill>
                <a:latin typeface="Menlo"/>
                <a:ea typeface="Menlo"/>
                <a:cs typeface="Menlo"/>
              </a:rPr>
              <a:t>23 : 42 : 18</a:t>
            </a:r>
          </a:p>
        </p:txBody>
      </p:sp>
      <p:sp>
        <p:nvSpPr>
          <p:cNvPr id="25" name="shape-158">
            <a:extLst xmlns:a="http://schemas.openxmlformats.org/drawingml/2006/main">
              <a:ext uri="{FF2B5EF4-FFF2-40B4-BE49-F238E27FC236}">
                <a16:creationId xmlns:a16="http://schemas.microsoft.com/office/drawing/2014/main" id="{9D8C5E3E-2101-4D2D-A3F2-EBFF995512E8}"/>
              </a:ext>
            </a:extLst>
          </p:cNvPr>
          <p:cNvSpPr>
            <a:spLocks xmlns:a="http://schemas.openxmlformats.org/drawingml/2006/main" noGrp="1"/>
          </p:cNvSpPr>
          <p:nvPr/>
        </p:nvSpPr>
        <p:spPr>
          <a:xfrm xmlns:a="http://schemas.openxmlformats.org/drawingml/2006/main">
            <a:off x="533400" y="5153025"/>
            <a:ext cx="11125200" cy="9525"/>
          </a:xfrm>
          <a:prstGeom xmlns:a="http://schemas.openxmlformats.org/drawingml/2006/main" prst="rect">
            <a:avLst/>
          </a:prstGeom>
          <a:solidFill xmlns:a="http://schemas.openxmlformats.org/drawingml/2006/main">
            <a:srgbClr val="454741"/>
          </a:solidFill>
          <a:ln xmlns:a="http://schemas.openxmlformats.org/drawingml/2006/main" w="0">
            <a:noFill/>
          </a:ln>
        </p:spPr>
      </p:sp>
      <p:sp>
        <p:nvSpPr>
          <p:cNvPr id="26" name="text-159">
            <a:extLst xmlns:a="http://schemas.openxmlformats.org/drawingml/2006/main">
              <a:ext uri="{FF2B5EF4-FFF2-40B4-BE49-F238E27FC236}">
                <a16:creationId xmlns:a16="http://schemas.microsoft.com/office/drawing/2014/main" id="{88B1FBB2-6700-47AA-8A0D-70DE2B57D547}"/>
              </a:ext>
            </a:extLst>
          </p:cNvPr>
          <p:cNvSpPr>
            <a:spLocks xmlns:a="http://schemas.openxmlformats.org/drawingml/2006/main" noGrp="1"/>
          </p:cNvSpPr>
          <p:nvPr/>
        </p:nvSpPr>
        <p:spPr>
          <a:xfrm xmlns:a="http://schemas.openxmlformats.org/drawingml/2006/main">
            <a:off x="533400" y="5267325"/>
            <a:ext cx="3905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1">
                <a:solidFill>
                  <a:srgbClr val="FAFAF6"/>
                </a:solidFill>
                <a:latin typeface="Arial"/>
                <a:ea typeface="Arial"/>
                <a:cs typeface="Arial"/>
              </a:defRPr>
            </a:pPr>
            <a:r>
              <a:rPr sz="2025" b="1">
                <a:solidFill>
                  <a:srgbClr val="FAFAF6"/>
                </a:solidFill>
                <a:latin typeface="Arial"/>
                <a:ea typeface="Arial"/>
                <a:cs typeface="Arial"/>
              </a:rPr>
              <a:t>PRODUCTION</a:t>
            </a:r>
          </a:p>
        </p:txBody>
      </p:sp>
      <p:sp>
        <p:nvSpPr>
          <p:cNvPr id="27" name="text-160">
            <a:extLst xmlns:a="http://schemas.openxmlformats.org/drawingml/2006/main">
              <a:ext uri="{FF2B5EF4-FFF2-40B4-BE49-F238E27FC236}">
                <a16:creationId xmlns:a16="http://schemas.microsoft.com/office/drawing/2014/main" id="{FB42FD9C-AF28-4D32-A7F3-61A723DB9C5F}"/>
              </a:ext>
            </a:extLst>
          </p:cNvPr>
          <p:cNvSpPr>
            <a:spLocks xmlns:a="http://schemas.openxmlformats.org/drawingml/2006/main" noGrp="1"/>
          </p:cNvSpPr>
          <p:nvPr/>
        </p:nvSpPr>
        <p:spPr>
          <a:xfrm xmlns:a="http://schemas.openxmlformats.org/drawingml/2006/main">
            <a:off x="4667250" y="5295900"/>
            <a:ext cx="314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E59C93"/>
                </a:solidFill>
                <a:latin typeface="Menlo"/>
                <a:ea typeface="Menlo"/>
                <a:cs typeface="Menlo"/>
              </a:defRPr>
            </a:pPr>
            <a:r>
              <a:rPr sz="1725" b="0">
                <a:solidFill>
                  <a:srgbClr val="E59C93"/>
                </a:solidFill>
                <a:latin typeface="Menlo"/>
                <a:ea typeface="Menlo"/>
                <a:cs typeface="Menlo"/>
              </a:rPr>
              <a:t>DENIED</a:t>
            </a:r>
          </a:p>
        </p:txBody>
      </p:sp>
      <p:sp>
        <p:nvSpPr>
          <p:cNvPr id="28" name="text-161">
            <a:extLst xmlns:a="http://schemas.openxmlformats.org/drawingml/2006/main">
              <a:ext uri="{FF2B5EF4-FFF2-40B4-BE49-F238E27FC236}">
                <a16:creationId xmlns:a16="http://schemas.microsoft.com/office/drawing/2014/main" id="{DDE16D32-DDD5-4578-8FCE-7A678C682227}"/>
              </a:ext>
            </a:extLst>
          </p:cNvPr>
          <p:cNvSpPr>
            <a:spLocks xmlns:a="http://schemas.openxmlformats.org/drawingml/2006/main" noGrp="1"/>
          </p:cNvSpPr>
          <p:nvPr/>
        </p:nvSpPr>
        <p:spPr>
          <a:xfrm xmlns:a="http://schemas.openxmlformats.org/drawingml/2006/main">
            <a:off x="8905875" y="523875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E59C93"/>
                </a:solidFill>
                <a:latin typeface="Menlo"/>
                <a:ea typeface="Menlo"/>
                <a:cs typeface="Menlo"/>
              </a:defRPr>
            </a:pPr>
            <a:r>
              <a:rPr sz="2175" b="0">
                <a:solidFill>
                  <a:srgbClr val="E59C93"/>
                </a:solidFill>
                <a:latin typeface="Menlo"/>
                <a:ea typeface="Menlo"/>
                <a:cs typeface="Menlo"/>
              </a:rPr>
              <a:t>NO ACCESS</a:t>
            </a:r>
          </a:p>
        </p:txBody>
      </p:sp>
    </p:spTree>
    <p:extLst>
      <p:ext uri="{BB962C8B-B14F-4D97-AF65-F5344CB8AC3E}">
        <p14:creationId xmlns:p14="http://schemas.microsoft.com/office/powerpoint/2010/main" val="2066077629"/>
      </p:ext>
    </p:extLst>
  </p:cSld>
</p:sld>
</file>

<file path=ppt/slides/slide8.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32" name="text-162">
            <a:extLst xmlns:a="http://schemas.openxmlformats.org/drawingml/2006/main">
              <a:ext uri="{FF2B5EF4-FFF2-40B4-BE49-F238E27FC236}">
                <a16:creationId xmlns:a16="http://schemas.microsoft.com/office/drawing/2014/main" id="{4D364F63-85C9-4877-8660-335892B7E8A0}"/>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08 / AUTHORIZATION</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9932276cf3a04e25">
            <a:extLst>
              <a:ext uri="{96DAC541-7B7A-43D3-8B79-37D633B846F1}">
                <asvg:svgBlip xmlns:asvg="http://schemas.microsoft.com/office/drawing/2016/SVG/main" r:embed="R5265ea01d6f84597"/>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3" name="shape-163">
            <a:extLst xmlns:a="http://schemas.openxmlformats.org/drawingml/2006/main">
              <a:ext uri="{FF2B5EF4-FFF2-40B4-BE49-F238E27FC236}">
                <a16:creationId xmlns:a16="http://schemas.microsoft.com/office/drawing/2014/main" id="{DE5DC90F-5128-49B7-9D98-042565E7EC4A}"/>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4" name="text-164">
            <a:extLst xmlns:a="http://schemas.openxmlformats.org/drawingml/2006/main">
              <a:ext uri="{FF2B5EF4-FFF2-40B4-BE49-F238E27FC236}">
                <a16:creationId xmlns:a16="http://schemas.microsoft.com/office/drawing/2014/main" id="{30B90871-B205-40F7-9DE2-AE1F1C9FED8B}"/>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ENVSYNC / SELF-HOSTED SECRETS</a:t>
            </a:r>
          </a:p>
        </p:txBody>
      </p:sp>
      <p:sp>
        <p:nvSpPr>
          <p:cNvPr id="5" name="text-165">
            <a:extLst xmlns:a="http://schemas.openxmlformats.org/drawingml/2006/main">
              <a:ext uri="{FF2B5EF4-FFF2-40B4-BE49-F238E27FC236}">
                <a16:creationId xmlns:a16="http://schemas.microsoft.com/office/drawing/2014/main" id="{162A191B-0935-4862-BDF3-D9D9D31EA4C5}"/>
              </a:ext>
            </a:extLst>
          </p:cNvPr>
          <p:cNvSpPr>
            <a:spLocks xmlns:a="http://schemas.openxmlformats.org/drawingml/2006/main" noGrp="1"/>
          </p:cNvSpPr>
          <p:nvPr/>
        </p:nvSpPr>
        <p:spPr>
          <a:xfrm xmlns:a="http://schemas.openxmlformats.org/drawingml/2006/main">
            <a:off x="11144250" y="644842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676961"/>
                </a:solidFill>
                <a:latin typeface="Menlo"/>
                <a:ea typeface="Menlo"/>
                <a:cs typeface="Menlo"/>
              </a:defRPr>
            </a:pPr>
            <a:r>
              <a:rPr sz="1350" b="0">
                <a:solidFill>
                  <a:srgbClr val="676961"/>
                </a:solidFill>
                <a:latin typeface="Menlo"/>
                <a:ea typeface="Menlo"/>
                <a:cs typeface="Menlo"/>
              </a:rPr>
              <a:t>08</a:t>
            </a:r>
          </a:p>
        </p:txBody>
      </p:sp>
      <p:sp>
        <p:nvSpPr>
          <p:cNvPr id="6" name="text-166">
            <a:extLst xmlns:a="http://schemas.openxmlformats.org/drawingml/2006/main">
              <a:ext uri="{FF2B5EF4-FFF2-40B4-BE49-F238E27FC236}">
                <a16:creationId xmlns:a16="http://schemas.microsoft.com/office/drawing/2014/main" id="{223B1F44-D9AA-4671-8089-52B1637A57F2}"/>
              </a:ext>
            </a:extLst>
          </p:cNvPr>
          <p:cNvSpPr>
            <a:spLocks xmlns:a="http://schemas.openxmlformats.org/drawingml/2006/main" noGrp="1"/>
          </p:cNvSpPr>
          <p:nvPr/>
        </p:nvSpPr>
        <p:spPr>
          <a:xfrm xmlns:a="http://schemas.openxmlformats.org/drawingml/2006/main">
            <a:off x="533400" y="97155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350" b="1">
                <a:solidFill>
                  <a:srgbClr val="20211F"/>
                </a:solidFill>
                <a:latin typeface="Arial"/>
                <a:ea typeface="Arial"/>
                <a:cs typeface="Arial"/>
              </a:defRPr>
            </a:pPr>
            <a:r>
              <a:rPr sz="4350" b="1">
                <a:solidFill>
                  <a:srgbClr val="20211F"/>
                </a:solidFill>
                <a:latin typeface="Arial"/>
                <a:ea typeface="Arial"/>
                <a:cs typeface="Arial"/>
              </a:rPr>
              <a:t>Connection ≠ authorization.</a:t>
            </a:r>
          </a:p>
        </p:txBody>
      </p:sp>
      <p:sp>
        <p:nvSpPr>
          <p:cNvPr id="7" name="text-167">
            <a:extLst xmlns:a="http://schemas.openxmlformats.org/drawingml/2006/main">
              <a:ext uri="{FF2B5EF4-FFF2-40B4-BE49-F238E27FC236}">
                <a16:creationId xmlns:a16="http://schemas.microsoft.com/office/drawing/2014/main" id="{14DD9D98-5424-41D2-A9AE-CD5B01CC8ACE}"/>
              </a:ext>
            </a:extLst>
          </p:cNvPr>
          <p:cNvSpPr>
            <a:spLocks xmlns:a="http://schemas.openxmlformats.org/drawingml/2006/main" noGrp="1"/>
          </p:cNvSpPr>
          <p:nvPr/>
        </p:nvSpPr>
        <p:spPr>
          <a:xfrm xmlns:a="http://schemas.openxmlformats.org/drawingml/2006/main">
            <a:off x="542925" y="213360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EVERY AGENT SECRET REQUEST / SERVER-SIDE CHECKS</a:t>
            </a:r>
          </a:p>
        </p:txBody>
      </p:sp>
      <p:sp>
        <p:nvSpPr>
          <p:cNvPr id="8" name="shape-168">
            <a:extLst xmlns:a="http://schemas.openxmlformats.org/drawingml/2006/main">
              <a:ext uri="{FF2B5EF4-FFF2-40B4-BE49-F238E27FC236}">
                <a16:creationId xmlns:a16="http://schemas.microsoft.com/office/drawing/2014/main" id="{8D896191-87AF-484A-8F61-6C9BD9B12969}"/>
              </a:ext>
            </a:extLst>
          </p:cNvPr>
          <p:cNvSpPr>
            <a:spLocks xmlns:a="http://schemas.openxmlformats.org/drawingml/2006/main" noGrp="1"/>
          </p:cNvSpPr>
          <p:nvPr/>
        </p:nvSpPr>
        <p:spPr>
          <a:xfrm xmlns:a="http://schemas.openxmlformats.org/drawingml/2006/main">
            <a:off x="533400" y="2809875"/>
            <a:ext cx="2057400" cy="1152525"/>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9" name="text-169">
            <a:extLst xmlns:a="http://schemas.openxmlformats.org/drawingml/2006/main">
              <a:ext uri="{FF2B5EF4-FFF2-40B4-BE49-F238E27FC236}">
                <a16:creationId xmlns:a16="http://schemas.microsoft.com/office/drawing/2014/main" id="{B8D688FC-8131-467C-9529-7EB596D57491}"/>
              </a:ext>
            </a:extLst>
          </p:cNvPr>
          <p:cNvSpPr>
            <a:spLocks xmlns:a="http://schemas.openxmlformats.org/drawingml/2006/main" noGrp="1"/>
          </p:cNvSpPr>
          <p:nvPr/>
        </p:nvSpPr>
        <p:spPr>
          <a:xfrm xmlns:a="http://schemas.openxmlformats.org/drawingml/2006/main">
            <a:off x="704850" y="29718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IDENTITY</a:t>
            </a:r>
          </a:p>
        </p:txBody>
      </p:sp>
      <p:sp>
        <p:nvSpPr>
          <p:cNvPr id="10" name="text-170">
            <a:extLst xmlns:a="http://schemas.openxmlformats.org/drawingml/2006/main">
              <a:ext uri="{FF2B5EF4-FFF2-40B4-BE49-F238E27FC236}">
                <a16:creationId xmlns:a16="http://schemas.microsoft.com/office/drawing/2014/main" id="{7416EA25-93A9-4A08-B9C1-961422269BB8}"/>
              </a:ext>
            </a:extLst>
          </p:cNvPr>
          <p:cNvSpPr>
            <a:spLocks xmlns:a="http://schemas.openxmlformats.org/drawingml/2006/main" noGrp="1"/>
          </p:cNvSpPr>
          <p:nvPr/>
        </p:nvSpPr>
        <p:spPr>
          <a:xfrm xmlns:a="http://schemas.openxmlformats.org/drawingml/2006/main">
            <a:off x="704850" y="33528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01</a:t>
            </a:r>
          </a:p>
        </p:txBody>
      </p:sp>
      <p:sp>
        <p:nvSpPr>
          <p:cNvPr id="11" name="text-171">
            <a:extLst xmlns:a="http://schemas.openxmlformats.org/drawingml/2006/main">
              <a:ext uri="{FF2B5EF4-FFF2-40B4-BE49-F238E27FC236}">
                <a16:creationId xmlns:a16="http://schemas.microsoft.com/office/drawing/2014/main" id="{11482C9E-CCA0-4465-A858-6F4C5B38B621}"/>
              </a:ext>
            </a:extLst>
          </p:cNvPr>
          <p:cNvSpPr>
            <a:spLocks xmlns:a="http://schemas.openxmlformats.org/drawingml/2006/main" noGrp="1"/>
          </p:cNvSpPr>
          <p:nvPr/>
        </p:nvSpPr>
        <p:spPr>
          <a:xfrm xmlns:a="http://schemas.openxmlformats.org/drawingml/2006/main">
            <a:off x="2609850" y="3143250"/>
            <a:ext cx="247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676961"/>
                </a:solidFill>
                <a:latin typeface="Arial"/>
                <a:ea typeface="Arial"/>
                <a:cs typeface="Arial"/>
              </a:defRPr>
            </a:pPr>
            <a:r>
              <a:rPr sz="2550" b="0">
                <a:solidFill>
                  <a:srgbClr val="676961"/>
                </a:solidFill>
                <a:latin typeface="Arial"/>
                <a:ea typeface="Arial"/>
                <a:cs typeface="Arial"/>
              </a:rPr>
              <a:t>→</a:t>
            </a:r>
          </a:p>
        </p:txBody>
      </p:sp>
      <p:sp>
        <p:nvSpPr>
          <p:cNvPr id="12" name="shape-172">
            <a:extLst xmlns:a="http://schemas.openxmlformats.org/drawingml/2006/main">
              <a:ext uri="{FF2B5EF4-FFF2-40B4-BE49-F238E27FC236}">
                <a16:creationId xmlns:a16="http://schemas.microsoft.com/office/drawing/2014/main" id="{FE04CFBF-55C6-48B3-BF96-AF8AD6B2E70B}"/>
              </a:ext>
            </a:extLst>
          </p:cNvPr>
          <p:cNvSpPr>
            <a:spLocks xmlns:a="http://schemas.openxmlformats.org/drawingml/2006/main" noGrp="1"/>
          </p:cNvSpPr>
          <p:nvPr/>
        </p:nvSpPr>
        <p:spPr>
          <a:xfrm xmlns:a="http://schemas.openxmlformats.org/drawingml/2006/main">
            <a:off x="2800350" y="2809875"/>
            <a:ext cx="2057400" cy="1152525"/>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13" name="text-173">
            <a:extLst xmlns:a="http://schemas.openxmlformats.org/drawingml/2006/main">
              <a:ext uri="{FF2B5EF4-FFF2-40B4-BE49-F238E27FC236}">
                <a16:creationId xmlns:a16="http://schemas.microsoft.com/office/drawing/2014/main" id="{455DCFAE-6B50-4964-91B8-7AB143E166F0}"/>
              </a:ext>
            </a:extLst>
          </p:cNvPr>
          <p:cNvSpPr>
            <a:spLocks xmlns:a="http://schemas.openxmlformats.org/drawingml/2006/main" noGrp="1"/>
          </p:cNvSpPr>
          <p:nvPr/>
        </p:nvSpPr>
        <p:spPr>
          <a:xfrm xmlns:a="http://schemas.openxmlformats.org/drawingml/2006/main">
            <a:off x="2971800" y="29718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APPROVED</a:t>
            </a:r>
          </a:p>
        </p:txBody>
      </p:sp>
      <p:sp>
        <p:nvSpPr>
          <p:cNvPr id="14" name="text-174">
            <a:extLst xmlns:a="http://schemas.openxmlformats.org/drawingml/2006/main">
              <a:ext uri="{FF2B5EF4-FFF2-40B4-BE49-F238E27FC236}">
                <a16:creationId xmlns:a16="http://schemas.microsoft.com/office/drawing/2014/main" id="{EB196CC7-6DB4-45ED-AF9C-2BE0BFFBF14D}"/>
              </a:ext>
            </a:extLst>
          </p:cNvPr>
          <p:cNvSpPr>
            <a:spLocks xmlns:a="http://schemas.openxmlformats.org/drawingml/2006/main" noGrp="1"/>
          </p:cNvSpPr>
          <p:nvPr/>
        </p:nvSpPr>
        <p:spPr>
          <a:xfrm xmlns:a="http://schemas.openxmlformats.org/drawingml/2006/main">
            <a:off x="2971800" y="33528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02</a:t>
            </a:r>
          </a:p>
        </p:txBody>
      </p:sp>
      <p:sp>
        <p:nvSpPr>
          <p:cNvPr id="15" name="text-175">
            <a:extLst xmlns:a="http://schemas.openxmlformats.org/drawingml/2006/main">
              <a:ext uri="{FF2B5EF4-FFF2-40B4-BE49-F238E27FC236}">
                <a16:creationId xmlns:a16="http://schemas.microsoft.com/office/drawing/2014/main" id="{F86E9132-6CFA-4044-8404-A5D30C1F7074}"/>
              </a:ext>
            </a:extLst>
          </p:cNvPr>
          <p:cNvSpPr>
            <a:spLocks xmlns:a="http://schemas.openxmlformats.org/drawingml/2006/main" noGrp="1"/>
          </p:cNvSpPr>
          <p:nvPr/>
        </p:nvSpPr>
        <p:spPr>
          <a:xfrm xmlns:a="http://schemas.openxmlformats.org/drawingml/2006/main">
            <a:off x="4876800" y="3143250"/>
            <a:ext cx="247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676961"/>
                </a:solidFill>
                <a:latin typeface="Arial"/>
                <a:ea typeface="Arial"/>
                <a:cs typeface="Arial"/>
              </a:defRPr>
            </a:pPr>
            <a:r>
              <a:rPr sz="2550" b="0">
                <a:solidFill>
                  <a:srgbClr val="676961"/>
                </a:solidFill>
                <a:latin typeface="Arial"/>
                <a:ea typeface="Arial"/>
                <a:cs typeface="Arial"/>
              </a:rPr>
              <a:t>→</a:t>
            </a:r>
          </a:p>
        </p:txBody>
      </p:sp>
      <p:sp>
        <p:nvSpPr>
          <p:cNvPr id="16" name="shape-176">
            <a:extLst xmlns:a="http://schemas.openxmlformats.org/drawingml/2006/main">
              <a:ext uri="{FF2B5EF4-FFF2-40B4-BE49-F238E27FC236}">
                <a16:creationId xmlns:a16="http://schemas.microsoft.com/office/drawing/2014/main" id="{B4BB36EE-66CE-4A30-94E9-0639018D0A2A}"/>
              </a:ext>
            </a:extLst>
          </p:cNvPr>
          <p:cNvSpPr>
            <a:spLocks xmlns:a="http://schemas.openxmlformats.org/drawingml/2006/main" noGrp="1"/>
          </p:cNvSpPr>
          <p:nvPr/>
        </p:nvSpPr>
        <p:spPr>
          <a:xfrm xmlns:a="http://schemas.openxmlformats.org/drawingml/2006/main">
            <a:off x="5067300" y="2809875"/>
            <a:ext cx="2057400" cy="1152525"/>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17" name="text-177">
            <a:extLst xmlns:a="http://schemas.openxmlformats.org/drawingml/2006/main">
              <a:ext uri="{FF2B5EF4-FFF2-40B4-BE49-F238E27FC236}">
                <a16:creationId xmlns:a16="http://schemas.microsoft.com/office/drawing/2014/main" id="{CF5ADE63-A8EC-4B8A-9CA4-7B1B0CA620F8}"/>
              </a:ext>
            </a:extLst>
          </p:cNvPr>
          <p:cNvSpPr>
            <a:spLocks xmlns:a="http://schemas.openxmlformats.org/drawingml/2006/main" noGrp="1"/>
          </p:cNvSpPr>
          <p:nvPr/>
        </p:nvSpPr>
        <p:spPr>
          <a:xfrm xmlns:a="http://schemas.openxmlformats.org/drawingml/2006/main">
            <a:off x="5238750" y="29718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ENVIRONMENT</a:t>
            </a:r>
          </a:p>
        </p:txBody>
      </p:sp>
      <p:sp>
        <p:nvSpPr>
          <p:cNvPr id="18" name="text-178">
            <a:extLst xmlns:a="http://schemas.openxmlformats.org/drawingml/2006/main">
              <a:ext uri="{FF2B5EF4-FFF2-40B4-BE49-F238E27FC236}">
                <a16:creationId xmlns:a16="http://schemas.microsoft.com/office/drawing/2014/main" id="{5C08026E-3512-4057-929B-896F6407B15E}"/>
              </a:ext>
            </a:extLst>
          </p:cNvPr>
          <p:cNvSpPr>
            <a:spLocks xmlns:a="http://schemas.openxmlformats.org/drawingml/2006/main" noGrp="1"/>
          </p:cNvSpPr>
          <p:nvPr/>
        </p:nvSpPr>
        <p:spPr>
          <a:xfrm xmlns:a="http://schemas.openxmlformats.org/drawingml/2006/main">
            <a:off x="5238750" y="33528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03</a:t>
            </a:r>
          </a:p>
        </p:txBody>
      </p:sp>
      <p:sp>
        <p:nvSpPr>
          <p:cNvPr id="19" name="text-179">
            <a:extLst xmlns:a="http://schemas.openxmlformats.org/drawingml/2006/main">
              <a:ext uri="{FF2B5EF4-FFF2-40B4-BE49-F238E27FC236}">
                <a16:creationId xmlns:a16="http://schemas.microsoft.com/office/drawing/2014/main" id="{49A4743F-C1FF-4EEE-8EED-0EC4797AE99A}"/>
              </a:ext>
            </a:extLst>
          </p:cNvPr>
          <p:cNvSpPr>
            <a:spLocks xmlns:a="http://schemas.openxmlformats.org/drawingml/2006/main" noGrp="1"/>
          </p:cNvSpPr>
          <p:nvPr/>
        </p:nvSpPr>
        <p:spPr>
          <a:xfrm xmlns:a="http://schemas.openxmlformats.org/drawingml/2006/main">
            <a:off x="7143750" y="3143250"/>
            <a:ext cx="247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676961"/>
                </a:solidFill>
                <a:latin typeface="Arial"/>
                <a:ea typeface="Arial"/>
                <a:cs typeface="Arial"/>
              </a:defRPr>
            </a:pPr>
            <a:r>
              <a:rPr sz="2550" b="0">
                <a:solidFill>
                  <a:srgbClr val="676961"/>
                </a:solidFill>
                <a:latin typeface="Arial"/>
                <a:ea typeface="Arial"/>
                <a:cs typeface="Arial"/>
              </a:rPr>
              <a:t>→</a:t>
            </a:r>
          </a:p>
        </p:txBody>
      </p:sp>
      <p:sp>
        <p:nvSpPr>
          <p:cNvPr id="20" name="shape-180">
            <a:extLst xmlns:a="http://schemas.openxmlformats.org/drawingml/2006/main">
              <a:ext uri="{FF2B5EF4-FFF2-40B4-BE49-F238E27FC236}">
                <a16:creationId xmlns:a16="http://schemas.microsoft.com/office/drawing/2014/main" id="{E2F390BF-BA68-4532-A50E-F8B45EF21D34}"/>
              </a:ext>
            </a:extLst>
          </p:cNvPr>
          <p:cNvSpPr>
            <a:spLocks xmlns:a="http://schemas.openxmlformats.org/drawingml/2006/main" noGrp="1"/>
          </p:cNvSpPr>
          <p:nvPr/>
        </p:nvSpPr>
        <p:spPr>
          <a:xfrm xmlns:a="http://schemas.openxmlformats.org/drawingml/2006/main">
            <a:off x="7334250" y="2809875"/>
            <a:ext cx="2057400" cy="1152525"/>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21" name="text-181">
            <a:extLst xmlns:a="http://schemas.openxmlformats.org/drawingml/2006/main">
              <a:ext uri="{FF2B5EF4-FFF2-40B4-BE49-F238E27FC236}">
                <a16:creationId xmlns:a16="http://schemas.microsoft.com/office/drawing/2014/main" id="{2A67EAD0-F541-42DA-A19A-E10EE01A957B}"/>
              </a:ext>
            </a:extLst>
          </p:cNvPr>
          <p:cNvSpPr>
            <a:spLocks xmlns:a="http://schemas.openxmlformats.org/drawingml/2006/main" noGrp="1"/>
          </p:cNvSpPr>
          <p:nvPr/>
        </p:nvSpPr>
        <p:spPr>
          <a:xfrm xmlns:a="http://schemas.openxmlformats.org/drawingml/2006/main">
            <a:off x="7505700" y="29718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PERMISSION</a:t>
            </a:r>
          </a:p>
        </p:txBody>
      </p:sp>
      <p:sp>
        <p:nvSpPr>
          <p:cNvPr id="22" name="text-182">
            <a:extLst xmlns:a="http://schemas.openxmlformats.org/drawingml/2006/main">
              <a:ext uri="{FF2B5EF4-FFF2-40B4-BE49-F238E27FC236}">
                <a16:creationId xmlns:a16="http://schemas.microsoft.com/office/drawing/2014/main" id="{FCC981E1-FBE7-4266-AAE0-6A9FA4EB7820}"/>
              </a:ext>
            </a:extLst>
          </p:cNvPr>
          <p:cNvSpPr>
            <a:spLocks xmlns:a="http://schemas.openxmlformats.org/drawingml/2006/main" noGrp="1"/>
          </p:cNvSpPr>
          <p:nvPr/>
        </p:nvSpPr>
        <p:spPr>
          <a:xfrm xmlns:a="http://schemas.openxmlformats.org/drawingml/2006/main">
            <a:off x="7505700" y="33528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04</a:t>
            </a:r>
          </a:p>
        </p:txBody>
      </p:sp>
      <p:sp>
        <p:nvSpPr>
          <p:cNvPr id="23" name="text-183">
            <a:extLst xmlns:a="http://schemas.openxmlformats.org/drawingml/2006/main">
              <a:ext uri="{FF2B5EF4-FFF2-40B4-BE49-F238E27FC236}">
                <a16:creationId xmlns:a16="http://schemas.microsoft.com/office/drawing/2014/main" id="{B219D35F-9658-4BEC-B735-47A8F917F0BC}"/>
              </a:ext>
            </a:extLst>
          </p:cNvPr>
          <p:cNvSpPr>
            <a:spLocks xmlns:a="http://schemas.openxmlformats.org/drawingml/2006/main" noGrp="1"/>
          </p:cNvSpPr>
          <p:nvPr/>
        </p:nvSpPr>
        <p:spPr>
          <a:xfrm xmlns:a="http://schemas.openxmlformats.org/drawingml/2006/main">
            <a:off x="9410700" y="3143250"/>
            <a:ext cx="247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676961"/>
                </a:solidFill>
                <a:latin typeface="Arial"/>
                <a:ea typeface="Arial"/>
                <a:cs typeface="Arial"/>
              </a:defRPr>
            </a:pPr>
            <a:r>
              <a:rPr sz="2550" b="0">
                <a:solidFill>
                  <a:srgbClr val="676961"/>
                </a:solidFill>
                <a:latin typeface="Arial"/>
                <a:ea typeface="Arial"/>
                <a:cs typeface="Arial"/>
              </a:rPr>
              <a:t>→</a:t>
            </a:r>
          </a:p>
        </p:txBody>
      </p:sp>
      <p:sp>
        <p:nvSpPr>
          <p:cNvPr id="24" name="shape-184">
            <a:extLst xmlns:a="http://schemas.openxmlformats.org/drawingml/2006/main">
              <a:ext uri="{FF2B5EF4-FFF2-40B4-BE49-F238E27FC236}">
                <a16:creationId xmlns:a16="http://schemas.microsoft.com/office/drawing/2014/main" id="{6F194141-0DC1-4B7E-BCAA-8D62C621D562}"/>
              </a:ext>
            </a:extLst>
          </p:cNvPr>
          <p:cNvSpPr>
            <a:spLocks xmlns:a="http://schemas.openxmlformats.org/drawingml/2006/main" noGrp="1"/>
          </p:cNvSpPr>
          <p:nvPr/>
        </p:nvSpPr>
        <p:spPr>
          <a:xfrm xmlns:a="http://schemas.openxmlformats.org/drawingml/2006/main">
            <a:off x="9601200" y="2809875"/>
            <a:ext cx="2057400" cy="1152525"/>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25" name="text-185">
            <a:extLst xmlns:a="http://schemas.openxmlformats.org/drawingml/2006/main">
              <a:ext uri="{FF2B5EF4-FFF2-40B4-BE49-F238E27FC236}">
                <a16:creationId xmlns:a16="http://schemas.microsoft.com/office/drawing/2014/main" id="{ECE8F9F5-D711-4671-95DF-473C2BA06EB8}"/>
              </a:ext>
            </a:extLst>
          </p:cNvPr>
          <p:cNvSpPr>
            <a:spLocks xmlns:a="http://schemas.openxmlformats.org/drawingml/2006/main" noGrp="1"/>
          </p:cNvSpPr>
          <p:nvPr/>
        </p:nvSpPr>
        <p:spPr>
          <a:xfrm xmlns:a="http://schemas.openxmlformats.org/drawingml/2006/main">
            <a:off x="9772650" y="29718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UNEXPIRED</a:t>
            </a:r>
          </a:p>
        </p:txBody>
      </p:sp>
      <p:sp>
        <p:nvSpPr>
          <p:cNvPr id="26" name="text-186">
            <a:extLst xmlns:a="http://schemas.openxmlformats.org/drawingml/2006/main">
              <a:ext uri="{FF2B5EF4-FFF2-40B4-BE49-F238E27FC236}">
                <a16:creationId xmlns:a16="http://schemas.microsoft.com/office/drawing/2014/main" id="{84A61EB7-D3F6-4011-8F77-58571AED7290}"/>
              </a:ext>
            </a:extLst>
          </p:cNvPr>
          <p:cNvSpPr>
            <a:spLocks xmlns:a="http://schemas.openxmlformats.org/drawingml/2006/main" noGrp="1"/>
          </p:cNvSpPr>
          <p:nvPr/>
        </p:nvSpPr>
        <p:spPr>
          <a:xfrm xmlns:a="http://schemas.openxmlformats.org/drawingml/2006/main">
            <a:off x="9772650" y="33528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05</a:t>
            </a:r>
          </a:p>
        </p:txBody>
      </p:sp>
      <p:sp>
        <p:nvSpPr>
          <p:cNvPr id="27" name="shape-187">
            <a:extLst xmlns:a="http://schemas.openxmlformats.org/drawingml/2006/main">
              <a:ext uri="{FF2B5EF4-FFF2-40B4-BE49-F238E27FC236}">
                <a16:creationId xmlns:a16="http://schemas.microsoft.com/office/drawing/2014/main" id="{4FE0311D-2051-49D6-960B-5710B94A4D24}"/>
              </a:ext>
            </a:extLst>
          </p:cNvPr>
          <p:cNvSpPr>
            <a:spLocks xmlns:a="http://schemas.openxmlformats.org/drawingml/2006/main" noGrp="1"/>
          </p:cNvSpPr>
          <p:nvPr/>
        </p:nvSpPr>
        <p:spPr>
          <a:xfrm xmlns:a="http://schemas.openxmlformats.org/drawingml/2006/main">
            <a:off x="533400" y="4429125"/>
            <a:ext cx="7620000" cy="1247775"/>
          </a:xfrm>
          <a:prstGeom xmlns:a="http://schemas.openxmlformats.org/drawingml/2006/main" prst="rect">
            <a:avLst/>
          </a:prstGeom>
          <a:solidFill xmlns:a="http://schemas.openxmlformats.org/drawingml/2006/main">
            <a:srgbClr val="20211F"/>
          </a:solidFill>
          <a:ln xmlns:a="http://schemas.openxmlformats.org/drawingml/2006/main" w="0">
            <a:noFill/>
          </a:ln>
        </p:spPr>
      </p:sp>
      <p:sp>
        <p:nvSpPr>
          <p:cNvPr id="28" name="text-188">
            <a:extLst xmlns:a="http://schemas.openxmlformats.org/drawingml/2006/main">
              <a:ext uri="{FF2B5EF4-FFF2-40B4-BE49-F238E27FC236}">
                <a16:creationId xmlns:a16="http://schemas.microsoft.com/office/drawing/2014/main" id="{12F37D48-3F7C-4CF6-A5EA-4CE2A3B80686}"/>
              </a:ext>
            </a:extLst>
          </p:cNvPr>
          <p:cNvSpPr>
            <a:spLocks xmlns:a="http://schemas.openxmlformats.org/drawingml/2006/main" noGrp="1"/>
          </p:cNvSpPr>
          <p:nvPr/>
        </p:nvSpPr>
        <p:spPr>
          <a:xfrm xmlns:a="http://schemas.openxmlformats.org/drawingml/2006/main">
            <a:off x="742950" y="4629150"/>
            <a:ext cx="7181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FAFAF6"/>
                </a:solidFill>
                <a:latin typeface="Arial"/>
                <a:ea typeface="Arial"/>
                <a:cs typeface="Arial"/>
              </a:defRPr>
            </a:pPr>
            <a:r>
              <a:rPr sz="3150" b="1">
                <a:solidFill>
                  <a:srgbClr val="FAFAF6"/>
                </a:solidFill>
                <a:latin typeface="Arial"/>
                <a:ea typeface="Arial"/>
                <a:cs typeface="Arial"/>
              </a:rPr>
              <a:t>DEFAULT DENY</a:t>
            </a:r>
          </a:p>
        </p:txBody>
      </p:sp>
      <p:sp>
        <p:nvSpPr>
          <p:cNvPr id="29" name="text-189">
            <a:extLst xmlns:a="http://schemas.openxmlformats.org/drawingml/2006/main">
              <a:ext uri="{FF2B5EF4-FFF2-40B4-BE49-F238E27FC236}">
                <a16:creationId xmlns:a16="http://schemas.microsoft.com/office/drawing/2014/main" id="{B6926CDA-B641-428A-9F73-34738C4A90EA}"/>
              </a:ext>
            </a:extLst>
          </p:cNvPr>
          <p:cNvSpPr>
            <a:spLocks xmlns:a="http://schemas.openxmlformats.org/drawingml/2006/main" noGrp="1"/>
          </p:cNvSpPr>
          <p:nvPr/>
        </p:nvSpPr>
        <p:spPr>
          <a:xfrm xmlns:a="http://schemas.openxmlformats.org/drawingml/2006/main">
            <a:off x="742950" y="5238750"/>
            <a:ext cx="7105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B1B5AC"/>
                </a:solidFill>
                <a:latin typeface="Arial"/>
                <a:ea typeface="Arial"/>
                <a:cs typeface="Arial"/>
              </a:defRPr>
            </a:pPr>
            <a:r>
              <a:rPr sz="1650" b="0">
                <a:solidFill>
                  <a:srgbClr val="B1B5AC"/>
                </a:solidFill>
                <a:latin typeface="Arial"/>
                <a:ea typeface="Arial"/>
                <a:cs typeface="Arial"/>
              </a:rPr>
              <a:t>Unknown · pending · expired · revoked · unassigned</a:t>
            </a:r>
          </a:p>
        </p:txBody>
      </p:sp>
      <p:sp>
        <p:nvSpPr>
          <p:cNvPr id="30" name="text-190">
            <a:extLst xmlns:a="http://schemas.openxmlformats.org/drawingml/2006/main">
              <a:ext uri="{FF2B5EF4-FFF2-40B4-BE49-F238E27FC236}">
                <a16:creationId xmlns:a16="http://schemas.microsoft.com/office/drawing/2014/main" id="{592E2EFC-9FD5-498F-8EB7-26D58A7D36A0}"/>
              </a:ext>
            </a:extLst>
          </p:cNvPr>
          <p:cNvSpPr>
            <a:spLocks xmlns:a="http://schemas.openxmlformats.org/drawingml/2006/main" noGrp="1"/>
          </p:cNvSpPr>
          <p:nvPr/>
        </p:nvSpPr>
        <p:spPr>
          <a:xfrm xmlns:a="http://schemas.openxmlformats.org/drawingml/2006/main">
            <a:off x="8591550" y="4476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676961"/>
                </a:solidFill>
                <a:latin typeface="Menlo"/>
                <a:ea typeface="Menlo"/>
                <a:cs typeface="Menlo"/>
              </a:defRPr>
            </a:pPr>
            <a:r>
              <a:rPr sz="1500" b="0">
                <a:solidFill>
                  <a:srgbClr val="676961"/>
                </a:solidFill>
                <a:latin typeface="Menlo"/>
                <a:ea typeface="Menlo"/>
                <a:cs typeface="Menlo"/>
              </a:rPr>
              <a:t>ALL CHECKS PASS</a:t>
            </a:r>
          </a:p>
        </p:txBody>
      </p:sp>
      <p:sp>
        <p:nvSpPr>
          <p:cNvPr id="31" name="text-191">
            <a:extLst xmlns:a="http://schemas.openxmlformats.org/drawingml/2006/main">
              <a:ext uri="{FF2B5EF4-FFF2-40B4-BE49-F238E27FC236}">
                <a16:creationId xmlns:a16="http://schemas.microsoft.com/office/drawing/2014/main" id="{EF5F7FDA-FAF8-4041-8F6D-57CB67C6742C}"/>
              </a:ext>
            </a:extLst>
          </p:cNvPr>
          <p:cNvSpPr>
            <a:spLocks xmlns:a="http://schemas.openxmlformats.org/drawingml/2006/main" noGrp="1"/>
          </p:cNvSpPr>
          <p:nvPr/>
        </p:nvSpPr>
        <p:spPr>
          <a:xfrm xmlns:a="http://schemas.openxmlformats.org/drawingml/2006/main">
            <a:off x="8591550" y="4914900"/>
            <a:ext cx="3057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75" b="1">
                <a:solidFill>
                  <a:srgbClr val="277D58"/>
                </a:solidFill>
                <a:latin typeface="Arial"/>
                <a:ea typeface="Arial"/>
                <a:cs typeface="Arial"/>
              </a:defRPr>
            </a:pPr>
            <a:r>
              <a:rPr sz="2475" b="1">
                <a:solidFill>
                  <a:srgbClr val="277D58"/>
                </a:solidFill>
                <a:latin typeface="Arial"/>
                <a:ea typeface="Arial"/>
                <a:cs typeface="Arial"/>
              </a:rPr>
              <a:t>AUTHORIZED</a:t>
            </a:r>
          </a:p>
        </p:txBody>
      </p:sp>
    </p:spTree>
    <p:extLst>
      <p:ext uri="{BB962C8B-B14F-4D97-AF65-F5344CB8AC3E}">
        <p14:creationId xmlns:p14="http://schemas.microsoft.com/office/powerpoint/2010/main" val="2649410"/>
      </p:ext>
    </p:extLst>
  </p:cSld>
</p:sld>
</file>

<file path=ppt/slides/slide9.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24" name="text-192">
            <a:extLst xmlns:a="http://schemas.openxmlformats.org/drawingml/2006/main">
              <a:ext uri="{FF2B5EF4-FFF2-40B4-BE49-F238E27FC236}">
                <a16:creationId xmlns:a16="http://schemas.microsoft.com/office/drawing/2014/main" id="{088D78E0-06B3-4A7D-9FB6-64331FA125A8}"/>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09 / SELF-HOSTED</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3ed4a0682ee4c4c">
            <a:extLst>
              <a:ext uri="{96DAC541-7B7A-43D3-8B79-37D633B846F1}">
                <asvg:svgBlip xmlns:asvg="http://schemas.microsoft.com/office/drawing/2016/SVG/main" r:embed="Re88f8e5de8f44789"/>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3" name="shape-193">
            <a:extLst xmlns:a="http://schemas.openxmlformats.org/drawingml/2006/main">
              <a:ext uri="{FF2B5EF4-FFF2-40B4-BE49-F238E27FC236}">
                <a16:creationId xmlns:a16="http://schemas.microsoft.com/office/drawing/2014/main" id="{D0AB3AB3-ABB2-4F49-92B1-5FB83B941486}"/>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4" name="text-194">
            <a:extLst xmlns:a="http://schemas.openxmlformats.org/drawingml/2006/main">
              <a:ext uri="{FF2B5EF4-FFF2-40B4-BE49-F238E27FC236}">
                <a16:creationId xmlns:a16="http://schemas.microsoft.com/office/drawing/2014/main" id="{9C30984B-BADF-47E1-900F-9DA4D6C04819}"/>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ENVSYNC / SELF-HOSTED SECRETS</a:t>
            </a:r>
          </a:p>
        </p:txBody>
      </p:sp>
      <p:sp>
        <p:nvSpPr>
          <p:cNvPr id="5" name="text-195">
            <a:extLst xmlns:a="http://schemas.openxmlformats.org/drawingml/2006/main">
              <a:ext uri="{FF2B5EF4-FFF2-40B4-BE49-F238E27FC236}">
                <a16:creationId xmlns:a16="http://schemas.microsoft.com/office/drawing/2014/main" id="{96DEE69B-B45C-415C-B845-D476C4CFC1EF}"/>
              </a:ext>
            </a:extLst>
          </p:cNvPr>
          <p:cNvSpPr>
            <a:spLocks xmlns:a="http://schemas.openxmlformats.org/drawingml/2006/main" noGrp="1"/>
          </p:cNvSpPr>
          <p:nvPr/>
        </p:nvSpPr>
        <p:spPr>
          <a:xfrm xmlns:a="http://schemas.openxmlformats.org/drawingml/2006/main">
            <a:off x="11144250" y="644842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676961"/>
                </a:solidFill>
                <a:latin typeface="Menlo"/>
                <a:ea typeface="Menlo"/>
                <a:cs typeface="Menlo"/>
              </a:defRPr>
            </a:pPr>
            <a:r>
              <a:rPr sz="1350" b="0">
                <a:solidFill>
                  <a:srgbClr val="676961"/>
                </a:solidFill>
                <a:latin typeface="Menlo"/>
                <a:ea typeface="Menlo"/>
                <a:cs typeface="Menlo"/>
              </a:rPr>
              <a:t>09</a:t>
            </a:r>
          </a:p>
        </p:txBody>
      </p:sp>
      <p:sp>
        <p:nvSpPr>
          <p:cNvPr id="6" name="text-196">
            <a:extLst xmlns:a="http://schemas.openxmlformats.org/drawingml/2006/main">
              <a:ext uri="{FF2B5EF4-FFF2-40B4-BE49-F238E27FC236}">
                <a16:creationId xmlns:a16="http://schemas.microsoft.com/office/drawing/2014/main" id="{7A454120-643F-46ED-8938-3F710393ED78}"/>
              </a:ext>
            </a:extLst>
          </p:cNvPr>
          <p:cNvSpPr>
            <a:spLocks xmlns:a="http://schemas.openxmlformats.org/drawingml/2006/main" noGrp="1"/>
          </p:cNvSpPr>
          <p:nvPr/>
        </p:nvSpPr>
        <p:spPr>
          <a:xfrm xmlns:a="http://schemas.openxmlformats.org/drawingml/2006/main">
            <a:off x="533400" y="952500"/>
            <a:ext cx="11144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650" b="1">
                <a:solidFill>
                  <a:srgbClr val="20211F"/>
                </a:solidFill>
                <a:latin typeface="Arial"/>
                <a:ea typeface="Arial"/>
                <a:cs typeface="Arial"/>
              </a:defRPr>
            </a:pPr>
            <a:r>
              <a:rPr sz="4650" b="1">
                <a:solidFill>
                  <a:srgbClr val="20211F"/>
                </a:solidFill>
                <a:latin typeface="Arial"/>
                <a:ea typeface="Arial"/>
                <a:cs typeface="Arial"/>
              </a:rPr>
              <a:t>Your infrastructure.</a:t>
            </a:r>
          </a:p>
        </p:txBody>
      </p:sp>
      <p:sp>
        <p:nvSpPr>
          <p:cNvPr id="7" name="text-197">
            <a:extLst xmlns:a="http://schemas.openxmlformats.org/drawingml/2006/main">
              <a:ext uri="{FF2B5EF4-FFF2-40B4-BE49-F238E27FC236}">
                <a16:creationId xmlns:a16="http://schemas.microsoft.com/office/drawing/2014/main" id="{9D5719F4-2B4E-4491-98D9-43EB505B5C1A}"/>
              </a:ext>
            </a:extLst>
          </p:cNvPr>
          <p:cNvSpPr>
            <a:spLocks xmlns:a="http://schemas.openxmlformats.org/drawingml/2006/main" noGrp="1"/>
          </p:cNvSpPr>
          <p:nvPr/>
        </p:nvSpPr>
        <p:spPr>
          <a:xfrm xmlns:a="http://schemas.openxmlformats.org/drawingml/2006/main">
            <a:off x="533400" y="1609725"/>
            <a:ext cx="11144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650" b="1">
                <a:solidFill>
                  <a:srgbClr val="20211F"/>
                </a:solidFill>
                <a:latin typeface="Arial"/>
                <a:ea typeface="Arial"/>
                <a:cs typeface="Arial"/>
              </a:defRPr>
            </a:pPr>
            <a:r>
              <a:rPr sz="4650" b="1">
                <a:solidFill>
                  <a:srgbClr val="20211F"/>
                </a:solidFill>
                <a:latin typeface="Arial"/>
                <a:ea typeface="Arial"/>
                <a:cs typeface="Arial"/>
              </a:rPr>
              <a:t>Your secrets.</a:t>
            </a:r>
          </a:p>
        </p:txBody>
      </p:sp>
      <p:sp>
        <p:nvSpPr>
          <p:cNvPr id="8" name="text-198">
            <a:extLst xmlns:a="http://schemas.openxmlformats.org/drawingml/2006/main">
              <a:ext uri="{FF2B5EF4-FFF2-40B4-BE49-F238E27FC236}">
                <a16:creationId xmlns:a16="http://schemas.microsoft.com/office/drawing/2014/main" id="{0BFA9FC9-6AD7-40FB-8EE0-EF4289099EA9}"/>
              </a:ext>
            </a:extLst>
          </p:cNvPr>
          <p:cNvSpPr>
            <a:spLocks xmlns:a="http://schemas.openxmlformats.org/drawingml/2006/main" noGrp="1"/>
          </p:cNvSpPr>
          <p:nvPr/>
        </p:nvSpPr>
        <p:spPr>
          <a:xfrm xmlns:a="http://schemas.openxmlformats.org/drawingml/2006/main">
            <a:off x="533400" y="26860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YOUR MACHINE / PRIVATE NETWORK</a:t>
            </a:r>
          </a:p>
        </p:txBody>
      </p:sp>
      <p:sp>
        <p:nvSpPr>
          <p:cNvPr id="9" name="shape-199">
            <a:extLst xmlns:a="http://schemas.openxmlformats.org/drawingml/2006/main">
              <a:ext uri="{FF2B5EF4-FFF2-40B4-BE49-F238E27FC236}">
                <a16:creationId xmlns:a16="http://schemas.microsoft.com/office/drawing/2014/main" id="{670A2196-F737-4C99-BD8D-6E75740E94CA}"/>
              </a:ext>
            </a:extLst>
          </p:cNvPr>
          <p:cNvSpPr>
            <a:spLocks xmlns:a="http://schemas.openxmlformats.org/drawingml/2006/main" noGrp="1"/>
          </p:cNvSpPr>
          <p:nvPr/>
        </p:nvSpPr>
        <p:spPr>
          <a:xfrm xmlns:a="http://schemas.openxmlformats.org/drawingml/2006/main">
            <a:off x="533400" y="3067050"/>
            <a:ext cx="11125200" cy="2124075"/>
          </a:xfrm>
          <a:prstGeom xmlns:a="http://schemas.openxmlformats.org/drawingml/2006/main" prst="rect">
            <a:avLst/>
          </a:prstGeom>
          <a:noFill xmlns:a="http://schemas.openxmlformats.org/drawingml/2006/main"/>
          <a:ln xmlns:a="http://schemas.openxmlformats.org/drawingml/2006/main" w="9525">
            <a:solidFill>
              <a:srgbClr val="CDCEC5"/>
            </a:solidFill>
          </a:ln>
        </p:spPr>
      </p:sp>
      <p:sp>
        <p:nvSpPr>
          <p:cNvPr id="10" name="text-200">
            <a:extLst xmlns:a="http://schemas.openxmlformats.org/drawingml/2006/main">
              <a:ext uri="{FF2B5EF4-FFF2-40B4-BE49-F238E27FC236}">
                <a16:creationId xmlns:a16="http://schemas.microsoft.com/office/drawing/2014/main" id="{1092235C-913F-45E0-8337-7F01F94E3F0A}"/>
              </a:ext>
            </a:extLst>
          </p:cNvPr>
          <p:cNvSpPr>
            <a:spLocks xmlns:a="http://schemas.openxmlformats.org/drawingml/2006/main" noGrp="1"/>
          </p:cNvSpPr>
          <p:nvPr/>
        </p:nvSpPr>
        <p:spPr>
          <a:xfrm xmlns:a="http://schemas.openxmlformats.org/drawingml/2006/main">
            <a:off x="742950" y="3228975"/>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DOCKER COMPOSE</a:t>
            </a:r>
          </a:p>
        </p:txBody>
      </p:sp>
      <p:sp>
        <p:nvSpPr>
          <p:cNvPr id="11" name="shape-201">
            <a:extLst xmlns:a="http://schemas.openxmlformats.org/drawingml/2006/main">
              <a:ext uri="{FF2B5EF4-FFF2-40B4-BE49-F238E27FC236}">
                <a16:creationId xmlns:a16="http://schemas.microsoft.com/office/drawing/2014/main" id="{1816EDA5-1EB9-4B88-80F9-EEF7160F9B10}"/>
              </a:ext>
            </a:extLst>
          </p:cNvPr>
          <p:cNvSpPr>
            <a:spLocks xmlns:a="http://schemas.openxmlformats.org/drawingml/2006/main" noGrp="1"/>
          </p:cNvSpPr>
          <p:nvPr/>
        </p:nvSpPr>
        <p:spPr>
          <a:xfrm xmlns:a="http://schemas.openxmlformats.org/drawingml/2006/main">
            <a:off x="838200" y="3724275"/>
            <a:ext cx="2895600" cy="1066800"/>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12" name="text-202">
            <a:extLst xmlns:a="http://schemas.openxmlformats.org/drawingml/2006/main">
              <a:ext uri="{FF2B5EF4-FFF2-40B4-BE49-F238E27FC236}">
                <a16:creationId xmlns:a16="http://schemas.microsoft.com/office/drawing/2014/main" id="{66E9B971-3948-4977-AF0C-8E0D8F5C6A29}"/>
              </a:ext>
            </a:extLst>
          </p:cNvPr>
          <p:cNvSpPr>
            <a:spLocks xmlns:a="http://schemas.openxmlformats.org/drawingml/2006/main" noGrp="1"/>
          </p:cNvSpPr>
          <p:nvPr/>
        </p:nvSpPr>
        <p:spPr>
          <a:xfrm xmlns:a="http://schemas.openxmlformats.org/drawingml/2006/main">
            <a:off x="1009650" y="3886200"/>
            <a:ext cx="2552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FRONTEND</a:t>
            </a:r>
          </a:p>
        </p:txBody>
      </p:sp>
      <p:sp>
        <p:nvSpPr>
          <p:cNvPr id="13" name="text-203">
            <a:extLst xmlns:a="http://schemas.openxmlformats.org/drawingml/2006/main">
              <a:ext uri="{FF2B5EF4-FFF2-40B4-BE49-F238E27FC236}">
                <a16:creationId xmlns:a16="http://schemas.microsoft.com/office/drawing/2014/main" id="{697690B0-1508-4AF2-8104-AF7EA6E8D8FC}"/>
              </a:ext>
            </a:extLst>
          </p:cNvPr>
          <p:cNvSpPr>
            <a:spLocks xmlns:a="http://schemas.openxmlformats.org/drawingml/2006/main" noGrp="1"/>
          </p:cNvSpPr>
          <p:nvPr/>
        </p:nvSpPr>
        <p:spPr>
          <a:xfrm xmlns:a="http://schemas.openxmlformats.org/drawingml/2006/main">
            <a:off x="1009650" y="4267200"/>
            <a:ext cx="2552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NGINX</a:t>
            </a:r>
          </a:p>
        </p:txBody>
      </p:sp>
      <p:sp>
        <p:nvSpPr>
          <p:cNvPr id="14" name="text-204">
            <a:extLst xmlns:a="http://schemas.openxmlformats.org/drawingml/2006/main">
              <a:ext uri="{FF2B5EF4-FFF2-40B4-BE49-F238E27FC236}">
                <a16:creationId xmlns:a16="http://schemas.microsoft.com/office/drawing/2014/main" id="{9099543A-954F-4E8F-A87E-BD43C610A4C1}"/>
              </a:ext>
            </a:extLst>
          </p:cNvPr>
          <p:cNvSpPr>
            <a:spLocks xmlns:a="http://schemas.openxmlformats.org/drawingml/2006/main" noGrp="1"/>
          </p:cNvSpPr>
          <p:nvPr/>
        </p:nvSpPr>
        <p:spPr>
          <a:xfrm xmlns:a="http://schemas.openxmlformats.org/drawingml/2006/main">
            <a:off x="3924300" y="4000500"/>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6D5EF4"/>
                </a:solidFill>
                <a:latin typeface="Arial"/>
                <a:ea typeface="Arial"/>
                <a:cs typeface="Arial"/>
              </a:defRPr>
            </a:pPr>
            <a:r>
              <a:rPr sz="2550" b="0">
                <a:solidFill>
                  <a:srgbClr val="6D5EF4"/>
                </a:solidFill>
                <a:latin typeface="Arial"/>
                <a:ea typeface="Arial"/>
                <a:cs typeface="Arial"/>
              </a:rPr>
              <a:t>→</a:t>
            </a:r>
          </a:p>
        </p:txBody>
      </p:sp>
      <p:sp>
        <p:nvSpPr>
          <p:cNvPr id="15" name="shape-205">
            <a:extLst xmlns:a="http://schemas.openxmlformats.org/drawingml/2006/main">
              <a:ext uri="{FF2B5EF4-FFF2-40B4-BE49-F238E27FC236}">
                <a16:creationId xmlns:a16="http://schemas.microsoft.com/office/drawing/2014/main" id="{E2372D1A-CCB6-4CC9-AD1A-70FC6D09352A}"/>
              </a:ext>
            </a:extLst>
          </p:cNvPr>
          <p:cNvSpPr>
            <a:spLocks xmlns:a="http://schemas.openxmlformats.org/drawingml/2006/main" noGrp="1"/>
          </p:cNvSpPr>
          <p:nvPr/>
        </p:nvSpPr>
        <p:spPr>
          <a:xfrm xmlns:a="http://schemas.openxmlformats.org/drawingml/2006/main">
            <a:off x="4619625" y="3724275"/>
            <a:ext cx="2876550" cy="1066800"/>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16" name="text-206">
            <a:extLst xmlns:a="http://schemas.openxmlformats.org/drawingml/2006/main">
              <a:ext uri="{FF2B5EF4-FFF2-40B4-BE49-F238E27FC236}">
                <a16:creationId xmlns:a16="http://schemas.microsoft.com/office/drawing/2014/main" id="{C820301C-5A8B-43E5-9ED0-473238B713A9}"/>
              </a:ext>
            </a:extLst>
          </p:cNvPr>
          <p:cNvSpPr>
            <a:spLocks xmlns:a="http://schemas.openxmlformats.org/drawingml/2006/main" noGrp="1"/>
          </p:cNvSpPr>
          <p:nvPr/>
        </p:nvSpPr>
        <p:spPr>
          <a:xfrm xmlns:a="http://schemas.openxmlformats.org/drawingml/2006/main">
            <a:off x="4791075" y="3886200"/>
            <a:ext cx="2533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API</a:t>
            </a:r>
          </a:p>
        </p:txBody>
      </p:sp>
      <p:sp>
        <p:nvSpPr>
          <p:cNvPr id="17" name="text-207">
            <a:extLst xmlns:a="http://schemas.openxmlformats.org/drawingml/2006/main">
              <a:ext uri="{FF2B5EF4-FFF2-40B4-BE49-F238E27FC236}">
                <a16:creationId xmlns:a16="http://schemas.microsoft.com/office/drawing/2014/main" id="{1ADBF7D9-05A9-4267-93F6-E32C480476BF}"/>
              </a:ext>
            </a:extLst>
          </p:cNvPr>
          <p:cNvSpPr>
            <a:spLocks xmlns:a="http://schemas.openxmlformats.org/drawingml/2006/main" noGrp="1"/>
          </p:cNvSpPr>
          <p:nvPr/>
        </p:nvSpPr>
        <p:spPr>
          <a:xfrm xmlns:a="http://schemas.openxmlformats.org/drawingml/2006/main">
            <a:off x="4791075" y="4267200"/>
            <a:ext cx="2533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NODE.JS</a:t>
            </a:r>
          </a:p>
        </p:txBody>
      </p:sp>
      <p:sp>
        <p:nvSpPr>
          <p:cNvPr id="18" name="text-208">
            <a:extLst xmlns:a="http://schemas.openxmlformats.org/drawingml/2006/main">
              <a:ext uri="{FF2B5EF4-FFF2-40B4-BE49-F238E27FC236}">
                <a16:creationId xmlns:a16="http://schemas.microsoft.com/office/drawing/2014/main" id="{EEFCEB59-FDBB-42DA-9075-9A06EE7BA2A4}"/>
              </a:ext>
            </a:extLst>
          </p:cNvPr>
          <p:cNvSpPr>
            <a:spLocks xmlns:a="http://schemas.openxmlformats.org/drawingml/2006/main" noGrp="1"/>
          </p:cNvSpPr>
          <p:nvPr/>
        </p:nvSpPr>
        <p:spPr>
          <a:xfrm xmlns:a="http://schemas.openxmlformats.org/drawingml/2006/main">
            <a:off x="7696200" y="4000500"/>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6D5EF4"/>
                </a:solidFill>
                <a:latin typeface="Arial"/>
                <a:ea typeface="Arial"/>
                <a:cs typeface="Arial"/>
              </a:defRPr>
            </a:pPr>
            <a:r>
              <a:rPr sz="2550" b="0">
                <a:solidFill>
                  <a:srgbClr val="6D5EF4"/>
                </a:solidFill>
                <a:latin typeface="Arial"/>
                <a:ea typeface="Arial"/>
                <a:cs typeface="Arial"/>
              </a:rPr>
              <a:t>→</a:t>
            </a:r>
          </a:p>
        </p:txBody>
      </p:sp>
      <p:sp>
        <p:nvSpPr>
          <p:cNvPr id="19" name="shape-209">
            <a:extLst xmlns:a="http://schemas.openxmlformats.org/drawingml/2006/main">
              <a:ext uri="{FF2B5EF4-FFF2-40B4-BE49-F238E27FC236}">
                <a16:creationId xmlns:a16="http://schemas.microsoft.com/office/drawing/2014/main" id="{16E3BFBA-F509-47D9-A4F0-ED4D52C340BB}"/>
              </a:ext>
            </a:extLst>
          </p:cNvPr>
          <p:cNvSpPr>
            <a:spLocks xmlns:a="http://schemas.openxmlformats.org/drawingml/2006/main" noGrp="1"/>
          </p:cNvSpPr>
          <p:nvPr/>
        </p:nvSpPr>
        <p:spPr>
          <a:xfrm xmlns:a="http://schemas.openxmlformats.org/drawingml/2006/main">
            <a:off x="8420100" y="3724275"/>
            <a:ext cx="2895600" cy="1066800"/>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20" name="text-210">
            <a:extLst xmlns:a="http://schemas.openxmlformats.org/drawingml/2006/main">
              <a:ext uri="{FF2B5EF4-FFF2-40B4-BE49-F238E27FC236}">
                <a16:creationId xmlns:a16="http://schemas.microsoft.com/office/drawing/2014/main" id="{A03DAF96-3CEF-4255-9BA9-F89CB97610D2}"/>
              </a:ext>
            </a:extLst>
          </p:cNvPr>
          <p:cNvSpPr>
            <a:spLocks xmlns:a="http://schemas.openxmlformats.org/drawingml/2006/main" noGrp="1"/>
          </p:cNvSpPr>
          <p:nvPr/>
        </p:nvSpPr>
        <p:spPr>
          <a:xfrm xmlns:a="http://schemas.openxmlformats.org/drawingml/2006/main">
            <a:off x="8591550" y="3886200"/>
            <a:ext cx="2552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DATABASE</a:t>
            </a:r>
          </a:p>
        </p:txBody>
      </p:sp>
      <p:sp>
        <p:nvSpPr>
          <p:cNvPr id="21" name="text-211">
            <a:extLst xmlns:a="http://schemas.openxmlformats.org/drawingml/2006/main">
              <a:ext uri="{FF2B5EF4-FFF2-40B4-BE49-F238E27FC236}">
                <a16:creationId xmlns:a16="http://schemas.microsoft.com/office/drawing/2014/main" id="{69E0C4D4-307E-443E-A139-75A44EBE12E8}"/>
              </a:ext>
            </a:extLst>
          </p:cNvPr>
          <p:cNvSpPr>
            <a:spLocks xmlns:a="http://schemas.openxmlformats.org/drawingml/2006/main" noGrp="1"/>
          </p:cNvSpPr>
          <p:nvPr/>
        </p:nvSpPr>
        <p:spPr>
          <a:xfrm xmlns:a="http://schemas.openxmlformats.org/drawingml/2006/main">
            <a:off x="8591550" y="4267200"/>
            <a:ext cx="2552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POSTGRESQL</a:t>
            </a:r>
          </a:p>
        </p:txBody>
      </p:sp>
      <p:sp>
        <p:nvSpPr>
          <p:cNvPr id="22" name="text-212">
            <a:extLst xmlns:a="http://schemas.openxmlformats.org/drawingml/2006/main">
              <a:ext uri="{FF2B5EF4-FFF2-40B4-BE49-F238E27FC236}">
                <a16:creationId xmlns:a16="http://schemas.microsoft.com/office/drawing/2014/main" id="{4C1F0314-0292-4719-936B-7D1611D8E3A2}"/>
              </a:ext>
            </a:extLst>
          </p:cNvPr>
          <p:cNvSpPr>
            <a:spLocks xmlns:a="http://schemas.openxmlformats.org/drawingml/2006/main" noGrp="1"/>
          </p:cNvSpPr>
          <p:nvPr/>
        </p:nvSpPr>
        <p:spPr>
          <a:xfrm xmlns:a="http://schemas.openxmlformats.org/drawingml/2006/main">
            <a:off x="533400" y="5543550"/>
            <a:ext cx="59721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75" b="1">
                <a:solidFill>
                  <a:srgbClr val="6D5EF4"/>
                </a:solidFill>
                <a:latin typeface="Menlo"/>
                <a:ea typeface="Menlo"/>
                <a:cs typeface="Menlo"/>
              </a:defRPr>
            </a:pPr>
            <a:r>
              <a:rPr sz="2775" b="1">
                <a:solidFill>
                  <a:srgbClr val="6D5EF4"/>
                </a:solidFill>
                <a:latin typeface="Menlo"/>
                <a:ea typeface="Menlo"/>
                <a:cs typeface="Menlo"/>
              </a:rPr>
              <a:t>$ npm run setup</a:t>
            </a:r>
          </a:p>
        </p:txBody>
      </p:sp>
      <p:sp>
        <p:nvSpPr>
          <p:cNvPr id="23" name="text-213">
            <a:extLst xmlns:a="http://schemas.openxmlformats.org/drawingml/2006/main">
              <a:ext uri="{FF2B5EF4-FFF2-40B4-BE49-F238E27FC236}">
                <a16:creationId xmlns:a16="http://schemas.microsoft.com/office/drawing/2014/main" id="{C27249DF-DA49-4148-8852-7A9906047C86}"/>
              </a:ext>
            </a:extLst>
          </p:cNvPr>
          <p:cNvSpPr>
            <a:spLocks xmlns:a="http://schemas.openxmlformats.org/drawingml/2006/main" noGrp="1"/>
          </p:cNvSpPr>
          <p:nvPr/>
        </p:nvSpPr>
        <p:spPr>
          <a:xfrm xmlns:a="http://schemas.openxmlformats.org/drawingml/2006/main">
            <a:off x="6829425" y="5676900"/>
            <a:ext cx="4819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676961"/>
                </a:solidFill>
                <a:latin typeface="Arial"/>
                <a:ea typeface="Arial"/>
                <a:cs typeface="Arial"/>
              </a:defRPr>
            </a:pPr>
            <a:r>
              <a:rPr sz="1725" b="0">
                <a:solidFill>
                  <a:srgbClr val="676961"/>
                </a:solidFill>
                <a:latin typeface="Arial"/>
                <a:ea typeface="Arial"/>
                <a:cs typeface="Arial"/>
              </a:rPr>
              <a:t>After cloning / Node.js 20+ + Docker</a:t>
            </a:r>
          </a:p>
        </p:txBody>
      </p:sp>
    </p:spTree>
    <p:extLst>
      <p:ext uri="{BB962C8B-B14F-4D97-AF65-F5344CB8AC3E}">
        <p14:creationId xmlns:p14="http://schemas.microsoft.com/office/powerpoint/2010/main" val="1308964713"/>
      </p:ext>
    </p:extLst>
  </p:cSld>
</p:sld>
</file>

<file path=ppt/slides/slide10.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31" name="text-214">
            <a:extLst xmlns:a="http://schemas.openxmlformats.org/drawingml/2006/main">
              <a:ext uri="{FF2B5EF4-FFF2-40B4-BE49-F238E27FC236}">
                <a16:creationId xmlns:a16="http://schemas.microsoft.com/office/drawing/2014/main" id="{32224499-BA9B-40E5-9C3F-45E760DA317D}"/>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10 / IMPLEMENTED MODULES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543c3c9eeb234158">
            <a:extLst>
              <a:ext uri="{96DAC541-7B7A-43D3-8B79-37D633B846F1}">
                <asvg:svgBlip xmlns:asvg="http://schemas.microsoft.com/office/drawing/2016/SVG/main" r:embed="R9b37fe7c4c01461f"/>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3" name="shape-215">
            <a:extLst xmlns:a="http://schemas.openxmlformats.org/drawingml/2006/main">
              <a:ext uri="{FF2B5EF4-FFF2-40B4-BE49-F238E27FC236}">
                <a16:creationId xmlns:a16="http://schemas.microsoft.com/office/drawing/2014/main" id="{B033419F-6E9D-4DF6-AA0A-E65BCE31EB1D}"/>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4" name="text-216">
            <a:extLst xmlns:a="http://schemas.openxmlformats.org/drawingml/2006/main">
              <a:ext uri="{FF2B5EF4-FFF2-40B4-BE49-F238E27FC236}">
                <a16:creationId xmlns:a16="http://schemas.microsoft.com/office/drawing/2014/main" id="{4BBBB2B6-97DE-4A30-97A2-6A7EF10E6CDC}"/>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ENVSYNC / SELF-HOSTED SECRETS</a:t>
            </a:r>
          </a:p>
        </p:txBody>
      </p:sp>
      <p:sp>
        <p:nvSpPr>
          <p:cNvPr id="5" name="text-217">
            <a:extLst xmlns:a="http://schemas.openxmlformats.org/drawingml/2006/main">
              <a:ext uri="{FF2B5EF4-FFF2-40B4-BE49-F238E27FC236}">
                <a16:creationId xmlns:a16="http://schemas.microsoft.com/office/drawing/2014/main" id="{3C8D0CC4-81B8-42C5-BAC0-E785279FF7C7}"/>
              </a:ext>
            </a:extLst>
          </p:cNvPr>
          <p:cNvSpPr>
            <a:spLocks xmlns:a="http://schemas.openxmlformats.org/drawingml/2006/main" noGrp="1"/>
          </p:cNvSpPr>
          <p:nvPr/>
        </p:nvSpPr>
        <p:spPr>
          <a:xfrm xmlns:a="http://schemas.openxmlformats.org/drawingml/2006/main">
            <a:off x="11144250" y="644842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676961"/>
                </a:solidFill>
                <a:latin typeface="Menlo"/>
                <a:ea typeface="Menlo"/>
                <a:cs typeface="Menlo"/>
              </a:defRPr>
            </a:pPr>
            <a:r>
              <a:rPr sz="1350" b="0">
                <a:solidFill>
                  <a:srgbClr val="676961"/>
                </a:solidFill>
                <a:latin typeface="Menlo"/>
                <a:ea typeface="Menlo"/>
                <a:cs typeface="Menlo"/>
              </a:rPr>
              <a:t>10</a:t>
            </a:r>
          </a:p>
        </p:txBody>
      </p:sp>
      <p:sp>
        <p:nvSpPr>
          <p:cNvPr id="6" name="text-218">
            <a:extLst xmlns:a="http://schemas.openxmlformats.org/drawingml/2006/main">
              <a:ext uri="{FF2B5EF4-FFF2-40B4-BE49-F238E27FC236}">
                <a16:creationId xmlns:a16="http://schemas.microsoft.com/office/drawing/2014/main" id="{8C41F65E-CEED-4963-9F3C-0108943350B6}"/>
              </a:ext>
            </a:extLst>
          </p:cNvPr>
          <p:cNvSpPr>
            <a:spLocks xmlns:a="http://schemas.openxmlformats.org/drawingml/2006/main" noGrp="1"/>
          </p:cNvSpPr>
          <p:nvPr/>
        </p:nvSpPr>
        <p:spPr>
          <a:xfrm xmlns:a="http://schemas.openxmlformats.org/drawingml/2006/main">
            <a:off x="533400" y="9334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800" b="1">
                <a:solidFill>
                  <a:srgbClr val="20211F"/>
                </a:solidFill>
                <a:latin typeface="Arial"/>
                <a:ea typeface="Arial"/>
                <a:cs typeface="Arial"/>
              </a:defRPr>
            </a:pPr>
            <a:r>
              <a:rPr sz="4800" b="1">
                <a:solidFill>
                  <a:srgbClr val="20211F"/>
                </a:solidFill>
                <a:latin typeface="Arial"/>
                <a:ea typeface="Arial"/>
                <a:cs typeface="Arial"/>
              </a:rPr>
              <a:t>More than a concept.</a:t>
            </a:r>
          </a:p>
        </p:txBody>
      </p:sp>
      <p:sp>
        <p:nvSpPr>
          <p:cNvPr id="7" name="shape-219">
            <a:extLst xmlns:a="http://schemas.openxmlformats.org/drawingml/2006/main">
              <a:ext uri="{FF2B5EF4-FFF2-40B4-BE49-F238E27FC236}">
                <a16:creationId xmlns:a16="http://schemas.microsoft.com/office/drawing/2014/main" id="{A0463BE4-875F-4E9C-A588-A2D4D0E99A92}"/>
              </a:ext>
            </a:extLst>
          </p:cNvPr>
          <p:cNvSpPr>
            <a:spLocks xmlns:a="http://schemas.openxmlformats.org/drawingml/2006/main" noGrp="1"/>
          </p:cNvSpPr>
          <p:nvPr/>
        </p:nvSpPr>
        <p:spPr>
          <a:xfrm xmlns:a="http://schemas.openxmlformats.org/drawingml/2006/main">
            <a:off x="533400" y="2428875"/>
            <a:ext cx="34290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8" name="text-220">
            <a:extLst xmlns:a="http://schemas.openxmlformats.org/drawingml/2006/main">
              <a:ext uri="{FF2B5EF4-FFF2-40B4-BE49-F238E27FC236}">
                <a16:creationId xmlns:a16="http://schemas.microsoft.com/office/drawing/2014/main" id="{94666229-60C9-419C-B10B-94A3E09FB17C}"/>
              </a:ext>
            </a:extLst>
          </p:cNvPr>
          <p:cNvSpPr>
            <a:spLocks xmlns:a="http://schemas.openxmlformats.org/drawingml/2006/main" noGrp="1"/>
          </p:cNvSpPr>
          <p:nvPr/>
        </p:nvSpPr>
        <p:spPr>
          <a:xfrm xmlns:a="http://schemas.openxmlformats.org/drawingml/2006/main">
            <a:off x="533400" y="2638425"/>
            <a:ext cx="3667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01 / IDENTITY</a:t>
            </a:r>
          </a:p>
        </p:txBody>
      </p:sp>
      <p:sp>
        <p:nvSpPr>
          <p:cNvPr id="9" name="text-221">
            <a:extLst xmlns:a="http://schemas.openxmlformats.org/drawingml/2006/main">
              <a:ext uri="{FF2B5EF4-FFF2-40B4-BE49-F238E27FC236}">
                <a16:creationId xmlns:a16="http://schemas.microsoft.com/office/drawing/2014/main" id="{32377E3D-B6DE-47F6-BDEB-391912E07E11}"/>
              </a:ext>
            </a:extLst>
          </p:cNvPr>
          <p:cNvSpPr>
            <a:spLocks xmlns:a="http://schemas.openxmlformats.org/drawingml/2006/main" noGrp="1"/>
          </p:cNvSpPr>
          <p:nvPr/>
        </p:nvSpPr>
        <p:spPr>
          <a:xfrm xmlns:a="http://schemas.openxmlformats.org/drawingml/2006/main">
            <a:off x="533400" y="304800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20211F"/>
                </a:solidFill>
                <a:latin typeface="Arial"/>
                <a:ea typeface="Arial"/>
                <a:cs typeface="Arial"/>
              </a:defRPr>
            </a:pPr>
            <a:r>
              <a:rPr sz="1875" b="1">
                <a:solidFill>
                  <a:srgbClr val="20211F"/>
                </a:solidFill>
                <a:latin typeface="Arial"/>
                <a:ea typeface="Arial"/>
                <a:cs typeface="Arial"/>
              </a:rPr>
              <a:t>Accounts · sessions</a:t>
            </a:r>
          </a:p>
        </p:txBody>
      </p:sp>
      <p:sp>
        <p:nvSpPr>
          <p:cNvPr id="10" name="text-222">
            <a:extLst xmlns:a="http://schemas.openxmlformats.org/drawingml/2006/main">
              <a:ext uri="{FF2B5EF4-FFF2-40B4-BE49-F238E27FC236}">
                <a16:creationId xmlns:a16="http://schemas.microsoft.com/office/drawing/2014/main" id="{C61170D6-FA0F-486A-8E82-41CD735342FD}"/>
              </a:ext>
            </a:extLst>
          </p:cNvPr>
          <p:cNvSpPr>
            <a:spLocks xmlns:a="http://schemas.openxmlformats.org/drawingml/2006/main" noGrp="1"/>
          </p:cNvSpPr>
          <p:nvPr/>
        </p:nvSpPr>
        <p:spPr>
          <a:xfrm xmlns:a="http://schemas.openxmlformats.org/drawingml/2006/main">
            <a:off x="533400" y="34290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676961"/>
                </a:solidFill>
                <a:latin typeface="Arial"/>
                <a:ea typeface="Arial"/>
                <a:cs typeface="Arial"/>
              </a:defRPr>
            </a:pPr>
            <a:r>
              <a:rPr sz="1725" b="0">
                <a:solidFill>
                  <a:srgbClr val="676961"/>
                </a:solidFill>
                <a:latin typeface="Arial"/>
                <a:ea typeface="Arial"/>
                <a:cs typeface="Arial"/>
              </a:rPr>
              <a:t>Admin controls</a:t>
            </a:r>
          </a:p>
        </p:txBody>
      </p:sp>
      <p:sp>
        <p:nvSpPr>
          <p:cNvPr id="11" name="shape-223">
            <a:extLst xmlns:a="http://schemas.openxmlformats.org/drawingml/2006/main">
              <a:ext uri="{FF2B5EF4-FFF2-40B4-BE49-F238E27FC236}">
                <a16:creationId xmlns:a16="http://schemas.microsoft.com/office/drawing/2014/main" id="{01C413F0-F51C-46E8-A56B-36997FC34E12}"/>
              </a:ext>
            </a:extLst>
          </p:cNvPr>
          <p:cNvSpPr>
            <a:spLocks xmlns:a="http://schemas.openxmlformats.org/drawingml/2006/main" noGrp="1"/>
          </p:cNvSpPr>
          <p:nvPr/>
        </p:nvSpPr>
        <p:spPr>
          <a:xfrm xmlns:a="http://schemas.openxmlformats.org/drawingml/2006/main">
            <a:off x="4381500" y="2428875"/>
            <a:ext cx="34290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12" name="text-224">
            <a:extLst xmlns:a="http://schemas.openxmlformats.org/drawingml/2006/main">
              <a:ext uri="{FF2B5EF4-FFF2-40B4-BE49-F238E27FC236}">
                <a16:creationId xmlns:a16="http://schemas.microsoft.com/office/drawing/2014/main" id="{751264E2-13AC-450F-9F7D-76457E843CF9}"/>
              </a:ext>
            </a:extLst>
          </p:cNvPr>
          <p:cNvSpPr>
            <a:spLocks xmlns:a="http://schemas.openxmlformats.org/drawingml/2006/main" noGrp="1"/>
          </p:cNvSpPr>
          <p:nvPr/>
        </p:nvSpPr>
        <p:spPr>
          <a:xfrm xmlns:a="http://schemas.openxmlformats.org/drawingml/2006/main">
            <a:off x="4381500" y="2638425"/>
            <a:ext cx="3667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02 / SECRETS</a:t>
            </a:r>
          </a:p>
        </p:txBody>
      </p:sp>
      <p:sp>
        <p:nvSpPr>
          <p:cNvPr id="13" name="text-225">
            <a:extLst xmlns:a="http://schemas.openxmlformats.org/drawingml/2006/main">
              <a:ext uri="{FF2B5EF4-FFF2-40B4-BE49-F238E27FC236}">
                <a16:creationId xmlns:a16="http://schemas.microsoft.com/office/drawing/2014/main" id="{EC9EB3C2-3DC5-4750-8133-E208B41C78B1}"/>
              </a:ext>
            </a:extLst>
          </p:cNvPr>
          <p:cNvSpPr>
            <a:spLocks xmlns:a="http://schemas.openxmlformats.org/drawingml/2006/main" noGrp="1"/>
          </p:cNvSpPr>
          <p:nvPr/>
        </p:nvSpPr>
        <p:spPr>
          <a:xfrm xmlns:a="http://schemas.openxmlformats.org/drawingml/2006/main">
            <a:off x="4381500" y="304800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20211F"/>
                </a:solidFill>
                <a:latin typeface="Arial"/>
                <a:ea typeface="Arial"/>
                <a:cs typeface="Arial"/>
              </a:defRPr>
            </a:pPr>
            <a:r>
              <a:rPr sz="1875" b="1">
                <a:solidFill>
                  <a:srgbClr val="20211F"/>
                </a:solidFill>
                <a:latin typeface="Arial"/>
                <a:ea typeface="Arial"/>
                <a:cs typeface="Arial"/>
              </a:rPr>
              <a:t>Projects · environments</a:t>
            </a:r>
          </a:p>
        </p:txBody>
      </p:sp>
      <p:sp>
        <p:nvSpPr>
          <p:cNvPr id="14" name="text-226">
            <a:extLst xmlns:a="http://schemas.openxmlformats.org/drawingml/2006/main">
              <a:ext uri="{FF2B5EF4-FFF2-40B4-BE49-F238E27FC236}">
                <a16:creationId xmlns:a16="http://schemas.microsoft.com/office/drawing/2014/main" id="{1B444A4D-7CCF-4AC2-B88E-4180E8C40C05}"/>
              </a:ext>
            </a:extLst>
          </p:cNvPr>
          <p:cNvSpPr>
            <a:spLocks xmlns:a="http://schemas.openxmlformats.org/drawingml/2006/main" noGrp="1"/>
          </p:cNvSpPr>
          <p:nvPr/>
        </p:nvSpPr>
        <p:spPr>
          <a:xfrm xmlns:a="http://schemas.openxmlformats.org/drawingml/2006/main">
            <a:off x="4381500" y="34290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676961"/>
                </a:solidFill>
                <a:latin typeface="Arial"/>
                <a:ea typeface="Arial"/>
                <a:cs typeface="Arial"/>
              </a:defRPr>
            </a:pPr>
            <a:r>
              <a:rPr sz="1725" b="0">
                <a:solidFill>
                  <a:srgbClr val="676961"/>
                </a:solidFill>
                <a:latin typeface="Arial"/>
                <a:ea typeface="Arial"/>
                <a:cs typeface="Arial"/>
              </a:rPr>
              <a:t>Encrypted storage</a:t>
            </a:r>
          </a:p>
        </p:txBody>
      </p:sp>
      <p:sp>
        <p:nvSpPr>
          <p:cNvPr id="15" name="shape-227">
            <a:extLst xmlns:a="http://schemas.openxmlformats.org/drawingml/2006/main">
              <a:ext uri="{FF2B5EF4-FFF2-40B4-BE49-F238E27FC236}">
                <a16:creationId xmlns:a16="http://schemas.microsoft.com/office/drawing/2014/main" id="{5F41D552-DEFC-4EFD-8B86-32AF686265C1}"/>
              </a:ext>
            </a:extLst>
          </p:cNvPr>
          <p:cNvSpPr>
            <a:spLocks xmlns:a="http://schemas.openxmlformats.org/drawingml/2006/main" noGrp="1"/>
          </p:cNvSpPr>
          <p:nvPr/>
        </p:nvSpPr>
        <p:spPr>
          <a:xfrm xmlns:a="http://schemas.openxmlformats.org/drawingml/2006/main">
            <a:off x="8229600" y="2428875"/>
            <a:ext cx="34290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16" name="text-228">
            <a:extLst xmlns:a="http://schemas.openxmlformats.org/drawingml/2006/main">
              <a:ext uri="{FF2B5EF4-FFF2-40B4-BE49-F238E27FC236}">
                <a16:creationId xmlns:a16="http://schemas.microsoft.com/office/drawing/2014/main" id="{A60C98BB-E4FF-41A6-B438-C6899C235C16}"/>
              </a:ext>
            </a:extLst>
          </p:cNvPr>
          <p:cNvSpPr>
            <a:spLocks xmlns:a="http://schemas.openxmlformats.org/drawingml/2006/main" noGrp="1"/>
          </p:cNvSpPr>
          <p:nvPr/>
        </p:nvSpPr>
        <p:spPr>
          <a:xfrm xmlns:a="http://schemas.openxmlformats.org/drawingml/2006/main">
            <a:off x="8229600" y="2638425"/>
            <a:ext cx="3667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03 / ACCESS</a:t>
            </a:r>
          </a:p>
        </p:txBody>
      </p:sp>
      <p:sp>
        <p:nvSpPr>
          <p:cNvPr id="17" name="text-229">
            <a:extLst xmlns:a="http://schemas.openxmlformats.org/drawingml/2006/main">
              <a:ext uri="{FF2B5EF4-FFF2-40B4-BE49-F238E27FC236}">
                <a16:creationId xmlns:a16="http://schemas.microsoft.com/office/drawing/2014/main" id="{A9479BE5-B2E0-43D8-A2FB-51977DB56A1A}"/>
              </a:ext>
            </a:extLst>
          </p:cNvPr>
          <p:cNvSpPr>
            <a:spLocks xmlns:a="http://schemas.openxmlformats.org/drawingml/2006/main" noGrp="1"/>
          </p:cNvSpPr>
          <p:nvPr/>
        </p:nvSpPr>
        <p:spPr>
          <a:xfrm xmlns:a="http://schemas.openxmlformats.org/drawingml/2006/main">
            <a:off x="8229600" y="304800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20211F"/>
                </a:solidFill>
                <a:latin typeface="Arial"/>
                <a:ea typeface="Arial"/>
                <a:cs typeface="Arial"/>
              </a:defRPr>
            </a:pPr>
            <a:r>
              <a:rPr sz="1875" b="1">
                <a:solidFill>
                  <a:srgbClr val="20211F"/>
                </a:solidFill>
                <a:latin typeface="Arial"/>
                <a:ea typeface="Arial"/>
                <a:cs typeface="Arial"/>
              </a:rPr>
              <a:t>Resource sharing</a:t>
            </a:r>
          </a:p>
        </p:txBody>
      </p:sp>
      <p:sp>
        <p:nvSpPr>
          <p:cNvPr id="18" name="text-230">
            <a:extLst xmlns:a="http://schemas.openxmlformats.org/drawingml/2006/main">
              <a:ext uri="{FF2B5EF4-FFF2-40B4-BE49-F238E27FC236}">
                <a16:creationId xmlns:a16="http://schemas.microsoft.com/office/drawing/2014/main" id="{45CD0366-14EB-49E2-BF0B-80DA4FD35909}"/>
              </a:ext>
            </a:extLst>
          </p:cNvPr>
          <p:cNvSpPr>
            <a:spLocks xmlns:a="http://schemas.openxmlformats.org/drawingml/2006/main" noGrp="1"/>
          </p:cNvSpPr>
          <p:nvPr/>
        </p:nvSpPr>
        <p:spPr>
          <a:xfrm xmlns:a="http://schemas.openxmlformats.org/drawingml/2006/main">
            <a:off x="8229600" y="34290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676961"/>
                </a:solidFill>
                <a:latin typeface="Arial"/>
                <a:ea typeface="Arial"/>
                <a:cs typeface="Arial"/>
              </a:defRPr>
            </a:pPr>
            <a:r>
              <a:rPr sz="1725" b="0">
                <a:solidFill>
                  <a:srgbClr val="676961"/>
                </a:solidFill>
                <a:latin typeface="Arial"/>
                <a:ea typeface="Arial"/>
                <a:cs typeface="Arial"/>
              </a:rPr>
              <a:t>Scoped application keys</a:t>
            </a:r>
          </a:p>
        </p:txBody>
      </p:sp>
      <p:sp>
        <p:nvSpPr>
          <p:cNvPr id="19" name="shape-231">
            <a:extLst xmlns:a="http://schemas.openxmlformats.org/drawingml/2006/main">
              <a:ext uri="{FF2B5EF4-FFF2-40B4-BE49-F238E27FC236}">
                <a16:creationId xmlns:a16="http://schemas.microsoft.com/office/drawing/2014/main" id="{1A4F329B-4C20-4DE5-A72E-0FA5B8F916EC}"/>
              </a:ext>
            </a:extLst>
          </p:cNvPr>
          <p:cNvSpPr>
            <a:spLocks xmlns:a="http://schemas.openxmlformats.org/drawingml/2006/main" noGrp="1"/>
          </p:cNvSpPr>
          <p:nvPr/>
        </p:nvSpPr>
        <p:spPr>
          <a:xfrm xmlns:a="http://schemas.openxmlformats.org/drawingml/2006/main">
            <a:off x="533400" y="4210050"/>
            <a:ext cx="34290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20" name="text-232">
            <a:extLst xmlns:a="http://schemas.openxmlformats.org/drawingml/2006/main">
              <a:ext uri="{FF2B5EF4-FFF2-40B4-BE49-F238E27FC236}">
                <a16:creationId xmlns:a16="http://schemas.microsoft.com/office/drawing/2014/main" id="{37E8FC1F-AFD9-4A61-887A-5847934402B9}"/>
              </a:ext>
            </a:extLst>
          </p:cNvPr>
          <p:cNvSpPr>
            <a:spLocks xmlns:a="http://schemas.openxmlformats.org/drawingml/2006/main" noGrp="1"/>
          </p:cNvSpPr>
          <p:nvPr/>
        </p:nvSpPr>
        <p:spPr>
          <a:xfrm xmlns:a="http://schemas.openxmlformats.org/drawingml/2006/main">
            <a:off x="533400" y="4419600"/>
            <a:ext cx="3667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04 / DEVELOPERS</a:t>
            </a:r>
          </a:p>
        </p:txBody>
      </p:sp>
      <p:sp>
        <p:nvSpPr>
          <p:cNvPr id="21" name="text-233">
            <a:extLst xmlns:a="http://schemas.openxmlformats.org/drawingml/2006/main">
              <a:ext uri="{FF2B5EF4-FFF2-40B4-BE49-F238E27FC236}">
                <a16:creationId xmlns:a16="http://schemas.microsoft.com/office/drawing/2014/main" id="{EE936DAC-F1DE-48FE-8834-80BA58014B34}"/>
              </a:ext>
            </a:extLst>
          </p:cNvPr>
          <p:cNvSpPr>
            <a:spLocks xmlns:a="http://schemas.openxmlformats.org/drawingml/2006/main" noGrp="1"/>
          </p:cNvSpPr>
          <p:nvPr/>
        </p:nvSpPr>
        <p:spPr>
          <a:xfrm xmlns:a="http://schemas.openxmlformats.org/drawingml/2006/main">
            <a:off x="533400" y="482917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20211F"/>
                </a:solidFill>
                <a:latin typeface="Arial"/>
                <a:ea typeface="Arial"/>
                <a:cs typeface="Arial"/>
              </a:defRPr>
            </a:pPr>
            <a:r>
              <a:rPr sz="1875" b="1">
                <a:solidFill>
                  <a:srgbClr val="20211F"/>
                </a:solidFill>
                <a:latin typeface="Arial"/>
                <a:ea typeface="Arial"/>
                <a:cs typeface="Arial"/>
              </a:rPr>
              <a:t>Node.js + Python SDKs</a:t>
            </a:r>
          </a:p>
        </p:txBody>
      </p:sp>
      <p:sp>
        <p:nvSpPr>
          <p:cNvPr id="22" name="text-234">
            <a:extLst xmlns:a="http://schemas.openxmlformats.org/drawingml/2006/main">
              <a:ext uri="{FF2B5EF4-FFF2-40B4-BE49-F238E27FC236}">
                <a16:creationId xmlns:a16="http://schemas.microsoft.com/office/drawing/2014/main" id="{C1191204-C804-4CC1-9E27-1D6FA2CA075E}"/>
              </a:ext>
            </a:extLst>
          </p:cNvPr>
          <p:cNvSpPr>
            <a:spLocks xmlns:a="http://schemas.openxmlformats.org/drawingml/2006/main" noGrp="1"/>
          </p:cNvSpPr>
          <p:nvPr/>
        </p:nvSpPr>
        <p:spPr>
          <a:xfrm xmlns:a="http://schemas.openxmlformats.org/drawingml/2006/main">
            <a:off x="533400" y="5210175"/>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676961"/>
                </a:solidFill>
                <a:latin typeface="Arial"/>
                <a:ea typeface="Arial"/>
                <a:cs typeface="Arial"/>
              </a:defRPr>
            </a:pPr>
            <a:r>
              <a:rPr sz="1725" b="0">
                <a:solidFill>
                  <a:srgbClr val="676961"/>
                </a:solidFill>
                <a:latin typeface="Arial"/>
                <a:ea typeface="Arial"/>
                <a:cs typeface="Arial"/>
              </a:rPr>
              <a:t>API · documentation</a:t>
            </a:r>
          </a:p>
        </p:txBody>
      </p:sp>
      <p:sp>
        <p:nvSpPr>
          <p:cNvPr id="23" name="shape-235">
            <a:extLst xmlns:a="http://schemas.openxmlformats.org/drawingml/2006/main">
              <a:ext uri="{FF2B5EF4-FFF2-40B4-BE49-F238E27FC236}">
                <a16:creationId xmlns:a16="http://schemas.microsoft.com/office/drawing/2014/main" id="{62BE7743-C792-4CE4-9A15-D1903F2D3F51}"/>
              </a:ext>
            </a:extLst>
          </p:cNvPr>
          <p:cNvSpPr>
            <a:spLocks xmlns:a="http://schemas.openxmlformats.org/drawingml/2006/main" noGrp="1"/>
          </p:cNvSpPr>
          <p:nvPr/>
        </p:nvSpPr>
        <p:spPr>
          <a:xfrm xmlns:a="http://schemas.openxmlformats.org/drawingml/2006/main">
            <a:off x="4381500" y="4210050"/>
            <a:ext cx="34290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24" name="text-236">
            <a:extLst xmlns:a="http://schemas.openxmlformats.org/drawingml/2006/main">
              <a:ext uri="{FF2B5EF4-FFF2-40B4-BE49-F238E27FC236}">
                <a16:creationId xmlns:a16="http://schemas.microsoft.com/office/drawing/2014/main" id="{D90879CE-3687-41E1-A429-0C44033724D2}"/>
              </a:ext>
            </a:extLst>
          </p:cNvPr>
          <p:cNvSpPr>
            <a:spLocks xmlns:a="http://schemas.openxmlformats.org/drawingml/2006/main" noGrp="1"/>
          </p:cNvSpPr>
          <p:nvPr/>
        </p:nvSpPr>
        <p:spPr>
          <a:xfrm xmlns:a="http://schemas.openxmlformats.org/drawingml/2006/main">
            <a:off x="4381500" y="4419600"/>
            <a:ext cx="3667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05 / AGENTS · PREVIEW</a:t>
            </a:r>
          </a:p>
        </p:txBody>
      </p:sp>
      <p:sp>
        <p:nvSpPr>
          <p:cNvPr id="25" name="text-237">
            <a:extLst xmlns:a="http://schemas.openxmlformats.org/drawingml/2006/main">
              <a:ext uri="{FF2B5EF4-FFF2-40B4-BE49-F238E27FC236}">
                <a16:creationId xmlns:a16="http://schemas.microsoft.com/office/drawing/2014/main" id="{3ECEFF51-C9EE-4FA9-A86A-1639A06CC619}"/>
              </a:ext>
            </a:extLst>
          </p:cNvPr>
          <p:cNvSpPr>
            <a:spLocks xmlns:a="http://schemas.openxmlformats.org/drawingml/2006/main" noGrp="1"/>
          </p:cNvSpPr>
          <p:nvPr/>
        </p:nvSpPr>
        <p:spPr>
          <a:xfrm xmlns:a="http://schemas.openxmlformats.org/drawingml/2006/main">
            <a:off x="4381500" y="482917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20211F"/>
                </a:solidFill>
                <a:latin typeface="Arial"/>
                <a:ea typeface="Arial"/>
                <a:cs typeface="Arial"/>
              </a:defRPr>
            </a:pPr>
            <a:r>
              <a:rPr sz="1875" b="1">
                <a:solidFill>
                  <a:srgbClr val="20211F"/>
                </a:solidFill>
                <a:latin typeface="Arial"/>
                <a:ea typeface="Arial"/>
                <a:cs typeface="Arial"/>
              </a:rPr>
              <a:t>MCP · approvals</a:t>
            </a:r>
          </a:p>
        </p:txBody>
      </p:sp>
      <p:sp>
        <p:nvSpPr>
          <p:cNvPr id="26" name="text-238">
            <a:extLst xmlns:a="http://schemas.openxmlformats.org/drawingml/2006/main">
              <a:ext uri="{FF2B5EF4-FFF2-40B4-BE49-F238E27FC236}">
                <a16:creationId xmlns:a16="http://schemas.microsoft.com/office/drawing/2014/main" id="{77B4679C-AC2A-4BF7-A66F-B049B4179D60}"/>
              </a:ext>
            </a:extLst>
          </p:cNvPr>
          <p:cNvSpPr>
            <a:spLocks xmlns:a="http://schemas.openxmlformats.org/drawingml/2006/main" noGrp="1"/>
          </p:cNvSpPr>
          <p:nvPr/>
        </p:nvSpPr>
        <p:spPr>
          <a:xfrm xmlns:a="http://schemas.openxmlformats.org/drawingml/2006/main">
            <a:off x="4381500" y="5210175"/>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676961"/>
                </a:solidFill>
                <a:latin typeface="Arial"/>
                <a:ea typeface="Arial"/>
                <a:cs typeface="Arial"/>
              </a:defRPr>
            </a:pPr>
            <a:r>
              <a:rPr sz="1725" b="0">
                <a:solidFill>
                  <a:srgbClr val="676961"/>
                </a:solidFill>
                <a:latin typeface="Arial"/>
                <a:ea typeface="Arial"/>
                <a:cs typeface="Arial"/>
              </a:rPr>
              <a:t>Per-environment grants · TTL</a:t>
            </a:r>
          </a:p>
        </p:txBody>
      </p:sp>
      <p:sp>
        <p:nvSpPr>
          <p:cNvPr id="27" name="shape-239">
            <a:extLst xmlns:a="http://schemas.openxmlformats.org/drawingml/2006/main">
              <a:ext uri="{FF2B5EF4-FFF2-40B4-BE49-F238E27FC236}">
                <a16:creationId xmlns:a16="http://schemas.microsoft.com/office/drawing/2014/main" id="{396ACC1D-43EF-4157-BA1F-9D0EA4564512}"/>
              </a:ext>
            </a:extLst>
          </p:cNvPr>
          <p:cNvSpPr>
            <a:spLocks xmlns:a="http://schemas.openxmlformats.org/drawingml/2006/main" noGrp="1"/>
          </p:cNvSpPr>
          <p:nvPr/>
        </p:nvSpPr>
        <p:spPr>
          <a:xfrm xmlns:a="http://schemas.openxmlformats.org/drawingml/2006/main">
            <a:off x="8229600" y="4210050"/>
            <a:ext cx="34290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28" name="text-240">
            <a:extLst xmlns:a="http://schemas.openxmlformats.org/drawingml/2006/main">
              <a:ext uri="{FF2B5EF4-FFF2-40B4-BE49-F238E27FC236}">
                <a16:creationId xmlns:a16="http://schemas.microsoft.com/office/drawing/2014/main" id="{85154FA6-C81B-479A-ACBC-13E0CA6A74B8}"/>
              </a:ext>
            </a:extLst>
          </p:cNvPr>
          <p:cNvSpPr>
            <a:spLocks xmlns:a="http://schemas.openxmlformats.org/drawingml/2006/main" noGrp="1"/>
          </p:cNvSpPr>
          <p:nvPr/>
        </p:nvSpPr>
        <p:spPr>
          <a:xfrm xmlns:a="http://schemas.openxmlformats.org/drawingml/2006/main">
            <a:off x="8229600" y="4419600"/>
            <a:ext cx="3667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06 / OPERATIONS</a:t>
            </a:r>
          </a:p>
        </p:txBody>
      </p:sp>
      <p:sp>
        <p:nvSpPr>
          <p:cNvPr id="29" name="text-241">
            <a:extLst xmlns:a="http://schemas.openxmlformats.org/drawingml/2006/main">
              <a:ext uri="{FF2B5EF4-FFF2-40B4-BE49-F238E27FC236}">
                <a16:creationId xmlns:a16="http://schemas.microsoft.com/office/drawing/2014/main" id="{F0F0A72B-E7A8-4FD4-ADEB-DCBC870DBBE8}"/>
              </a:ext>
            </a:extLst>
          </p:cNvPr>
          <p:cNvSpPr>
            <a:spLocks xmlns:a="http://schemas.openxmlformats.org/drawingml/2006/main" noGrp="1"/>
          </p:cNvSpPr>
          <p:nvPr/>
        </p:nvSpPr>
        <p:spPr>
          <a:xfrm xmlns:a="http://schemas.openxmlformats.org/drawingml/2006/main">
            <a:off x="8229600" y="482917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20211F"/>
                </a:solidFill>
                <a:latin typeface="Arial"/>
                <a:ea typeface="Arial"/>
                <a:cs typeface="Arial"/>
              </a:defRPr>
            </a:pPr>
            <a:r>
              <a:rPr sz="1875" b="1">
                <a:solidFill>
                  <a:srgbClr val="20211F"/>
                </a:solidFill>
                <a:latin typeface="Arial"/>
                <a:ea typeface="Arial"/>
                <a:cs typeface="Arial"/>
              </a:rPr>
              <a:t>Docker · guided setup</a:t>
            </a:r>
          </a:p>
        </p:txBody>
      </p:sp>
      <p:sp>
        <p:nvSpPr>
          <p:cNvPr id="30" name="text-242">
            <a:extLst xmlns:a="http://schemas.openxmlformats.org/drawingml/2006/main">
              <a:ext uri="{FF2B5EF4-FFF2-40B4-BE49-F238E27FC236}">
                <a16:creationId xmlns:a16="http://schemas.microsoft.com/office/drawing/2014/main" id="{BECB26B8-9FF6-43FA-802C-27BD3C5FD892}"/>
              </a:ext>
            </a:extLst>
          </p:cNvPr>
          <p:cNvSpPr>
            <a:spLocks xmlns:a="http://schemas.openxmlformats.org/drawingml/2006/main" noGrp="1"/>
          </p:cNvSpPr>
          <p:nvPr/>
        </p:nvSpPr>
        <p:spPr>
          <a:xfrm xmlns:a="http://schemas.openxmlformats.org/drawingml/2006/main">
            <a:off x="8229600" y="5210175"/>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676961"/>
                </a:solidFill>
                <a:latin typeface="Arial"/>
                <a:ea typeface="Arial"/>
                <a:cs typeface="Arial"/>
              </a:defRPr>
            </a:pPr>
            <a:r>
              <a:rPr sz="1725" b="0">
                <a:solidFill>
                  <a:srgbClr val="676961"/>
                </a:solidFill>
                <a:latin typeface="Arial"/>
                <a:ea typeface="Arial"/>
                <a:cs typeface="Arial"/>
              </a:rPr>
              <a:t>Audit history</a:t>
            </a:r>
          </a:p>
        </p:txBody>
      </p:sp>
    </p:spTree>
    <p:extLst>
      <p:ext uri="{BB962C8B-B14F-4D97-AF65-F5344CB8AC3E}">
        <p14:creationId xmlns:p14="http://schemas.microsoft.com/office/powerpoint/2010/main" val="2104307557"/>
      </p:ext>
    </p:extLst>
  </p:cSld>
</p:sld>
</file>

<file path=ppt/slides/slide11.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26" name="text-243">
            <a:extLst xmlns:a="http://schemas.openxmlformats.org/drawingml/2006/main">
              <a:ext uri="{FF2B5EF4-FFF2-40B4-BE49-F238E27FC236}">
                <a16:creationId xmlns:a16="http://schemas.microsoft.com/office/drawing/2014/main" id="{D0CEF8DB-6717-4821-BD23-A0FD2E3BD0A0}"/>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11 / PRODUCT STATUS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f0e106b602b45fb">
            <a:extLst>
              <a:ext uri="{96DAC541-7B7A-43D3-8B79-37D633B846F1}">
                <asvg:svgBlip xmlns:asvg="http://schemas.microsoft.com/office/drawing/2016/SVG/main" r:embed="Radcdb75e664e4121"/>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3" name="shape-244">
            <a:extLst xmlns:a="http://schemas.openxmlformats.org/drawingml/2006/main">
              <a:ext uri="{FF2B5EF4-FFF2-40B4-BE49-F238E27FC236}">
                <a16:creationId xmlns:a16="http://schemas.microsoft.com/office/drawing/2014/main" id="{45D2EE0A-C22C-4823-923B-E1D6894534AD}"/>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4" name="text-245">
            <a:extLst xmlns:a="http://schemas.openxmlformats.org/drawingml/2006/main">
              <a:ext uri="{FF2B5EF4-FFF2-40B4-BE49-F238E27FC236}">
                <a16:creationId xmlns:a16="http://schemas.microsoft.com/office/drawing/2014/main" id="{FB67CD64-2377-4AD9-A93E-F69F93AD6320}"/>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ENVSYNC / SELF-HOSTED SECRETS</a:t>
            </a:r>
          </a:p>
        </p:txBody>
      </p:sp>
      <p:sp>
        <p:nvSpPr>
          <p:cNvPr id="5" name="text-246">
            <a:extLst xmlns:a="http://schemas.openxmlformats.org/drawingml/2006/main">
              <a:ext uri="{FF2B5EF4-FFF2-40B4-BE49-F238E27FC236}">
                <a16:creationId xmlns:a16="http://schemas.microsoft.com/office/drawing/2014/main" id="{77EA4E5A-8CD9-450A-AA60-B5C468B9B301}"/>
              </a:ext>
            </a:extLst>
          </p:cNvPr>
          <p:cNvSpPr>
            <a:spLocks xmlns:a="http://schemas.openxmlformats.org/drawingml/2006/main" noGrp="1"/>
          </p:cNvSpPr>
          <p:nvPr/>
        </p:nvSpPr>
        <p:spPr>
          <a:xfrm xmlns:a="http://schemas.openxmlformats.org/drawingml/2006/main">
            <a:off x="11144250" y="644842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676961"/>
                </a:solidFill>
                <a:latin typeface="Menlo"/>
                <a:ea typeface="Menlo"/>
                <a:cs typeface="Menlo"/>
              </a:defRPr>
            </a:pPr>
            <a:r>
              <a:rPr sz="1350" b="0">
                <a:solidFill>
                  <a:srgbClr val="676961"/>
                </a:solidFill>
                <a:latin typeface="Menlo"/>
                <a:ea typeface="Menlo"/>
                <a:cs typeface="Menlo"/>
              </a:rPr>
              <a:t>11</a:t>
            </a:r>
          </a:p>
        </p:txBody>
      </p:sp>
      <p:sp>
        <p:nvSpPr>
          <p:cNvPr id="6" name="text-247">
            <a:extLst xmlns:a="http://schemas.openxmlformats.org/drawingml/2006/main">
              <a:ext uri="{FF2B5EF4-FFF2-40B4-BE49-F238E27FC236}">
                <a16:creationId xmlns:a16="http://schemas.microsoft.com/office/drawing/2014/main" id="{2AD6501D-3369-474F-880D-FE8CEC01D626}"/>
              </a:ext>
            </a:extLst>
          </p:cNvPr>
          <p:cNvSpPr>
            <a:spLocks xmlns:a="http://schemas.openxmlformats.org/drawingml/2006/main" noGrp="1"/>
          </p:cNvSpPr>
          <p:nvPr/>
        </p:nvSpPr>
        <p:spPr>
          <a:xfrm xmlns:a="http://schemas.openxmlformats.org/drawingml/2006/main">
            <a:off x="533400" y="942975"/>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800" b="1">
                <a:solidFill>
                  <a:srgbClr val="20211F"/>
                </a:solidFill>
                <a:latin typeface="Arial"/>
                <a:ea typeface="Arial"/>
                <a:cs typeface="Arial"/>
              </a:defRPr>
            </a:pPr>
            <a:r>
              <a:rPr sz="4800" b="1">
                <a:solidFill>
                  <a:srgbClr val="20211F"/>
                </a:solidFill>
                <a:latin typeface="Arial"/>
                <a:ea typeface="Arial"/>
                <a:cs typeface="Arial"/>
              </a:rPr>
              <a:t>Built. Now hardening.</a:t>
            </a:r>
          </a:p>
        </p:txBody>
      </p:sp>
      <p:sp>
        <p:nvSpPr>
          <p:cNvPr id="7" name="shape-248">
            <a:extLst xmlns:a="http://schemas.openxmlformats.org/drawingml/2006/main">
              <a:ext uri="{FF2B5EF4-FFF2-40B4-BE49-F238E27FC236}">
                <a16:creationId xmlns:a16="http://schemas.microsoft.com/office/drawing/2014/main" id="{28D7B589-EF18-4A26-A156-C049803DFE0E}"/>
              </a:ext>
            </a:extLst>
          </p:cNvPr>
          <p:cNvSpPr>
            <a:spLocks xmlns:a="http://schemas.openxmlformats.org/drawingml/2006/main" noGrp="1"/>
          </p:cNvSpPr>
          <p:nvPr/>
        </p:nvSpPr>
        <p:spPr>
          <a:xfrm xmlns:a="http://schemas.openxmlformats.org/drawingml/2006/main">
            <a:off x="533400" y="2581275"/>
            <a:ext cx="3467100" cy="47625"/>
          </a:xfrm>
          <a:prstGeom xmlns:a="http://schemas.openxmlformats.org/drawingml/2006/main" prst="rect">
            <a:avLst/>
          </a:prstGeom>
          <a:solidFill xmlns:a="http://schemas.openxmlformats.org/drawingml/2006/main">
            <a:srgbClr val="20211F"/>
          </a:solidFill>
          <a:ln xmlns:a="http://schemas.openxmlformats.org/drawingml/2006/main" w="0">
            <a:noFill/>
          </a:ln>
        </p:spPr>
      </p:sp>
      <p:sp>
        <p:nvSpPr>
          <p:cNvPr id="8" name="text-249">
            <a:extLst xmlns:a="http://schemas.openxmlformats.org/drawingml/2006/main">
              <a:ext uri="{FF2B5EF4-FFF2-40B4-BE49-F238E27FC236}">
                <a16:creationId xmlns:a16="http://schemas.microsoft.com/office/drawing/2014/main" id="{28A33F75-26EC-4F43-8A02-4CC246703FD2}"/>
              </a:ext>
            </a:extLst>
          </p:cNvPr>
          <p:cNvSpPr>
            <a:spLocks xmlns:a="http://schemas.openxmlformats.org/drawingml/2006/main" noGrp="1"/>
          </p:cNvSpPr>
          <p:nvPr/>
        </p:nvSpPr>
        <p:spPr>
          <a:xfrm xmlns:a="http://schemas.openxmlformats.org/drawingml/2006/main">
            <a:off x="533400" y="2867025"/>
            <a:ext cx="346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75" b="1">
                <a:solidFill>
                  <a:srgbClr val="20211F"/>
                </a:solidFill>
                <a:latin typeface="Arial"/>
                <a:ea typeface="Arial"/>
                <a:cs typeface="Arial"/>
              </a:defRPr>
            </a:pPr>
            <a:r>
              <a:rPr sz="2775" b="1">
                <a:solidFill>
                  <a:srgbClr val="20211F"/>
                </a:solidFill>
                <a:latin typeface="Arial"/>
                <a:ea typeface="Arial"/>
                <a:cs typeface="Arial"/>
              </a:rPr>
              <a:t>BUILT</a:t>
            </a:r>
          </a:p>
        </p:txBody>
      </p:sp>
      <p:sp>
        <p:nvSpPr>
          <p:cNvPr id="9" name="text-250">
            <a:extLst xmlns:a="http://schemas.openxmlformats.org/drawingml/2006/main">
              <a:ext uri="{FF2B5EF4-FFF2-40B4-BE49-F238E27FC236}">
                <a16:creationId xmlns:a16="http://schemas.microsoft.com/office/drawing/2014/main" id="{19E8C7E6-0FBC-4FEB-871C-EFE6AB729011}"/>
              </a:ext>
            </a:extLst>
          </p:cNvPr>
          <p:cNvSpPr>
            <a:spLocks xmlns:a="http://schemas.openxmlformats.org/drawingml/2006/main" noGrp="1"/>
          </p:cNvSpPr>
          <p:nvPr/>
        </p:nvSpPr>
        <p:spPr>
          <a:xfrm xmlns:a="http://schemas.openxmlformats.org/drawingml/2006/main">
            <a:off x="533400" y="3619500"/>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Core secret workflows</a:t>
            </a:r>
          </a:p>
        </p:txBody>
      </p:sp>
      <p:sp>
        <p:nvSpPr>
          <p:cNvPr id="10" name="text-251">
            <a:extLst xmlns:a="http://schemas.openxmlformats.org/drawingml/2006/main">
              <a:ext uri="{FF2B5EF4-FFF2-40B4-BE49-F238E27FC236}">
                <a16:creationId xmlns:a16="http://schemas.microsoft.com/office/drawing/2014/main" id="{61BABA06-E043-482D-9C82-3F4ABD4B5A77}"/>
              </a:ext>
            </a:extLst>
          </p:cNvPr>
          <p:cNvSpPr>
            <a:spLocks xmlns:a="http://schemas.openxmlformats.org/drawingml/2006/main" noGrp="1"/>
          </p:cNvSpPr>
          <p:nvPr/>
        </p:nvSpPr>
        <p:spPr>
          <a:xfrm xmlns:a="http://schemas.openxmlformats.org/drawingml/2006/main">
            <a:off x="533400" y="4086225"/>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SDK retrieval</a:t>
            </a:r>
          </a:p>
        </p:txBody>
      </p:sp>
      <p:sp>
        <p:nvSpPr>
          <p:cNvPr id="11" name="text-252">
            <a:extLst xmlns:a="http://schemas.openxmlformats.org/drawingml/2006/main">
              <a:ext uri="{FF2B5EF4-FFF2-40B4-BE49-F238E27FC236}">
                <a16:creationId xmlns:a16="http://schemas.microsoft.com/office/drawing/2014/main" id="{F1C38831-7405-42FC-9955-0D26EAC47735}"/>
              </a:ext>
            </a:extLst>
          </p:cNvPr>
          <p:cNvSpPr>
            <a:spLocks xmlns:a="http://schemas.openxmlformats.org/drawingml/2006/main" noGrp="1"/>
          </p:cNvSpPr>
          <p:nvPr/>
        </p:nvSpPr>
        <p:spPr>
          <a:xfrm xmlns:a="http://schemas.openxmlformats.org/drawingml/2006/main">
            <a:off x="533400" y="4552950"/>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Agent policy + MCP</a:t>
            </a:r>
          </a:p>
        </p:txBody>
      </p:sp>
      <p:sp>
        <p:nvSpPr>
          <p:cNvPr id="12" name="text-253">
            <a:extLst xmlns:a="http://schemas.openxmlformats.org/drawingml/2006/main">
              <a:ext uri="{FF2B5EF4-FFF2-40B4-BE49-F238E27FC236}">
                <a16:creationId xmlns:a16="http://schemas.microsoft.com/office/drawing/2014/main" id="{83D9786A-F904-44D4-BF22-D0BC018F3345}"/>
              </a:ext>
            </a:extLst>
          </p:cNvPr>
          <p:cNvSpPr>
            <a:spLocks xmlns:a="http://schemas.openxmlformats.org/drawingml/2006/main" noGrp="1"/>
          </p:cNvSpPr>
          <p:nvPr/>
        </p:nvSpPr>
        <p:spPr>
          <a:xfrm xmlns:a="http://schemas.openxmlformats.org/drawingml/2006/main">
            <a:off x="533400" y="5019675"/>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Self-hosted setup</a:t>
            </a:r>
          </a:p>
        </p:txBody>
      </p:sp>
      <p:sp>
        <p:nvSpPr>
          <p:cNvPr id="13" name="shape-254">
            <a:extLst xmlns:a="http://schemas.openxmlformats.org/drawingml/2006/main">
              <a:ext uri="{FF2B5EF4-FFF2-40B4-BE49-F238E27FC236}">
                <a16:creationId xmlns:a16="http://schemas.microsoft.com/office/drawing/2014/main" id="{28920A6C-959D-46A7-93E5-E069C11976E1}"/>
              </a:ext>
            </a:extLst>
          </p:cNvPr>
          <p:cNvSpPr>
            <a:spLocks xmlns:a="http://schemas.openxmlformats.org/drawingml/2006/main" noGrp="1"/>
          </p:cNvSpPr>
          <p:nvPr/>
        </p:nvSpPr>
        <p:spPr>
          <a:xfrm xmlns:a="http://schemas.openxmlformats.org/drawingml/2006/main">
            <a:off x="4371975" y="2581275"/>
            <a:ext cx="3467100" cy="47625"/>
          </a:xfrm>
          <a:prstGeom xmlns:a="http://schemas.openxmlformats.org/drawingml/2006/main" prst="rect">
            <a:avLst/>
          </a:prstGeom>
          <a:solidFill xmlns:a="http://schemas.openxmlformats.org/drawingml/2006/main">
            <a:srgbClr val="6D5EF4"/>
          </a:solidFill>
          <a:ln xmlns:a="http://schemas.openxmlformats.org/drawingml/2006/main" w="0">
            <a:noFill/>
          </a:ln>
        </p:spPr>
      </p:sp>
      <p:sp>
        <p:nvSpPr>
          <p:cNvPr id="14" name="text-255">
            <a:extLst xmlns:a="http://schemas.openxmlformats.org/drawingml/2006/main">
              <a:ext uri="{FF2B5EF4-FFF2-40B4-BE49-F238E27FC236}">
                <a16:creationId xmlns:a16="http://schemas.microsoft.com/office/drawing/2014/main" id="{9D331975-9D59-444B-A0CC-E077CA229256}"/>
              </a:ext>
            </a:extLst>
          </p:cNvPr>
          <p:cNvSpPr>
            <a:spLocks xmlns:a="http://schemas.openxmlformats.org/drawingml/2006/main" noGrp="1"/>
          </p:cNvSpPr>
          <p:nvPr/>
        </p:nvSpPr>
        <p:spPr>
          <a:xfrm xmlns:a="http://schemas.openxmlformats.org/drawingml/2006/main">
            <a:off x="4371975" y="2867025"/>
            <a:ext cx="346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75" b="1">
                <a:solidFill>
                  <a:srgbClr val="6D5EF4"/>
                </a:solidFill>
                <a:latin typeface="Arial"/>
                <a:ea typeface="Arial"/>
                <a:cs typeface="Arial"/>
              </a:defRPr>
            </a:pPr>
            <a:r>
              <a:rPr sz="2775" b="1">
                <a:solidFill>
                  <a:srgbClr val="6D5EF4"/>
                </a:solidFill>
                <a:latin typeface="Arial"/>
                <a:ea typeface="Arial"/>
                <a:cs typeface="Arial"/>
              </a:rPr>
              <a:t>NOW</a:t>
            </a:r>
          </a:p>
        </p:txBody>
      </p:sp>
      <p:sp>
        <p:nvSpPr>
          <p:cNvPr id="15" name="text-256">
            <a:extLst xmlns:a="http://schemas.openxmlformats.org/drawingml/2006/main">
              <a:ext uri="{FF2B5EF4-FFF2-40B4-BE49-F238E27FC236}">
                <a16:creationId xmlns:a16="http://schemas.microsoft.com/office/drawing/2014/main" id="{3F3A3188-0800-44FF-912A-6627605CEED2}"/>
              </a:ext>
            </a:extLst>
          </p:cNvPr>
          <p:cNvSpPr>
            <a:spLocks xmlns:a="http://schemas.openxmlformats.org/drawingml/2006/main" noGrp="1"/>
          </p:cNvSpPr>
          <p:nvPr/>
        </p:nvSpPr>
        <p:spPr>
          <a:xfrm xmlns:a="http://schemas.openxmlformats.org/drawingml/2006/main">
            <a:off x="4371975" y="3619500"/>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Real-client MCP testing</a:t>
            </a:r>
          </a:p>
        </p:txBody>
      </p:sp>
      <p:sp>
        <p:nvSpPr>
          <p:cNvPr id="16" name="text-257">
            <a:extLst xmlns:a="http://schemas.openxmlformats.org/drawingml/2006/main">
              <a:ext uri="{FF2B5EF4-FFF2-40B4-BE49-F238E27FC236}">
                <a16:creationId xmlns:a16="http://schemas.microsoft.com/office/drawing/2014/main" id="{29079FCE-4339-46F1-98E8-E3726862AABE}"/>
              </a:ext>
            </a:extLst>
          </p:cNvPr>
          <p:cNvSpPr>
            <a:spLocks xmlns:a="http://schemas.openxmlformats.org/drawingml/2006/main" noGrp="1"/>
          </p:cNvSpPr>
          <p:nvPr/>
        </p:nvSpPr>
        <p:spPr>
          <a:xfrm xmlns:a="http://schemas.openxmlformats.org/drawingml/2006/main">
            <a:off x="4371975" y="4086225"/>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Security validation</a:t>
            </a:r>
          </a:p>
        </p:txBody>
      </p:sp>
      <p:sp>
        <p:nvSpPr>
          <p:cNvPr id="17" name="text-258">
            <a:extLst xmlns:a="http://schemas.openxmlformats.org/drawingml/2006/main">
              <a:ext uri="{FF2B5EF4-FFF2-40B4-BE49-F238E27FC236}">
                <a16:creationId xmlns:a16="http://schemas.microsoft.com/office/drawing/2014/main" id="{8D7E6A22-027C-45BC-A2C6-9F62CB03104B}"/>
              </a:ext>
            </a:extLst>
          </p:cNvPr>
          <p:cNvSpPr>
            <a:spLocks xmlns:a="http://schemas.openxmlformats.org/drawingml/2006/main" noGrp="1"/>
          </p:cNvSpPr>
          <p:nvPr/>
        </p:nvSpPr>
        <p:spPr>
          <a:xfrm xmlns:a="http://schemas.openxmlformats.org/drawingml/2006/main">
            <a:off x="4371975" y="4552950"/>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Deployment verification</a:t>
            </a:r>
          </a:p>
        </p:txBody>
      </p:sp>
      <p:sp>
        <p:nvSpPr>
          <p:cNvPr id="18" name="text-259">
            <a:extLst xmlns:a="http://schemas.openxmlformats.org/drawingml/2006/main">
              <a:ext uri="{FF2B5EF4-FFF2-40B4-BE49-F238E27FC236}">
                <a16:creationId xmlns:a16="http://schemas.microsoft.com/office/drawing/2014/main" id="{54994271-8A63-4978-B861-2B2FCADE1E70}"/>
              </a:ext>
            </a:extLst>
          </p:cNvPr>
          <p:cNvSpPr>
            <a:spLocks xmlns:a="http://schemas.openxmlformats.org/drawingml/2006/main" noGrp="1"/>
          </p:cNvSpPr>
          <p:nvPr/>
        </p:nvSpPr>
        <p:spPr>
          <a:xfrm xmlns:a="http://schemas.openxmlformats.org/drawingml/2006/main">
            <a:off x="4371975" y="5019675"/>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Release checks</a:t>
            </a:r>
          </a:p>
        </p:txBody>
      </p:sp>
      <p:sp>
        <p:nvSpPr>
          <p:cNvPr id="19" name="shape-260">
            <a:extLst xmlns:a="http://schemas.openxmlformats.org/drawingml/2006/main">
              <a:ext uri="{FF2B5EF4-FFF2-40B4-BE49-F238E27FC236}">
                <a16:creationId xmlns:a16="http://schemas.microsoft.com/office/drawing/2014/main" id="{164FEB3E-EF30-40FA-9815-D803E7C261AB}"/>
              </a:ext>
            </a:extLst>
          </p:cNvPr>
          <p:cNvSpPr>
            <a:spLocks xmlns:a="http://schemas.openxmlformats.org/drawingml/2006/main" noGrp="1"/>
          </p:cNvSpPr>
          <p:nvPr/>
        </p:nvSpPr>
        <p:spPr>
          <a:xfrm xmlns:a="http://schemas.openxmlformats.org/drawingml/2006/main">
            <a:off x="8210550" y="2581275"/>
            <a:ext cx="3467100" cy="47625"/>
          </a:xfrm>
          <a:prstGeom xmlns:a="http://schemas.openxmlformats.org/drawingml/2006/main" prst="rect">
            <a:avLst/>
          </a:prstGeom>
          <a:solidFill xmlns:a="http://schemas.openxmlformats.org/drawingml/2006/main">
            <a:srgbClr val="20211F"/>
          </a:solidFill>
          <a:ln xmlns:a="http://schemas.openxmlformats.org/drawingml/2006/main" w="0">
            <a:noFill/>
          </a:ln>
        </p:spPr>
      </p:sp>
      <p:sp>
        <p:nvSpPr>
          <p:cNvPr id="20" name="text-261">
            <a:extLst xmlns:a="http://schemas.openxmlformats.org/drawingml/2006/main">
              <a:ext uri="{FF2B5EF4-FFF2-40B4-BE49-F238E27FC236}">
                <a16:creationId xmlns:a16="http://schemas.microsoft.com/office/drawing/2014/main" id="{A7E6F10A-9B1B-4B7F-8220-3582EE4F84A4}"/>
              </a:ext>
            </a:extLst>
          </p:cNvPr>
          <p:cNvSpPr>
            <a:spLocks xmlns:a="http://schemas.openxmlformats.org/drawingml/2006/main" noGrp="1"/>
          </p:cNvSpPr>
          <p:nvPr/>
        </p:nvSpPr>
        <p:spPr>
          <a:xfrm xmlns:a="http://schemas.openxmlformats.org/drawingml/2006/main">
            <a:off x="8210550" y="2867025"/>
            <a:ext cx="346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75" b="1">
                <a:solidFill>
                  <a:srgbClr val="20211F"/>
                </a:solidFill>
                <a:latin typeface="Arial"/>
                <a:ea typeface="Arial"/>
                <a:cs typeface="Arial"/>
              </a:defRPr>
            </a:pPr>
            <a:r>
              <a:rPr sz="2775" b="1">
                <a:solidFill>
                  <a:srgbClr val="20211F"/>
                </a:solidFill>
                <a:latin typeface="Arial"/>
                <a:ea typeface="Arial"/>
                <a:cs typeface="Arial"/>
              </a:rPr>
              <a:t>NEXT</a:t>
            </a:r>
          </a:p>
        </p:txBody>
      </p:sp>
      <p:sp>
        <p:nvSpPr>
          <p:cNvPr id="21" name="text-262">
            <a:extLst xmlns:a="http://schemas.openxmlformats.org/drawingml/2006/main">
              <a:ext uri="{FF2B5EF4-FFF2-40B4-BE49-F238E27FC236}">
                <a16:creationId xmlns:a16="http://schemas.microsoft.com/office/drawing/2014/main" id="{CB61CF7C-464F-4838-B6D7-519069794598}"/>
              </a:ext>
            </a:extLst>
          </p:cNvPr>
          <p:cNvSpPr>
            <a:spLocks xmlns:a="http://schemas.openxmlformats.org/drawingml/2006/main" noGrp="1"/>
          </p:cNvSpPr>
          <p:nvPr/>
        </p:nvSpPr>
        <p:spPr>
          <a:xfrm xmlns:a="http://schemas.openxmlformats.org/drawingml/2006/main">
            <a:off x="8210550" y="3619500"/>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SMTP invitations</a:t>
            </a:r>
          </a:p>
        </p:txBody>
      </p:sp>
      <p:sp>
        <p:nvSpPr>
          <p:cNvPr id="22" name="text-263">
            <a:extLst xmlns:a="http://schemas.openxmlformats.org/drawingml/2006/main">
              <a:ext uri="{FF2B5EF4-FFF2-40B4-BE49-F238E27FC236}">
                <a16:creationId xmlns:a16="http://schemas.microsoft.com/office/drawing/2014/main" id="{556E8330-1ABA-4E4B-A34E-92395A62B867}"/>
              </a:ext>
            </a:extLst>
          </p:cNvPr>
          <p:cNvSpPr>
            <a:spLocks xmlns:a="http://schemas.openxmlformats.org/drawingml/2006/main" noGrp="1"/>
          </p:cNvSpPr>
          <p:nvPr/>
        </p:nvSpPr>
        <p:spPr>
          <a:xfrm xmlns:a="http://schemas.openxmlformats.org/drawingml/2006/main">
            <a:off x="8210550" y="4086225"/>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Developer experience</a:t>
            </a:r>
          </a:p>
        </p:txBody>
      </p:sp>
      <p:sp>
        <p:nvSpPr>
          <p:cNvPr id="23" name="text-264">
            <a:extLst xmlns:a="http://schemas.openxmlformats.org/drawingml/2006/main">
              <a:ext uri="{FF2B5EF4-FFF2-40B4-BE49-F238E27FC236}">
                <a16:creationId xmlns:a16="http://schemas.microsoft.com/office/drawing/2014/main" id="{9CF20A96-E031-4087-ADC5-48223F4E8C2C}"/>
              </a:ext>
            </a:extLst>
          </p:cNvPr>
          <p:cNvSpPr>
            <a:spLocks xmlns:a="http://schemas.openxmlformats.org/drawingml/2006/main" noGrp="1"/>
          </p:cNvSpPr>
          <p:nvPr/>
        </p:nvSpPr>
        <p:spPr>
          <a:xfrm xmlns:a="http://schemas.openxmlformats.org/drawingml/2006/main">
            <a:off x="8210550" y="4552950"/>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Client compatibility</a:t>
            </a:r>
          </a:p>
        </p:txBody>
      </p:sp>
      <p:sp>
        <p:nvSpPr>
          <p:cNvPr id="24" name="text-265">
            <a:extLst xmlns:a="http://schemas.openxmlformats.org/drawingml/2006/main">
              <a:ext uri="{FF2B5EF4-FFF2-40B4-BE49-F238E27FC236}">
                <a16:creationId xmlns:a16="http://schemas.microsoft.com/office/drawing/2014/main" id="{1AA1B8C0-7F7F-482E-B868-E3BAC3DDAF7B}"/>
              </a:ext>
            </a:extLst>
          </p:cNvPr>
          <p:cNvSpPr>
            <a:spLocks xmlns:a="http://schemas.openxmlformats.org/drawingml/2006/main" noGrp="1"/>
          </p:cNvSpPr>
          <p:nvPr/>
        </p:nvSpPr>
        <p:spPr>
          <a:xfrm xmlns:a="http://schemas.openxmlformats.org/drawingml/2006/main">
            <a:off x="8210550" y="5019675"/>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Production readiness</a:t>
            </a:r>
          </a:p>
        </p:txBody>
      </p:sp>
      <p:sp>
        <p:nvSpPr>
          <p:cNvPr id="25" name="text-266">
            <a:extLst xmlns:a="http://schemas.openxmlformats.org/drawingml/2006/main">
              <a:ext uri="{FF2B5EF4-FFF2-40B4-BE49-F238E27FC236}">
                <a16:creationId xmlns:a16="http://schemas.microsoft.com/office/drawing/2014/main" id="{EE1D34D6-E9EE-47AF-BC23-8B6662C1524F}"/>
              </a:ext>
            </a:extLst>
          </p:cNvPr>
          <p:cNvSpPr>
            <a:spLocks xmlns:a="http://schemas.openxmlformats.org/drawingml/2006/main" noGrp="1"/>
          </p:cNvSpPr>
          <p:nvPr/>
        </p:nvSpPr>
        <p:spPr>
          <a:xfrm xmlns:a="http://schemas.openxmlformats.org/drawingml/2006/main">
            <a:off x="533400" y="58483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PREVIEW DESCRIBES AGENT MATURITY — NOT A SEPARATE PRODUCT.</a:t>
            </a:r>
          </a:p>
        </p:txBody>
      </p:sp>
    </p:spTree>
    <p:extLst>
      <p:ext uri="{BB962C8B-B14F-4D97-AF65-F5344CB8AC3E}">
        <p14:creationId xmlns:p14="http://schemas.microsoft.com/office/powerpoint/2010/main" val="1112649697"/>
      </p:ext>
    </p:extLst>
  </p:cSld>
</p:sld>
</file>

<file path=ppt/slides/slide12.xml><?xml version="1.0" encoding="utf-8"?>
<p:sld xmlns:p="http://schemas.openxmlformats.org/presentationml/2006/main">
  <p:cSld>
    <p:bg>
      <p:bgPr>
        <a:solidFill xmlns:a="http://schemas.openxmlformats.org/drawingml/2006/main">
          <a:srgbClr val="191A1A"/>
        </a:solidFill>
      </p:bgPr>
    </p:bg>
    <p:spTree>
      <p:nvGrpSpPr>
        <p:cNvPr id="1" name=""/>
        <p:cNvGrpSpPr/>
        <p:nvPr/>
      </p:nvGrpSpPr>
      <p:grpSpPr>
        <a:xfrm xmlns:a="http://schemas.openxmlformats.org/drawingml/2006/main"/>
      </p:grpSpPr>
      <p:sp>
        <p:nvSpPr>
          <p:cNvPr id="14" name="text-267">
            <a:extLst xmlns:a="http://schemas.openxmlformats.org/drawingml/2006/main">
              <a:ext uri="{FF2B5EF4-FFF2-40B4-BE49-F238E27FC236}">
                <a16:creationId xmlns:a16="http://schemas.microsoft.com/office/drawing/2014/main" id="{E574FC4A-34A4-46FE-B76A-CC70FF3AD078}"/>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B1B5AC"/>
                </a:solidFill>
                <a:latin typeface="Menlo"/>
                <a:ea typeface="Menlo"/>
                <a:cs typeface="Menlo"/>
              </a:defRPr>
            </a:pPr>
            <a:r>
              <a:rPr sz="1275" b="0">
                <a:solidFill>
                  <a:srgbClr val="B1B5AC"/>
                </a:solidFill>
                <a:latin typeface="Menlo"/>
                <a:ea typeface="Menlo"/>
                <a:cs typeface="Menlo"/>
              </a:rPr>
              <a:t>12 / VISION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92aeac8b7434f45">
            <a:extLst>
              <a:ext uri="{96DAC541-7B7A-43D3-8B79-37D633B846F1}">
                <asvg:svgBlip xmlns:asvg="http://schemas.microsoft.com/office/drawing/2016/SVG/main" r:embed="Ra0497a1542a54be7"/>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3" name="shape-268">
            <a:extLst xmlns:a="http://schemas.openxmlformats.org/drawingml/2006/main">
              <a:ext uri="{FF2B5EF4-FFF2-40B4-BE49-F238E27FC236}">
                <a16:creationId xmlns:a16="http://schemas.microsoft.com/office/drawing/2014/main" id="{85B9937B-1CE9-4B6A-91FC-E6EE22E380C0}"/>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454741"/>
          </a:solidFill>
          <a:ln xmlns:a="http://schemas.openxmlformats.org/drawingml/2006/main" w="0">
            <a:noFill/>
          </a:ln>
        </p:spPr>
      </p:sp>
      <p:sp>
        <p:nvSpPr>
          <p:cNvPr id="4" name="text-269">
            <a:extLst xmlns:a="http://schemas.openxmlformats.org/drawingml/2006/main">
              <a:ext uri="{FF2B5EF4-FFF2-40B4-BE49-F238E27FC236}">
                <a16:creationId xmlns:a16="http://schemas.microsoft.com/office/drawing/2014/main" id="{40B8E04F-0C2C-4018-B950-F868AF12352F}"/>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B1B5AC"/>
                </a:solidFill>
                <a:latin typeface="Menlo"/>
                <a:ea typeface="Menlo"/>
                <a:cs typeface="Menlo"/>
              </a:defRPr>
            </a:pPr>
            <a:r>
              <a:rPr sz="1275" b="0">
                <a:solidFill>
                  <a:srgbClr val="B1B5AC"/>
                </a:solidFill>
                <a:latin typeface="Menlo"/>
                <a:ea typeface="Menlo"/>
                <a:cs typeface="Menlo"/>
              </a:rPr>
              <a:t>ENVSYNC / SELF-HOSTED SECRETS</a:t>
            </a:r>
          </a:p>
        </p:txBody>
      </p:sp>
      <p:sp>
        <p:nvSpPr>
          <p:cNvPr id="5" name="text-270">
            <a:extLst xmlns:a="http://schemas.openxmlformats.org/drawingml/2006/main">
              <a:ext uri="{FF2B5EF4-FFF2-40B4-BE49-F238E27FC236}">
                <a16:creationId xmlns:a16="http://schemas.microsoft.com/office/drawing/2014/main" id="{2CA2D4C0-7A2D-4038-ABA3-733FEAE22B0C}"/>
              </a:ext>
            </a:extLst>
          </p:cNvPr>
          <p:cNvSpPr>
            <a:spLocks xmlns:a="http://schemas.openxmlformats.org/drawingml/2006/main" noGrp="1"/>
          </p:cNvSpPr>
          <p:nvPr/>
        </p:nvSpPr>
        <p:spPr>
          <a:xfrm xmlns:a="http://schemas.openxmlformats.org/drawingml/2006/main">
            <a:off x="11144250" y="644842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1B5AC"/>
                </a:solidFill>
                <a:latin typeface="Menlo"/>
                <a:ea typeface="Menlo"/>
                <a:cs typeface="Menlo"/>
              </a:defRPr>
            </a:pPr>
            <a:r>
              <a:rPr sz="1350" b="0">
                <a:solidFill>
                  <a:srgbClr val="B1B5AC"/>
                </a:solidFill>
                <a:latin typeface="Menlo"/>
                <a:ea typeface="Menlo"/>
                <a:cs typeface="Menlo"/>
              </a:rPr>
              <a:t>12</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0148c0570b24284">
            <a:extLst>
              <a:ext uri="{96DAC541-7B7A-43D3-8B79-37D633B846F1}">
                <asvg:svgBlip xmlns:asvg="http://schemas.microsoft.com/office/drawing/2016/SVG/main" r:embed="R05458cdf658e44dd"/>
              </a:ext>
            </a:extLst>
          </a:blip>
          <a:stretch xmlns:a="http://schemas.openxmlformats.org/drawingml/2006/main"/>
        </p:blipFill>
        <p:spPr>
          <a:xfrm xmlns:a="http://schemas.openxmlformats.org/drawingml/2006/main">
            <a:off x="533400" y="1000125"/>
            <a:ext cx="552450" cy="552450"/>
          </a:xfrm>
          <a:prstGeom xmlns:a="http://schemas.openxmlformats.org/drawingml/2006/main" prst="rect">
            <a:avLst/>
          </a:prstGeom>
        </p:spPr>
      </p:pic>
      <p:sp>
        <p:nvSpPr>
          <p:cNvPr id="7" name="text-271">
            <a:extLst xmlns:a="http://schemas.openxmlformats.org/drawingml/2006/main">
              <a:ext uri="{FF2B5EF4-FFF2-40B4-BE49-F238E27FC236}">
                <a16:creationId xmlns:a16="http://schemas.microsoft.com/office/drawing/2014/main" id="{6D6B5106-3736-4F27-8CDC-7B5E062B0C8B}"/>
              </a:ext>
            </a:extLst>
          </p:cNvPr>
          <p:cNvSpPr>
            <a:spLocks xmlns:a="http://schemas.openxmlformats.org/drawingml/2006/main" noGrp="1"/>
          </p:cNvSpPr>
          <p:nvPr/>
        </p:nvSpPr>
        <p:spPr>
          <a:xfrm xmlns:a="http://schemas.openxmlformats.org/drawingml/2006/main">
            <a:off x="1257300" y="10096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675" b="1">
                <a:solidFill>
                  <a:srgbClr val="FAFAF6"/>
                </a:solidFill>
                <a:latin typeface="Arial"/>
                <a:ea typeface="Arial"/>
                <a:cs typeface="Arial"/>
              </a:defRPr>
            </a:pPr>
            <a:r>
              <a:rPr sz="3675" b="1">
                <a:solidFill>
                  <a:srgbClr val="FAFAF6"/>
                </a:solidFill>
                <a:latin typeface="Arial"/>
                <a:ea typeface="Arial"/>
                <a:cs typeface="Arial"/>
              </a:rPr>
              <a:t>EnvSync</a:t>
            </a:r>
          </a:p>
        </p:txBody>
      </p:sp>
      <p:sp>
        <p:nvSpPr>
          <p:cNvPr id="8" name="text-272">
            <a:extLst xmlns:a="http://schemas.openxmlformats.org/drawingml/2006/main">
              <a:ext uri="{FF2B5EF4-FFF2-40B4-BE49-F238E27FC236}">
                <a16:creationId xmlns:a16="http://schemas.microsoft.com/office/drawing/2014/main" id="{EC8996AB-5C4A-4507-950C-3E1BD12A690F}"/>
              </a:ext>
            </a:extLst>
          </p:cNvPr>
          <p:cNvSpPr>
            <a:spLocks xmlns:a="http://schemas.openxmlformats.org/drawingml/2006/main" noGrp="1"/>
          </p:cNvSpPr>
          <p:nvPr/>
        </p:nvSpPr>
        <p:spPr>
          <a:xfrm xmlns:a="http://schemas.openxmlformats.org/drawingml/2006/main">
            <a:off x="533400" y="2009775"/>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400" b="1">
                <a:solidFill>
                  <a:srgbClr val="FAFAF6"/>
                </a:solidFill>
                <a:latin typeface="Arial"/>
                <a:ea typeface="Arial"/>
                <a:cs typeface="Arial"/>
              </a:defRPr>
            </a:pPr>
            <a:r>
              <a:rPr sz="5400" b="1">
                <a:solidFill>
                  <a:srgbClr val="FAFAF6"/>
                </a:solidFill>
                <a:latin typeface="Arial"/>
                <a:ea typeface="Arial"/>
                <a:cs typeface="Arial"/>
              </a:rPr>
              <a:t>Secrets should go</a:t>
            </a:r>
          </a:p>
        </p:txBody>
      </p:sp>
      <p:sp>
        <p:nvSpPr>
          <p:cNvPr id="9" name="text-273">
            <a:extLst xmlns:a="http://schemas.openxmlformats.org/drawingml/2006/main">
              <a:ext uri="{FF2B5EF4-FFF2-40B4-BE49-F238E27FC236}">
                <a16:creationId xmlns:a16="http://schemas.microsoft.com/office/drawing/2014/main" id="{5BA835AD-C673-4C50-BE39-C2BCE94851BF}"/>
              </a:ext>
            </a:extLst>
          </p:cNvPr>
          <p:cNvSpPr>
            <a:spLocks xmlns:a="http://schemas.openxmlformats.org/drawingml/2006/main" noGrp="1"/>
          </p:cNvSpPr>
          <p:nvPr/>
        </p:nvSpPr>
        <p:spPr>
          <a:xfrm xmlns:a="http://schemas.openxmlformats.org/drawingml/2006/main">
            <a:off x="533400" y="2771775"/>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400" b="1">
                <a:solidFill>
                  <a:srgbClr val="FAFAF6"/>
                </a:solidFill>
                <a:latin typeface="Arial"/>
                <a:ea typeface="Arial"/>
                <a:cs typeface="Arial"/>
              </a:defRPr>
            </a:pPr>
            <a:r>
              <a:rPr sz="5400" b="1">
                <a:solidFill>
                  <a:srgbClr val="FAFAF6"/>
                </a:solidFill>
                <a:latin typeface="Arial"/>
                <a:ea typeface="Arial"/>
                <a:cs typeface="Arial"/>
              </a:rPr>
              <a:t>where they’re needed.</a:t>
            </a:r>
          </a:p>
        </p:txBody>
      </p:sp>
      <p:sp>
        <p:nvSpPr>
          <p:cNvPr id="10" name="text-274">
            <a:extLst xmlns:a="http://schemas.openxmlformats.org/drawingml/2006/main">
              <a:ext uri="{FF2B5EF4-FFF2-40B4-BE49-F238E27FC236}">
                <a16:creationId xmlns:a16="http://schemas.microsoft.com/office/drawing/2014/main" id="{E37FA28B-D72A-4E72-A3FE-CBB6E538E759}"/>
              </a:ext>
            </a:extLst>
          </p:cNvPr>
          <p:cNvSpPr>
            <a:spLocks xmlns:a="http://schemas.openxmlformats.org/drawingml/2006/main" noGrp="1"/>
          </p:cNvSpPr>
          <p:nvPr/>
        </p:nvSpPr>
        <p:spPr>
          <a:xfrm xmlns:a="http://schemas.openxmlformats.org/drawingml/2006/main">
            <a:off x="533400" y="3533775"/>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400" b="1">
                <a:solidFill>
                  <a:srgbClr val="FAFAF6"/>
                </a:solidFill>
                <a:latin typeface="Arial"/>
                <a:ea typeface="Arial"/>
                <a:cs typeface="Arial"/>
              </a:defRPr>
            </a:pPr>
            <a:r>
              <a:rPr sz="5400" b="1">
                <a:solidFill>
                  <a:srgbClr val="FAFAF6"/>
                </a:solidFill>
                <a:latin typeface="Arial"/>
                <a:ea typeface="Arial"/>
                <a:cs typeface="Arial"/>
              </a:rPr>
              <a:t>Not everywhere.</a:t>
            </a:r>
          </a:p>
        </p:txBody>
      </p:sp>
      <p:sp>
        <p:nvSpPr>
          <p:cNvPr id="11" name="text-275">
            <a:extLst xmlns:a="http://schemas.openxmlformats.org/drawingml/2006/main">
              <a:ext uri="{FF2B5EF4-FFF2-40B4-BE49-F238E27FC236}">
                <a16:creationId xmlns:a16="http://schemas.microsoft.com/office/drawing/2014/main" id="{8AE471B8-EBB9-459F-9131-7EB9C58B1FA0}"/>
              </a:ext>
            </a:extLst>
          </p:cNvPr>
          <p:cNvSpPr>
            <a:spLocks xmlns:a="http://schemas.openxmlformats.org/drawingml/2006/main" noGrp="1"/>
          </p:cNvSpPr>
          <p:nvPr/>
        </p:nvSpPr>
        <p:spPr>
          <a:xfrm xmlns:a="http://schemas.openxmlformats.org/drawingml/2006/main">
            <a:off x="533400" y="477202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1">
                <a:solidFill>
                  <a:srgbClr val="DCD7FF"/>
                </a:solidFill>
                <a:latin typeface="Menlo"/>
                <a:ea typeface="Menlo"/>
                <a:cs typeface="Menlo"/>
              </a:defRPr>
            </a:pPr>
            <a:r>
              <a:rPr sz="2025" b="1">
                <a:solidFill>
                  <a:srgbClr val="DCD7FF"/>
                </a:solidFill>
                <a:latin typeface="Menlo"/>
                <a:ea typeface="Menlo"/>
                <a:cs typeface="Menlo"/>
              </a:rPr>
              <a:t>HUMANS + APPS + AGENTS  →  ENVIRONMENTS  →  SECRETS</a:t>
            </a:r>
          </a:p>
        </p:txBody>
      </p:sp>
      <p:sp>
        <p:nvSpPr>
          <p:cNvPr id="12" name="text-276">
            <a:extLst xmlns:a="http://schemas.openxmlformats.org/drawingml/2006/main">
              <a:ext uri="{FF2B5EF4-FFF2-40B4-BE49-F238E27FC236}">
                <a16:creationId xmlns:a16="http://schemas.microsoft.com/office/drawing/2014/main" id="{C1AF261B-6084-4457-AA8D-369DC89D08B2}"/>
              </a:ext>
            </a:extLst>
          </p:cNvPr>
          <p:cNvSpPr>
            <a:spLocks xmlns:a="http://schemas.openxmlformats.org/drawingml/2006/main" noGrp="1"/>
          </p:cNvSpPr>
          <p:nvPr/>
        </p:nvSpPr>
        <p:spPr>
          <a:xfrm xmlns:a="http://schemas.openxmlformats.org/drawingml/2006/main">
            <a:off x="533400" y="5686425"/>
            <a:ext cx="285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FAFAF6"/>
                </a:solidFill>
                <a:latin typeface="Arial"/>
                <a:ea typeface="Arial"/>
                <a:cs typeface="Arial"/>
              </a:defRPr>
            </a:pPr>
            <a:r>
              <a:rPr sz="2175" b="1">
                <a:solidFill>
                  <a:srgbClr val="FAFAF6"/>
                </a:solidFill>
                <a:latin typeface="Arial"/>
                <a:ea typeface="Arial"/>
                <a:cs typeface="Arial"/>
              </a:rPr>
              <a:t>envsync.me</a:t>
            </a:r>
          </a:p>
        </p:txBody>
      </p:sp>
      <p:sp>
        <p:nvSpPr>
          <p:cNvPr id="13" name="text-277">
            <a:extLst xmlns:a="http://schemas.openxmlformats.org/drawingml/2006/main">
              <a:ext uri="{FF2B5EF4-FFF2-40B4-BE49-F238E27FC236}">
                <a16:creationId xmlns:a16="http://schemas.microsoft.com/office/drawing/2014/main" id="{B31B6FFE-45BB-4AD9-BCE8-BF55CDE08575}"/>
              </a:ext>
            </a:extLst>
          </p:cNvPr>
          <p:cNvSpPr>
            <a:spLocks xmlns:a="http://schemas.openxmlformats.org/drawingml/2006/main" noGrp="1"/>
          </p:cNvSpPr>
          <p:nvPr/>
        </p:nvSpPr>
        <p:spPr>
          <a:xfrm xmlns:a="http://schemas.openxmlformats.org/drawingml/2006/main">
            <a:off x="5838825" y="5743575"/>
            <a:ext cx="5829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B1B5AC"/>
                </a:solidFill>
                <a:latin typeface="Menlo"/>
                <a:ea typeface="Menlo"/>
                <a:cs typeface="Menlo"/>
              </a:defRPr>
            </a:pPr>
            <a:r>
              <a:rPr sz="1875" b="0">
                <a:solidFill>
                  <a:srgbClr val="B1B5AC"/>
                </a:solidFill>
                <a:latin typeface="Menlo"/>
                <a:ea typeface="Menlo"/>
                <a:cs typeface="Menlo"/>
              </a:rPr>
              <a:t>github.com/VarunHarinath/EnvSync</a:t>
            </a:r>
          </a:p>
        </p:txBody>
      </p:sp>
    </p:spTree>
    <p:extLst>
      <p:ext uri="{BB962C8B-B14F-4D97-AF65-F5344CB8AC3E}">
        <p14:creationId xmlns:p14="http://schemas.microsoft.com/office/powerpoint/2010/main" val="1061899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2026-09-22T19:34:46.5570000Z</dcterms:created>
  <dcterms:modified xsi:type="dcterms:W3CDTF">2026-09-22T19:34:46.5570000Z</dcterms:modified>
</coreProperties>
</file>